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46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705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286000"/>
            <a:ext cx="12188952" cy="822960"/>
          </a:xfrm>
          <a:prstGeom prst="rect">
            <a:avLst/>
          </a:prstGeom>
          <a:noFill/>
          <a:ln/>
        </p:spPr>
        <p:txBody>
          <a:bodyPr wrap="square" rtlCol="0" anchor="ctr"/>
          <a:lstStyle/>
          <a:p>
            <a:pPr marL="0" indent="0" algn="ctr">
              <a:buNone/>
            </a:pPr>
            <a:r>
              <a:rPr lang="en-US" sz="4000" b="1" dirty="0">
                <a:solidFill>
                  <a:srgbClr val="1B4965"/>
                </a:solidFill>
                <a:latin typeface="Arial" pitchFamily="34" charset="0"/>
                <a:ea typeface="Arial" pitchFamily="34" charset="-122"/>
                <a:cs typeface="Arial" pitchFamily="34" charset="-120"/>
              </a:rPr>
              <a:t>Dashboard Storyboard</a:t>
            </a:r>
            <a:endParaRPr lang="en-US" sz="4000" dirty="0"/>
          </a:p>
        </p:txBody>
      </p:sp>
      <p:sp>
        <p:nvSpPr>
          <p:cNvPr id="3" name="Text 1"/>
          <p:cNvSpPr/>
          <p:nvPr/>
        </p:nvSpPr>
        <p:spPr>
          <a:xfrm>
            <a:off x="0" y="3108960"/>
            <a:ext cx="12188952" cy="502920"/>
          </a:xfrm>
          <a:prstGeom prst="rect">
            <a:avLst/>
          </a:prstGeom>
          <a:noFill/>
          <a:ln/>
        </p:spPr>
        <p:txBody>
          <a:bodyPr wrap="square" rtlCol="0" anchor="ctr"/>
          <a:lstStyle/>
          <a:p>
            <a:pPr marL="0" indent="0" algn="ctr">
              <a:buNone/>
            </a:pPr>
            <a:r>
              <a:rPr lang="en-US" sz="2000" dirty="0">
                <a:solidFill>
                  <a:srgbClr val="333333"/>
                </a:solidFill>
                <a:latin typeface="Arial" pitchFamily="34" charset="0"/>
                <a:ea typeface="Arial" pitchFamily="34" charset="-122"/>
                <a:cs typeface="Arial" pitchFamily="34" charset="-120"/>
              </a:rPr>
              <a:t>MedTrack_DV – Hospital Analytics Dashboard</a:t>
            </a:r>
            <a:endParaRPr lang="en-US" sz="2000" dirty="0"/>
          </a:p>
        </p:txBody>
      </p:sp>
      <p:sp>
        <p:nvSpPr>
          <p:cNvPr id="4" name="Text 2"/>
          <p:cNvSpPr/>
          <p:nvPr/>
        </p:nvSpPr>
        <p:spPr>
          <a:xfrm>
            <a:off x="3200399" y="4114800"/>
            <a:ext cx="6170023" cy="1645920"/>
          </a:xfrm>
          <a:prstGeom prst="rect">
            <a:avLst/>
          </a:prstGeom>
          <a:noFill/>
          <a:ln/>
        </p:spPr>
        <p:txBody>
          <a:bodyPr wrap="square" rtlCol="0" anchor="ctr"/>
          <a:lstStyle/>
          <a:p>
            <a:pPr marL="0" indent="0" algn="l">
              <a:lnSpc>
                <a:spcPct val="140000"/>
              </a:lnSpc>
              <a:buNone/>
            </a:pPr>
            <a:r>
              <a:rPr lang="en-US" sz="1300" b="1" dirty="0">
                <a:solidFill>
                  <a:srgbClr val="333333"/>
                </a:solidFill>
                <a:latin typeface="Arial" pitchFamily="34" charset="0"/>
                <a:ea typeface="Arial" pitchFamily="34" charset="-122"/>
                <a:cs typeface="Arial" pitchFamily="34" charset="-120"/>
              </a:rPr>
              <a:t>Prepared For: </a:t>
            </a:r>
            <a:r>
              <a:rPr lang="en-US" sz="1300" dirty="0">
                <a:solidFill>
                  <a:srgbClr val="333333"/>
                </a:solidFill>
                <a:latin typeface="Arial" pitchFamily="34" charset="0"/>
                <a:ea typeface="Arial" pitchFamily="34" charset="-122"/>
                <a:cs typeface="Arial" pitchFamily="34" charset="-120"/>
              </a:rPr>
              <a:t>Infosys Springboard Virtual </a:t>
            </a:r>
            <a:r>
              <a:rPr lang="en-US" sz="1300" dirty="0" smtClean="0">
                <a:solidFill>
                  <a:srgbClr val="333333"/>
                </a:solidFill>
                <a:latin typeface="Arial" pitchFamily="34" charset="0"/>
                <a:ea typeface="Arial" pitchFamily="34" charset="-122"/>
                <a:cs typeface="Arial" pitchFamily="34" charset="-120"/>
              </a:rPr>
              <a:t>Internship (Data </a:t>
            </a:r>
            <a:r>
              <a:rPr lang="en-US" sz="1300" dirty="0" err="1" smtClean="0">
                <a:solidFill>
                  <a:srgbClr val="333333"/>
                </a:solidFill>
                <a:latin typeface="Arial" pitchFamily="34" charset="0"/>
                <a:ea typeface="Arial" pitchFamily="34" charset="-122"/>
                <a:cs typeface="Arial" pitchFamily="34" charset="-120"/>
              </a:rPr>
              <a:t>Virtualisation</a:t>
            </a:r>
            <a:r>
              <a:rPr lang="en-US" sz="1300" dirty="0" smtClean="0">
                <a:solidFill>
                  <a:srgbClr val="333333"/>
                </a:solidFill>
                <a:latin typeface="Arial" pitchFamily="34" charset="0"/>
                <a:ea typeface="Arial" pitchFamily="34" charset="-122"/>
                <a:cs typeface="Arial" pitchFamily="34" charset="-120"/>
              </a:rPr>
              <a:t>)</a:t>
            </a:r>
            <a:endParaRPr lang="en-US" sz="1300" dirty="0"/>
          </a:p>
          <a:p>
            <a:pPr marL="0" indent="0" algn="l">
              <a:lnSpc>
                <a:spcPct val="140000"/>
              </a:lnSpc>
              <a:buNone/>
            </a:pPr>
            <a:r>
              <a:rPr lang="en-US" sz="1300" b="1" dirty="0">
                <a:solidFill>
                  <a:srgbClr val="333333"/>
                </a:solidFill>
                <a:latin typeface="Arial" pitchFamily="34" charset="0"/>
                <a:ea typeface="Arial" pitchFamily="34" charset="-122"/>
                <a:cs typeface="Arial" pitchFamily="34" charset="-120"/>
              </a:rPr>
              <a:t>Prepared By: </a:t>
            </a:r>
            <a:r>
              <a:rPr lang="en-US" sz="1300" dirty="0">
                <a:solidFill>
                  <a:srgbClr val="333333"/>
                </a:solidFill>
                <a:latin typeface="Arial" pitchFamily="34" charset="0"/>
                <a:ea typeface="Arial" pitchFamily="34" charset="-122"/>
                <a:cs typeface="Arial" pitchFamily="34" charset="-120"/>
              </a:rPr>
              <a:t>Madhan Raj G</a:t>
            </a:r>
            <a:endParaRPr lang="en-US" sz="1300" dirty="0"/>
          </a:p>
          <a:p>
            <a:pPr marL="0" indent="0" algn="l">
              <a:lnSpc>
                <a:spcPct val="140000"/>
              </a:lnSpc>
              <a:buNone/>
            </a:pPr>
            <a:r>
              <a:rPr lang="en-US" sz="1300" b="1" dirty="0">
                <a:solidFill>
                  <a:srgbClr val="333333"/>
                </a:solidFill>
                <a:latin typeface="Arial" pitchFamily="34" charset="0"/>
                <a:ea typeface="Arial" pitchFamily="34" charset="-122"/>
                <a:cs typeface="Arial" pitchFamily="34" charset="-120"/>
              </a:rPr>
              <a:t>Module: </a:t>
            </a:r>
            <a:r>
              <a:rPr lang="en-US" sz="1300" dirty="0">
                <a:solidFill>
                  <a:srgbClr val="333333"/>
                </a:solidFill>
                <a:latin typeface="Arial" pitchFamily="34" charset="0"/>
                <a:ea typeface="Arial" pitchFamily="34" charset="-122"/>
                <a:cs typeface="Arial" pitchFamily="34" charset="-120"/>
              </a:rPr>
              <a:t>Module 4 – Dashboard Planning &amp; </a:t>
            </a:r>
            <a:r>
              <a:rPr lang="en-US" sz="1300" dirty="0" smtClean="0">
                <a:solidFill>
                  <a:srgbClr val="333333"/>
                </a:solidFill>
                <a:latin typeface="Arial" pitchFamily="34" charset="0"/>
                <a:ea typeface="Arial" pitchFamily="34" charset="-122"/>
                <a:cs typeface="Arial" pitchFamily="34" charset="-120"/>
              </a:rPr>
              <a:t>Prototyping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Project Overview</a:t>
            </a:r>
            <a:endParaRPr lang="en-US" sz="2400" dirty="0"/>
          </a:p>
        </p:txBody>
      </p:sp>
      <p:sp>
        <p:nvSpPr>
          <p:cNvPr id="3" name="Text 1"/>
          <p:cNvSpPr/>
          <p:nvPr/>
        </p:nvSpPr>
        <p:spPr>
          <a:xfrm>
            <a:off x="548640" y="1371600"/>
            <a:ext cx="11091672" cy="36576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Purpose of the Dashboard</a:t>
            </a:r>
            <a:endParaRPr lang="en-US" sz="1500" dirty="0"/>
          </a:p>
        </p:txBody>
      </p:sp>
      <p:sp>
        <p:nvSpPr>
          <p:cNvPr id="4" name="Text 2"/>
          <p:cNvSpPr/>
          <p:nvPr/>
        </p:nvSpPr>
        <p:spPr>
          <a:xfrm>
            <a:off x="548640" y="1783080"/>
            <a:ext cx="11091672" cy="1005840"/>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The </a:t>
            </a:r>
            <a:r>
              <a:rPr lang="en-US" sz="1400" dirty="0" err="1" smtClean="0">
                <a:latin typeface="Arial" panose="020B0604020202020204" pitchFamily="34" charset="0"/>
                <a:cs typeface="Arial" panose="020B0604020202020204" pitchFamily="34" charset="0"/>
              </a:rPr>
              <a:t>MedTrack_DV</a:t>
            </a:r>
            <a:r>
              <a:rPr lang="en-US" sz="1400" dirty="0" smtClean="0">
                <a:latin typeface="Arial" panose="020B0604020202020204" pitchFamily="34" charset="0"/>
                <a:cs typeface="Arial" panose="020B0604020202020204" pitchFamily="34" charset="0"/>
              </a:rPr>
              <a:t> dashboard </a:t>
            </a:r>
            <a:r>
              <a:rPr lang="en-US" sz="1400" dirty="0">
                <a:latin typeface="Arial" panose="020B0604020202020204" pitchFamily="34" charset="0"/>
                <a:cs typeface="Arial" panose="020B0604020202020204" pitchFamily="34" charset="0"/>
              </a:rPr>
              <a:t>suite provides hospital stakeholders with a consolidated view of patient care, admissions, billing, and resource utilization. This storyboard documents the planned dashboard layouts, KPIs, charts, filters, and navigation to guide Tableau dashboard development.</a:t>
            </a:r>
            <a:r>
              <a:rPr lang="en-US" sz="1300" dirty="0" smtClean="0">
                <a:solidFill>
                  <a:srgbClr val="333333"/>
                </a:solidFill>
                <a:latin typeface="Arial" pitchFamily="34" charset="0"/>
                <a:ea typeface="Arial" pitchFamily="34" charset="-122"/>
                <a:cs typeface="Arial" panose="020B0604020202020204" pitchFamily="34" charset="0"/>
              </a:rPr>
              <a:t>.</a:t>
            </a:r>
            <a:endParaRPr lang="en-US" sz="1300" dirty="0">
              <a:latin typeface="Arial" panose="020B0604020202020204" pitchFamily="34" charset="0"/>
              <a:cs typeface="Arial" panose="020B0604020202020204" pitchFamily="34" charset="0"/>
            </a:endParaRPr>
          </a:p>
        </p:txBody>
      </p:sp>
      <p:sp>
        <p:nvSpPr>
          <p:cNvPr id="5" name="Text 3"/>
          <p:cNvSpPr/>
          <p:nvPr/>
        </p:nvSpPr>
        <p:spPr>
          <a:xfrm>
            <a:off x="548640" y="2926080"/>
            <a:ext cx="11091672" cy="36576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Why Hospital Analytics Is Important</a:t>
            </a:r>
            <a:endParaRPr lang="en-US" sz="1500" dirty="0"/>
          </a:p>
        </p:txBody>
      </p:sp>
      <p:sp>
        <p:nvSpPr>
          <p:cNvPr id="6" name="Text 4"/>
          <p:cNvSpPr/>
          <p:nvPr/>
        </p:nvSpPr>
        <p:spPr>
          <a:xfrm>
            <a:off x="548640" y="3337560"/>
            <a:ext cx="11091672" cy="1005840"/>
          </a:xfrm>
          <a:prstGeom prst="rect">
            <a:avLst/>
          </a:prstGeom>
          <a:noFill/>
          <a:ln/>
        </p:spPr>
        <p:txBody>
          <a:bodyPr wrap="square" rtlCol="0" anchor="t"/>
          <a:lstStyle/>
          <a:p>
            <a:pPr marL="0" indent="0">
              <a:buNone/>
            </a:pPr>
            <a:r>
              <a:rPr lang="en-US" sz="1300" dirty="0">
                <a:solidFill>
                  <a:srgbClr val="333333"/>
                </a:solidFill>
                <a:latin typeface="Arial" pitchFamily="34" charset="0"/>
                <a:ea typeface="Arial" pitchFamily="34" charset="-122"/>
                <a:cs typeface="Arial" pitchFamily="34" charset="-120"/>
              </a:rPr>
              <a:t>Hospitals generate large volumes of data across departments, wards, and patient records every day. A well-designed analytics dashboard makes this information accessible at a glance and supports faster, more informed decision-making across the hospital.</a:t>
            </a:r>
            <a:endParaRPr lang="en-US" sz="1300" dirty="0"/>
          </a:p>
        </p:txBody>
      </p:sp>
      <p:sp>
        <p:nvSpPr>
          <p:cNvPr id="7" name="Text 5"/>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8"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Objectives &amp; Target Users</a:t>
            </a:r>
            <a:endParaRPr lang="en-US" sz="2400" dirty="0"/>
          </a:p>
        </p:txBody>
      </p:sp>
      <p:sp>
        <p:nvSpPr>
          <p:cNvPr id="3" name="Text 1"/>
          <p:cNvSpPr/>
          <p:nvPr/>
        </p:nvSpPr>
        <p:spPr>
          <a:xfrm>
            <a:off x="548640" y="1371600"/>
            <a:ext cx="5486400" cy="32004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Objectives</a:t>
            </a:r>
            <a:endParaRPr lang="en-US" sz="1500" dirty="0"/>
          </a:p>
        </p:txBody>
      </p:sp>
      <p:sp>
        <p:nvSpPr>
          <p:cNvPr id="4" name="Text 2"/>
          <p:cNvSpPr/>
          <p:nvPr/>
        </p:nvSpPr>
        <p:spPr>
          <a:xfrm>
            <a:off x="548640" y="1783080"/>
            <a:ext cx="5486400" cy="3931920"/>
          </a:xfrm>
          <a:prstGeom prst="rect">
            <a:avLst/>
          </a:prstGeom>
          <a:noFill/>
          <a:ln/>
        </p:spPr>
        <p:txBody>
          <a:bodyPr wrap="square" rtlCol="0" anchor="t"/>
          <a:lstStyle/>
          <a:p>
            <a:pPr marL="342900" indent="-342900" algn="l">
              <a:spcAft>
                <a:spcPts val="1000"/>
              </a:spcAft>
              <a:buSzPct val="100000"/>
              <a:buChar char="•"/>
            </a:pPr>
            <a:r>
              <a:rPr lang="en-US" sz="1250" dirty="0">
                <a:solidFill>
                  <a:srgbClr val="333333"/>
                </a:solidFill>
                <a:latin typeface="Arial" pitchFamily="34" charset="0"/>
                <a:ea typeface="Arial" pitchFamily="34" charset="-122"/>
                <a:cs typeface="Arial" pitchFamily="34" charset="-120"/>
              </a:rPr>
              <a:t>Design dashboards covering hospital-wide, patient-level, department-level, and resource-level analytics</a:t>
            </a:r>
            <a:endParaRPr lang="en-US" sz="1250" dirty="0"/>
          </a:p>
          <a:p>
            <a:pPr marL="342900" indent="-342900">
              <a:spcAft>
                <a:spcPts val="1000"/>
              </a:spcAft>
              <a:buSzPct val="100000"/>
              <a:buChar char="•"/>
            </a:pPr>
            <a:r>
              <a:rPr lang="en-US" sz="1200" dirty="0">
                <a:latin typeface="Arial" panose="020B0604020202020204" pitchFamily="34" charset="0"/>
                <a:cs typeface="Arial" panose="020B0604020202020204" pitchFamily="34" charset="0"/>
              </a:rPr>
              <a:t>Plan KPIs, charts, and filters based on the available dataset before developing the dashboards in </a:t>
            </a:r>
            <a:r>
              <a:rPr lang="en-US" sz="1200" dirty="0" smtClean="0">
                <a:latin typeface="Arial" panose="020B0604020202020204" pitchFamily="34" charset="0"/>
                <a:cs typeface="Arial" panose="020B0604020202020204" pitchFamily="34" charset="0"/>
              </a:rPr>
              <a:t>Tableau</a:t>
            </a:r>
          </a:p>
          <a:p>
            <a:pPr marL="342900" indent="-342900">
              <a:spcAft>
                <a:spcPts val="1000"/>
              </a:spcAft>
              <a:buSzPct val="100000"/>
              <a:buChar char="•"/>
            </a:pPr>
            <a:r>
              <a:rPr lang="en-US" sz="1250" dirty="0" smtClean="0">
                <a:solidFill>
                  <a:srgbClr val="333333"/>
                </a:solidFill>
                <a:latin typeface="Arial" pitchFamily="34" charset="0"/>
                <a:ea typeface="Arial" pitchFamily="34" charset="-122"/>
                <a:cs typeface="Arial" pitchFamily="34" charset="-120"/>
              </a:rPr>
              <a:t>Ensure dashboards are intuitive for non-technical hospital staff</a:t>
            </a:r>
            <a:endParaRPr lang="en-US" sz="1250" dirty="0" smtClean="0"/>
          </a:p>
          <a:p>
            <a:pPr marL="342900" indent="-342900" algn="l">
              <a:spcAft>
                <a:spcPts val="1000"/>
              </a:spcAft>
              <a:buSzPct val="100000"/>
              <a:buChar char="•"/>
            </a:pPr>
            <a:r>
              <a:rPr lang="en-US" sz="1250" dirty="0" smtClean="0">
                <a:solidFill>
                  <a:srgbClr val="333333"/>
                </a:solidFill>
                <a:latin typeface="Arial" pitchFamily="34" charset="0"/>
                <a:ea typeface="Arial" pitchFamily="34" charset="-122"/>
                <a:cs typeface="Arial" pitchFamily="34" charset="-120"/>
              </a:rPr>
              <a:t>Maintain </a:t>
            </a:r>
            <a:r>
              <a:rPr lang="en-US" sz="1250" dirty="0">
                <a:solidFill>
                  <a:srgbClr val="333333"/>
                </a:solidFill>
                <a:latin typeface="Arial" pitchFamily="34" charset="0"/>
                <a:ea typeface="Arial" pitchFamily="34" charset="-122"/>
                <a:cs typeface="Arial" pitchFamily="34" charset="-120"/>
              </a:rPr>
              <a:t>a consistent, healthcare-appropriate visual design across all four dashboards</a:t>
            </a:r>
            <a:endParaRPr lang="en-US" sz="1250" dirty="0"/>
          </a:p>
        </p:txBody>
      </p:sp>
      <p:sp>
        <p:nvSpPr>
          <p:cNvPr id="5" name="Text 3"/>
          <p:cNvSpPr/>
          <p:nvPr/>
        </p:nvSpPr>
        <p:spPr>
          <a:xfrm>
            <a:off x="6400800" y="1371600"/>
            <a:ext cx="5212080" cy="320040"/>
          </a:xfrm>
          <a:prstGeom prst="rect">
            <a:avLst/>
          </a:prstGeom>
          <a:noFill/>
          <a:ln/>
        </p:spPr>
        <p:txBody>
          <a:bodyPr wrap="square" rtlCol="0" anchor="ctr"/>
          <a:lstStyle/>
          <a:p>
            <a:pPr marL="0" indent="0">
              <a:buNone/>
            </a:pPr>
            <a:r>
              <a:rPr lang="en-US" sz="1500" b="1" dirty="0">
                <a:solidFill>
                  <a:srgbClr val="1B4965"/>
                </a:solidFill>
                <a:latin typeface="Arial" pitchFamily="34" charset="0"/>
                <a:ea typeface="Arial" pitchFamily="34" charset="-122"/>
                <a:cs typeface="Arial" pitchFamily="34" charset="-120"/>
              </a:rPr>
              <a:t>Target Users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027932408"/>
              </p:ext>
            </p:extLst>
          </p:nvPr>
        </p:nvGraphicFramePr>
        <p:xfrm>
          <a:off x="6400800" y="1783080"/>
          <a:ext cx="5212080" cy="3291840"/>
        </p:xfrm>
        <a:graphic>
          <a:graphicData uri="http://schemas.openxmlformats.org/drawingml/2006/table">
            <a:tbl>
              <a:tblPr/>
              <a:tblGrid>
                <a:gridCol w="1737360"/>
                <a:gridCol w="3474720"/>
              </a:tblGrid>
              <a:tr h="1097280">
                <a:tc>
                  <a:txBody>
                    <a:bodyPr/>
                    <a:lstStyle/>
                    <a:p>
                      <a:pPr marL="0" indent="0">
                        <a:buNone/>
                      </a:pPr>
                      <a:r>
                        <a:rPr lang="en-US" sz="1200" b="1" dirty="0">
                          <a:solidFill>
                            <a:srgbClr val="333333"/>
                          </a:solidFill>
                        </a:rPr>
                        <a:t>Hospital Administrator</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High-level view of hospital performance, occupancy, and patient volumes</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097280">
                <a:tc>
                  <a:txBody>
                    <a:bodyPr/>
                    <a:lstStyle/>
                    <a:p>
                      <a:pPr marL="0" indent="0">
                        <a:buNone/>
                      </a:pPr>
                      <a:r>
                        <a:rPr lang="en-US" sz="1200" b="1" dirty="0">
                          <a:solidFill>
                            <a:srgbClr val="333333"/>
                          </a:solidFill>
                        </a:rPr>
                        <a:t>Department Head</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Department-specific patient and severity breakdowns for </a:t>
                      </a:r>
                      <a:r>
                        <a:rPr lang="en-US" sz="1200" dirty="0" smtClean="0">
                          <a:solidFill>
                            <a:srgbClr val="333333"/>
                          </a:solidFill>
                        </a:rPr>
                        <a:t>staff</a:t>
                      </a:r>
                      <a:r>
                        <a:rPr lang="en-US" sz="1200" baseline="0" dirty="0" smtClean="0">
                          <a:solidFill>
                            <a:srgbClr val="333333"/>
                          </a:solidFill>
                        </a:rPr>
                        <a:t> and </a:t>
                      </a:r>
                      <a:r>
                        <a:rPr lang="en-US" sz="1200" dirty="0" smtClean="0">
                          <a:solidFill>
                            <a:srgbClr val="333333"/>
                          </a:solidFill>
                        </a:rPr>
                        <a:t>ward </a:t>
                      </a:r>
                      <a:r>
                        <a:rPr lang="en-US" sz="1200" dirty="0">
                          <a:solidFill>
                            <a:srgbClr val="333333"/>
                          </a:solidFill>
                        </a:rPr>
                        <a:t>planning</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097280">
                <a:tc>
                  <a:txBody>
                    <a:bodyPr/>
                    <a:lstStyle/>
                    <a:p>
                      <a:pPr marL="0" indent="0">
                        <a:buNone/>
                      </a:pPr>
                      <a:r>
                        <a:rPr lang="en-US" sz="1200" b="1" dirty="0">
                          <a:solidFill>
                            <a:srgbClr val="333333"/>
                          </a:solidFill>
                        </a:rPr>
                        <a:t>Management Team</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Billing, payment status, and resource utilization views for financial monitoring</a:t>
                      </a:r>
                      <a:endParaRPr lang="en-US" sz="120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7" name="Text 4"/>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8" name="Text 5"/>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Planning</a:t>
            </a:r>
            <a:endParaRPr lang="en-US" sz="2400" dirty="0"/>
          </a:p>
        </p:txBody>
      </p:sp>
      <p:sp>
        <p:nvSpPr>
          <p:cNvPr id="3" name="Text 1"/>
          <p:cNvSpPr/>
          <p:nvPr/>
        </p:nvSpPr>
        <p:spPr>
          <a:xfrm>
            <a:off x="548640" y="1371600"/>
            <a:ext cx="11091672" cy="822960"/>
          </a:xfrm>
          <a:prstGeom prst="rect">
            <a:avLst/>
          </a:prstGeom>
          <a:noFill/>
          <a:ln/>
        </p:spPr>
        <p:txBody>
          <a:bodyPr wrap="square" rtlCol="0" anchor="t"/>
          <a:lstStyle/>
          <a:p>
            <a:r>
              <a:rPr lang="en-US" sz="1200" dirty="0">
                <a:latin typeface="Arial" panose="020B0604020202020204" pitchFamily="34" charset="0"/>
                <a:cs typeface="Arial" panose="020B0604020202020204" pitchFamily="34" charset="0"/>
              </a:rPr>
              <a:t>Based on the hospital dataset—including patient demographics, admissions, billing, departments, severity, test results, wards, occupancy, payment status, and hospital regions—four dashboards were planned. Each dashboard includes interactive visualizations, KPIs, and filters.</a:t>
            </a:r>
            <a:endParaRPr lang="en-US" sz="1200" dirty="0">
              <a:latin typeface="Arial" panose="020B0604020202020204" pitchFamily="34" charset="0"/>
              <a:cs typeface="Arial" panose="020B0604020202020204" pitchFamily="34" charset="0"/>
            </a:endParaRPr>
          </a:p>
        </p:txBody>
      </p:sp>
      <p:graphicFrame>
        <p:nvGraphicFramePr>
          <p:cNvPr id="5" name="Table 0"/>
          <p:cNvGraphicFramePr>
            <a:graphicFrameLocks noGrp="1"/>
          </p:cNvGraphicFramePr>
          <p:nvPr>
            <p:extLst>
              <p:ext uri="{D42A27DB-BD31-4B8C-83A1-F6EECF244321}">
                <p14:modId xmlns:p14="http://schemas.microsoft.com/office/powerpoint/2010/main" val="799324261"/>
              </p:ext>
            </p:extLst>
          </p:nvPr>
        </p:nvGraphicFramePr>
        <p:xfrm>
          <a:off x="548640" y="2331720"/>
          <a:ext cx="11091672" cy="3108960"/>
        </p:xfrm>
        <a:graphic>
          <a:graphicData uri="http://schemas.openxmlformats.org/drawingml/2006/table">
            <a:tbl>
              <a:tblPr/>
              <a:tblGrid>
                <a:gridCol w="640080"/>
                <a:gridCol w="2926080"/>
                <a:gridCol w="7525512"/>
              </a:tblGrid>
              <a:tr h="621792">
                <a:tc>
                  <a:txBody>
                    <a:bodyPr/>
                    <a:lstStyle/>
                    <a:p>
                      <a:pPr marL="0" indent="0" algn="l">
                        <a:buNone/>
                      </a:pPr>
                      <a:r>
                        <a:rPr lang="en-US" sz="1200" b="1" dirty="0">
                          <a:solidFill>
                            <a:srgbClr val="FFFFFF"/>
                          </a:solidFill>
                        </a:rPr>
                        <a:t>#</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lgn="l">
                        <a:buNone/>
                      </a:pPr>
                      <a:r>
                        <a:rPr lang="en-US" sz="1200" b="1" dirty="0">
                          <a:solidFill>
                            <a:srgbClr val="FFFFFF"/>
                          </a:solidFill>
                        </a:rPr>
                        <a:t>Dashboard</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lgn="l">
                        <a:buNone/>
                      </a:pPr>
                      <a:r>
                        <a:rPr lang="en-US" sz="1200" b="1" dirty="0">
                          <a:solidFill>
                            <a:srgbClr val="FFFFFF"/>
                          </a:solidFill>
                        </a:rPr>
                        <a:t>Primary Focus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621792">
                <a:tc>
                  <a:txBody>
                    <a:bodyPr/>
                    <a:lstStyle/>
                    <a:p>
                      <a:pPr marL="0" indent="0" algn="l">
                        <a:buNone/>
                      </a:pPr>
                      <a:r>
                        <a:rPr lang="en-US" sz="1200" dirty="0">
                          <a:solidFill>
                            <a:srgbClr val="333333"/>
                          </a:solidFill>
                        </a:rPr>
                        <a:t>1</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Hospital Overview</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rPr>
                        <a:t>Hospital-wide summary of admissions, occupancy, and regional distribution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marL="0" indent="0" algn="l">
                        <a:buNone/>
                      </a:pPr>
                      <a:r>
                        <a:rPr lang="en-US" sz="1200" dirty="0">
                          <a:solidFill>
                            <a:srgbClr val="333333"/>
                          </a:solidFill>
                        </a:rPr>
                        <a:t>2</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Patient Flow</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smtClean="0"/>
                        <a:t>Patient journey from admission to discharge</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marL="0" indent="0" algn="l">
                        <a:buNone/>
                      </a:pPr>
                      <a:r>
                        <a:rPr lang="en-US" sz="1200" dirty="0">
                          <a:solidFill>
                            <a:srgbClr val="333333"/>
                          </a:solidFill>
                        </a:rPr>
                        <a:t>3</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Department Analytics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333333"/>
                          </a:solidFill>
                        </a:rPr>
                        <a:t>Department-wise patient load, severity mix, and billing patterns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621792">
                <a:tc>
                  <a:txBody>
                    <a:bodyPr/>
                    <a:lstStyle/>
                    <a:p>
                      <a:pPr marL="0" indent="0" algn="l">
                        <a:buNone/>
                      </a:pPr>
                      <a:r>
                        <a:rPr lang="en-US" sz="1200" dirty="0">
                          <a:solidFill>
                            <a:srgbClr val="333333"/>
                          </a:solidFill>
                        </a:rPr>
                        <a:t>4</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b="1" dirty="0">
                          <a:solidFill>
                            <a:srgbClr val="333333"/>
                          </a:solidFill>
                        </a:rPr>
                        <a:t>Resource Utilization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lgn="l">
                        <a:buNone/>
                      </a:pPr>
                      <a:r>
                        <a:rPr lang="en-US" sz="1200" dirty="0" smtClean="0">
                          <a:latin typeface="Arial" panose="020B0604020202020204" pitchFamily="34" charset="0"/>
                          <a:cs typeface="Arial" panose="020B0604020202020204" pitchFamily="34" charset="0"/>
                        </a:rPr>
                        <a:t>Ward occupancy, bed utilization, and room distribution across the hospital.</a:t>
                      </a:r>
                      <a:endParaRPr lang="en-US" sz="1200" dirty="0">
                        <a:latin typeface="Arial" panose="020B0604020202020204" pitchFamily="34" charset="0"/>
                        <a:cs typeface="Arial" panose="020B0604020202020204" pitchFamily="34" charset="0"/>
                      </a:endParaRPr>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6" name="Text 3"/>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1 – Hospital Overview</a:t>
            </a:r>
            <a:endParaRPr lang="en-US" sz="2400" dirty="0"/>
          </a:p>
        </p:txBody>
      </p:sp>
      <p:sp>
        <p:nvSpPr>
          <p:cNvPr id="3" name="Text 1"/>
          <p:cNvSpPr/>
          <p:nvPr/>
        </p:nvSpPr>
        <p:spPr>
          <a:xfrm>
            <a:off x="577051" y="960120"/>
            <a:ext cx="11091672" cy="685800"/>
          </a:xfrm>
          <a:prstGeom prst="rect">
            <a:avLst/>
          </a:prstGeom>
          <a:noFill/>
          <a:ln/>
        </p:spPr>
        <p:txBody>
          <a:bodyPr wrap="square" rtlCol="0" anchor="t"/>
          <a:lstStyle/>
          <a:p>
            <a:r>
              <a:rPr lang="en-US" sz="1250" b="1" dirty="0">
                <a:solidFill>
                  <a:srgbClr val="1B4965"/>
                </a:solidFill>
                <a:latin typeface="Arial" pitchFamily="34" charset="0"/>
                <a:ea typeface="Arial" pitchFamily="34" charset="-122"/>
                <a:cs typeface="Arial" pitchFamily="34" charset="-120"/>
              </a:rPr>
              <a:t>Purpose: </a:t>
            </a:r>
            <a:r>
              <a:rPr lang="en-US" sz="1200" dirty="0">
                <a:latin typeface="Arial" panose="020B0604020202020204" pitchFamily="34" charset="0"/>
                <a:cs typeface="Arial" panose="020B0604020202020204" pitchFamily="34" charset="0"/>
              </a:rPr>
              <a:t>Provides a high-level overview of hospital performance, including patient volume, occupancy, admissions, and regional </a:t>
            </a:r>
            <a:r>
              <a:rPr lang="en-US" sz="1200" dirty="0" smtClean="0">
                <a:latin typeface="Arial" panose="020B0604020202020204" pitchFamily="34" charset="0"/>
                <a:cs typeface="Arial" panose="020B0604020202020204" pitchFamily="34" charset="0"/>
              </a:rPr>
              <a:t>distribution</a:t>
            </a:r>
            <a:r>
              <a:rPr lang="en-US" sz="1250" dirty="0" smtClean="0">
                <a:solidFill>
                  <a:srgbClr val="333333"/>
                </a:solidFill>
                <a:latin typeface="Arial" pitchFamily="34" charset="0"/>
                <a:ea typeface="Arial" pitchFamily="34" charset="-122"/>
                <a:cs typeface="Arial" pitchFamily="34" charset="-120"/>
              </a:rPr>
              <a:t>.</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749620561"/>
              </p:ext>
            </p:extLst>
          </p:nvPr>
        </p:nvGraphicFramePr>
        <p:xfrm>
          <a:off x="577051" y="1393371"/>
          <a:ext cx="11091672" cy="1341121"/>
        </p:xfrm>
        <a:graphic>
          <a:graphicData uri="http://schemas.openxmlformats.org/drawingml/2006/table">
            <a:tbl>
              <a:tblPr/>
              <a:tblGrid>
                <a:gridCol w="3697224"/>
                <a:gridCol w="3697224"/>
                <a:gridCol w="3697224"/>
              </a:tblGrid>
              <a:tr h="372103">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969018">
                <a:tc>
                  <a:txBody>
                    <a:bodyPr/>
                    <a:lstStyle/>
                    <a:p>
                      <a:pPr marL="0" indent="0">
                        <a:buNone/>
                      </a:pPr>
                      <a:r>
                        <a:rPr lang="en-US" sz="1050" dirty="0" smtClean="0"/>
                        <a:t> </a:t>
                      </a:r>
                      <a:r>
                        <a:rPr lang="en-US" sz="1050" dirty="0" smtClean="0"/>
                        <a:t>Total Billing</a:t>
                      </a:r>
                    </a:p>
                    <a:p>
                      <a:pPr marL="0" indent="0">
                        <a:buNone/>
                      </a:pPr>
                      <a:r>
                        <a:rPr lang="en-US" sz="1050" dirty="0" smtClean="0"/>
                        <a:t> Total Patients</a:t>
                      </a:r>
                    </a:p>
                    <a:p>
                      <a:pPr marL="0" indent="0">
                        <a:buNone/>
                      </a:pPr>
                      <a:r>
                        <a:rPr lang="en-US" sz="1050" dirty="0" smtClean="0"/>
                        <a:t> Average Length of Stay</a:t>
                      </a:r>
                    </a:p>
                    <a:p>
                      <a:pPr marL="0" indent="0">
                        <a:buNone/>
                      </a:pPr>
                      <a:r>
                        <a:rPr lang="en-US" sz="1050" dirty="0" smtClean="0"/>
                        <a:t> Bed Occupancy Rate</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 Line Chart </a:t>
                      </a:r>
                      <a:r>
                        <a:rPr lang="en-US" sz="1050" dirty="0" smtClean="0"/>
                        <a:t>(Monthly Patient Admission Trend)</a:t>
                      </a:r>
                    </a:p>
                    <a:p>
                      <a:pPr marL="0" indent="0">
                        <a:buNone/>
                      </a:pPr>
                      <a:r>
                        <a:rPr lang="en-US" sz="1050" dirty="0" smtClean="0"/>
                        <a:t> </a:t>
                      </a:r>
                      <a:r>
                        <a:rPr lang="en-US" sz="1050" b="1" dirty="0" smtClean="0"/>
                        <a:t>Horizontal Bar Chart </a:t>
                      </a:r>
                      <a:r>
                        <a:rPr lang="en-US" sz="1050" dirty="0" smtClean="0"/>
                        <a:t>(Patients by Department)</a:t>
                      </a:r>
                    </a:p>
                    <a:p>
                      <a:pPr marL="0" indent="0">
                        <a:buNone/>
                      </a:pPr>
                      <a:r>
                        <a:rPr lang="en-US" sz="1050" dirty="0" smtClean="0"/>
                        <a:t> </a:t>
                      </a:r>
                      <a:r>
                        <a:rPr lang="en-US" sz="1050" b="1" dirty="0" smtClean="0"/>
                        <a:t>Pie Chart </a:t>
                      </a:r>
                      <a:r>
                        <a:rPr lang="en-US" sz="1050" dirty="0" smtClean="0"/>
                        <a:t>(Patients by Hospital Region)</a:t>
                      </a:r>
                    </a:p>
                    <a:p>
                      <a:pPr marL="0" indent="0">
                        <a:buNone/>
                      </a:pPr>
                      <a:r>
                        <a:rPr lang="en-US" sz="1050" dirty="0" smtClean="0"/>
                        <a:t> </a:t>
                      </a:r>
                      <a:r>
                        <a:rPr lang="en-US" sz="1050" b="1" dirty="0" smtClean="0"/>
                        <a:t>Pie Chart</a:t>
                      </a:r>
                      <a:r>
                        <a:rPr lang="en-US" sz="1050" dirty="0" smtClean="0"/>
                        <a:t> (Admission Type Distribution)</a:t>
                      </a:r>
                    </a:p>
                    <a:p>
                      <a:pPr marL="0" indent="0">
                        <a:buNone/>
                      </a:pPr>
                      <a:r>
                        <a:rPr lang="en-US" sz="1050" b="1" dirty="0" smtClean="0"/>
                        <a:t> Pie Chart </a:t>
                      </a:r>
                      <a:r>
                        <a:rPr lang="en-US" sz="1050" dirty="0" smtClean="0"/>
                        <a:t>(Payment Status Overview)</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 Department</a:t>
                      </a:r>
                    </a:p>
                    <a:p>
                      <a:pPr marL="0" indent="0">
                        <a:buNone/>
                      </a:pPr>
                      <a:r>
                        <a:rPr lang="en-US" sz="1050" dirty="0" smtClean="0"/>
                        <a:t> Hospital Region</a:t>
                      </a:r>
                    </a:p>
                    <a:p>
                      <a:pPr marL="0" indent="0">
                        <a:buNone/>
                      </a:pPr>
                      <a:r>
                        <a:rPr lang="en-US" sz="1050" dirty="0" smtClean="0"/>
                        <a:t> Payment Status</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489204" y="2809821"/>
            <a:ext cx="11091672" cy="713342"/>
          </a:xfrm>
          <a:prstGeom prst="rect">
            <a:avLst/>
          </a:prstGeom>
          <a:noFill/>
          <a:ln/>
        </p:spPr>
        <p:txBody>
          <a:bodyPr wrap="square" rtlCol="0" anchor="t"/>
          <a:lstStyle/>
          <a:p>
            <a:r>
              <a:rPr lang="en-US" sz="1200" b="1" dirty="0">
                <a:solidFill>
                  <a:schemeClr val="accent5">
                    <a:lumMod val="75000"/>
                  </a:schemeClr>
                </a:solidFill>
                <a:latin typeface="Arial" panose="020B0604020202020204" pitchFamily="34" charset="0"/>
                <a:cs typeface="Arial" panose="020B0604020202020204" pitchFamily="34" charset="0"/>
              </a:rPr>
              <a:t>Navigation:</a:t>
            </a:r>
            <a:r>
              <a:rPr lang="en-US" sz="1200" dirty="0">
                <a:solidFill>
                  <a:schemeClr val="accent5">
                    <a:lumMod val="75000"/>
                  </a:schemeClr>
                </a:solidFill>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Main dashboard providing an overview of hospital operations</a:t>
            </a:r>
            <a:r>
              <a:rPr lang="en-US" sz="1200" dirty="0"/>
              <a:t>.</a:t>
            </a:r>
          </a:p>
        </p:txBody>
      </p:sp>
      <p:sp>
        <p:nvSpPr>
          <p:cNvPr id="7"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Hospital Overview Dashboard Screenshot Here ]</a:t>
            </a:r>
            <a:endParaRPr lang="en-US" sz="1300" dirty="0"/>
          </a:p>
        </p:txBody>
      </p:sp>
      <p:sp>
        <p:nvSpPr>
          <p:cNvPr id="8" name="Text 5"/>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9"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5</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7051" y="3065417"/>
            <a:ext cx="11091672" cy="340853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2 – Patient Flow</a:t>
            </a:r>
            <a:endParaRPr lang="en-US" sz="2400" dirty="0"/>
          </a:p>
        </p:txBody>
      </p:sp>
      <p:sp>
        <p:nvSpPr>
          <p:cNvPr id="3" name="Text 1"/>
          <p:cNvSpPr/>
          <p:nvPr/>
        </p:nvSpPr>
        <p:spPr>
          <a:xfrm>
            <a:off x="548640" y="971223"/>
            <a:ext cx="11091672" cy="685800"/>
          </a:xfrm>
          <a:prstGeom prst="rect">
            <a:avLst/>
          </a:prstGeom>
          <a:noFill/>
          <a:ln/>
        </p:spPr>
        <p:txBody>
          <a:bodyPr wrap="square" rtlCol="0" anchor="t"/>
          <a:lstStyle/>
          <a:p>
            <a:r>
              <a:rPr lang="en-US" sz="1250" b="1" dirty="0">
                <a:solidFill>
                  <a:srgbClr val="1B4965"/>
                </a:solidFill>
                <a:latin typeface="Arial" pitchFamily="34" charset="0"/>
                <a:ea typeface="Arial" pitchFamily="34" charset="-122"/>
                <a:cs typeface="Arial" pitchFamily="34" charset="-120"/>
              </a:rPr>
              <a:t>Purpose</a:t>
            </a:r>
            <a:r>
              <a:rPr lang="en-US" sz="1250" b="1" dirty="0">
                <a:solidFill>
                  <a:srgbClr val="1B4965"/>
                </a:solidFill>
                <a:latin typeface="Arial" panose="020B0604020202020204" pitchFamily="34" charset="0"/>
                <a:ea typeface="Arial" pitchFamily="34" charset="-122"/>
                <a:cs typeface="Arial" panose="020B0604020202020204" pitchFamily="34" charset="0"/>
              </a:rPr>
              <a:t>: </a:t>
            </a:r>
            <a:r>
              <a:rPr lang="en-US" sz="1400" dirty="0">
                <a:latin typeface="Arial" panose="020B0604020202020204" pitchFamily="34" charset="0"/>
                <a:cs typeface="Arial" panose="020B0604020202020204" pitchFamily="34" charset="0"/>
              </a:rPr>
              <a:t>Visualizes patient movement from admission to discharge, along with severity, readmission, and discharge patterns</a:t>
            </a:r>
            <a:r>
              <a:rPr lang="en-US" sz="1400" dirty="0" smtClean="0"/>
              <a:t>.</a:t>
            </a:r>
            <a:endParaRPr lang="en-US" sz="1250" dirty="0"/>
          </a:p>
        </p:txBody>
      </p:sp>
      <p:graphicFrame>
        <p:nvGraphicFramePr>
          <p:cNvPr id="7" name="Table 0"/>
          <p:cNvGraphicFramePr>
            <a:graphicFrameLocks noGrp="1"/>
          </p:cNvGraphicFramePr>
          <p:nvPr>
            <p:extLst>
              <p:ext uri="{D42A27DB-BD31-4B8C-83A1-F6EECF244321}">
                <p14:modId xmlns:p14="http://schemas.microsoft.com/office/powerpoint/2010/main" val="9657384"/>
              </p:ext>
            </p:extLst>
          </p:nvPr>
        </p:nvGraphicFramePr>
        <p:xfrm>
          <a:off x="548640" y="1436915"/>
          <a:ext cx="11091672" cy="1280160"/>
        </p:xfrm>
        <a:graphic>
          <a:graphicData uri="http://schemas.openxmlformats.org/drawingml/2006/table">
            <a:tbl>
              <a:tblPr/>
              <a:tblGrid>
                <a:gridCol w="3697224"/>
                <a:gridCol w="3697224"/>
                <a:gridCol w="3697224"/>
              </a:tblGrid>
              <a:tr h="224908">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910032">
                <a:tc>
                  <a:txBody>
                    <a:bodyPr/>
                    <a:lstStyle/>
                    <a:p>
                      <a:pPr marL="0" indent="0">
                        <a:buNone/>
                      </a:pPr>
                      <a:r>
                        <a:rPr lang="en-US" sz="1050" dirty="0" smtClean="0"/>
                        <a:t> Average Length of Stay</a:t>
                      </a:r>
                    </a:p>
                    <a:p>
                      <a:pPr marL="0" indent="0">
                        <a:buNone/>
                      </a:pPr>
                      <a:r>
                        <a:rPr lang="en-US" sz="1050" dirty="0" smtClean="0"/>
                        <a:t> Readmission Rate</a:t>
                      </a:r>
                    </a:p>
                    <a:p>
                      <a:pPr marL="0" indent="0">
                        <a:buNone/>
                      </a:pPr>
                      <a:r>
                        <a:rPr lang="en-US" sz="1050" dirty="0" smtClean="0"/>
                        <a:t> Severe Cases % </a:t>
                      </a:r>
                    </a:p>
                    <a:p>
                      <a:pPr marL="0" indent="0">
                        <a:buNone/>
                      </a:pPr>
                      <a:r>
                        <a:rPr lang="en-US" sz="1050" dirty="0" smtClean="0"/>
                        <a:t> Discharge Rate</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Horizontal Bar Chart </a:t>
                      </a:r>
                      <a:r>
                        <a:rPr lang="en-US" sz="1050" dirty="0" smtClean="0"/>
                        <a:t>– Length of Stay Distribution</a:t>
                      </a:r>
                    </a:p>
                    <a:p>
                      <a:pPr marL="0" indent="0">
                        <a:buNone/>
                      </a:pPr>
                      <a:r>
                        <a:rPr lang="en-US" sz="1050" dirty="0" smtClean="0"/>
                        <a:t> </a:t>
                      </a:r>
                      <a:r>
                        <a:rPr lang="en-US" sz="1050" b="1" dirty="0" smtClean="0"/>
                        <a:t>Horizontal Bar Chart </a:t>
                      </a:r>
                      <a:r>
                        <a:rPr lang="en-US" sz="1050" dirty="0" smtClean="0"/>
                        <a:t>– Readmission by Department</a:t>
                      </a:r>
                    </a:p>
                    <a:p>
                      <a:pPr marL="0" indent="0">
                        <a:buNone/>
                      </a:pPr>
                      <a:r>
                        <a:rPr lang="en-US" sz="1050" dirty="0" smtClean="0"/>
                        <a:t> </a:t>
                      </a:r>
                      <a:r>
                        <a:rPr lang="en-US" sz="1050" b="1" dirty="0" smtClean="0"/>
                        <a:t>Pie Chart </a:t>
                      </a:r>
                      <a:r>
                        <a:rPr lang="en-US" sz="1050" dirty="0" smtClean="0"/>
                        <a:t>– Severity Distribution</a:t>
                      </a:r>
                    </a:p>
                    <a:p>
                      <a:pPr marL="0" indent="0">
                        <a:buNone/>
                      </a:pPr>
                      <a:r>
                        <a:rPr lang="en-US" sz="1050" dirty="0" smtClean="0"/>
                        <a:t> </a:t>
                      </a:r>
                      <a:r>
                        <a:rPr lang="en-US" sz="1050" b="1" dirty="0" smtClean="0"/>
                        <a:t>Stacked Bar Chart </a:t>
                      </a:r>
                      <a:r>
                        <a:rPr lang="en-US" sz="1050" dirty="0" smtClean="0"/>
                        <a:t>– Admission Type vs Severity</a:t>
                      </a:r>
                    </a:p>
                    <a:p>
                      <a:pPr marL="0" indent="0">
                        <a:buNone/>
                      </a:pPr>
                      <a:r>
                        <a:rPr lang="en-US" sz="1050" dirty="0" smtClean="0"/>
                        <a:t> </a:t>
                      </a:r>
                      <a:r>
                        <a:rPr lang="en-US" sz="1050" b="1" dirty="0" smtClean="0"/>
                        <a:t>Bar Chart </a:t>
                      </a:r>
                      <a:r>
                        <a:rPr lang="en-US" sz="1050" dirty="0" smtClean="0"/>
                        <a:t>– Discharge Status Overview</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Department</a:t>
                      </a:r>
                    </a:p>
                    <a:p>
                      <a:pPr marL="0" indent="0">
                        <a:buNone/>
                      </a:pPr>
                      <a:r>
                        <a:rPr lang="en-US" sz="1050" dirty="0" smtClean="0"/>
                        <a:t>Severity</a:t>
                      </a:r>
                    </a:p>
                    <a:p>
                      <a:pPr marL="0" indent="0">
                        <a:buNone/>
                      </a:pPr>
                      <a:r>
                        <a:rPr lang="en-US" sz="1050" dirty="0" smtClean="0"/>
                        <a:t>Admission</a:t>
                      </a:r>
                      <a:r>
                        <a:rPr lang="en-US" sz="1050" baseline="0" dirty="0" smtClean="0"/>
                        <a:t> Type</a:t>
                      </a:r>
                    </a:p>
                    <a:p>
                      <a:pPr marL="0" indent="0">
                        <a:buNone/>
                      </a:pPr>
                      <a:r>
                        <a:rPr lang="en-US" sz="1050" baseline="0" dirty="0" smtClean="0"/>
                        <a:t>Discharge Status</a:t>
                      </a:r>
                      <a:endParaRPr lang="en-US" sz="1050" dirty="0" smtClean="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489204" y="2826148"/>
            <a:ext cx="11091672" cy="685800"/>
          </a:xfrm>
          <a:prstGeom prst="rect">
            <a:avLst/>
          </a:prstGeom>
          <a:noFill/>
          <a:ln/>
        </p:spPr>
        <p:txBody>
          <a:bodyPr wrap="square" rtlCol="0" anchor="t"/>
          <a:lstStyle/>
          <a:p>
            <a:r>
              <a:rPr lang="en-US" sz="1200" b="1" dirty="0" smtClean="0">
                <a:solidFill>
                  <a:srgbClr val="1B4965"/>
                </a:solidFill>
                <a:latin typeface="Arial" pitchFamily="34" charset="0"/>
                <a:ea typeface="Arial" pitchFamily="34" charset="-122"/>
                <a:cs typeface="Arial" pitchFamily="34" charset="-120"/>
              </a:rPr>
              <a:t>Navigation: </a:t>
            </a:r>
            <a:r>
              <a:rPr lang="en-US" sz="1200" dirty="0" smtClean="0">
                <a:latin typeface="Arial" panose="020B0604020202020204" pitchFamily="34" charset="0"/>
                <a:cs typeface="Arial" panose="020B0604020202020204" pitchFamily="34" charset="0"/>
              </a:rPr>
              <a:t>Focuses </a:t>
            </a:r>
            <a:r>
              <a:rPr lang="en-US" sz="1200" dirty="0">
                <a:latin typeface="Arial" panose="020B0604020202020204" pitchFamily="34" charset="0"/>
                <a:cs typeface="Arial" panose="020B0604020202020204" pitchFamily="34" charset="0"/>
              </a:rPr>
              <a:t>on patient movement and clinical flow across the hospital.</a:t>
            </a:r>
          </a:p>
        </p:txBody>
      </p:sp>
      <p:sp>
        <p:nvSpPr>
          <p:cNvPr id="4"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Patient Flow Dashboard Screenshot Here ]</a:t>
            </a:r>
            <a:endParaRPr lang="en-US" sz="1300" dirty="0"/>
          </a:p>
        </p:txBody>
      </p:sp>
      <p:sp>
        <p:nvSpPr>
          <p:cNvPr id="8" name="Text 5"/>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9"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6</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3100251"/>
            <a:ext cx="11091672" cy="337370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3 – Department Analytics</a:t>
            </a:r>
            <a:endParaRPr lang="en-US" sz="2400" dirty="0"/>
          </a:p>
        </p:txBody>
      </p:sp>
      <p:sp>
        <p:nvSpPr>
          <p:cNvPr id="3" name="Text 1"/>
          <p:cNvSpPr/>
          <p:nvPr/>
        </p:nvSpPr>
        <p:spPr>
          <a:xfrm>
            <a:off x="548640" y="987552"/>
            <a:ext cx="11091672" cy="685800"/>
          </a:xfrm>
          <a:prstGeom prst="rect">
            <a:avLst/>
          </a:prstGeom>
          <a:noFill/>
          <a:ln/>
        </p:spPr>
        <p:txBody>
          <a:bodyPr wrap="square" rtlCol="0" anchor="t"/>
          <a:lstStyle/>
          <a:p>
            <a:pPr marL="0" indent="0">
              <a:buNone/>
            </a:pPr>
            <a:r>
              <a:rPr lang="en-US" sz="1250" b="1" dirty="0">
                <a:solidFill>
                  <a:srgbClr val="1B4965"/>
                </a:solidFill>
                <a:latin typeface="Arial" pitchFamily="34" charset="0"/>
                <a:ea typeface="Arial" pitchFamily="34" charset="-122"/>
                <a:cs typeface="Arial" pitchFamily="34" charset="-120"/>
              </a:rPr>
              <a:t>Purpose: </a:t>
            </a:r>
            <a:r>
              <a:rPr lang="en-US" sz="1250" dirty="0">
                <a:solidFill>
                  <a:srgbClr val="333333"/>
                </a:solidFill>
                <a:latin typeface="Arial" pitchFamily="34" charset="0"/>
                <a:ea typeface="Arial" pitchFamily="34" charset="-122"/>
                <a:cs typeface="Arial" pitchFamily="34" charset="-120"/>
              </a:rPr>
              <a:t>Gives department heads a focused view of patient load, severity mix, and billing patterns within their department.</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2086305797"/>
              </p:ext>
            </p:extLst>
          </p:nvPr>
        </p:nvGraphicFramePr>
        <p:xfrm>
          <a:off x="548640" y="1310639"/>
          <a:ext cx="11091672" cy="1110344"/>
        </p:xfrm>
        <a:graphic>
          <a:graphicData uri="http://schemas.openxmlformats.org/drawingml/2006/table">
            <a:tbl>
              <a:tblPr/>
              <a:tblGrid>
                <a:gridCol w="3697224"/>
                <a:gridCol w="3697224"/>
                <a:gridCol w="3697224"/>
              </a:tblGrid>
              <a:tr h="338089">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772255">
                <a:tc>
                  <a:txBody>
                    <a:bodyPr/>
                    <a:lstStyle/>
                    <a:p>
                      <a:pPr marL="0" indent="0">
                        <a:buNone/>
                      </a:pPr>
                      <a:r>
                        <a:rPr lang="en-US" sz="1050" dirty="0" smtClean="0"/>
                        <a:t> Average Billing Per Patient</a:t>
                      </a:r>
                    </a:p>
                    <a:p>
                      <a:pPr marL="0" indent="0">
                        <a:buNone/>
                      </a:pPr>
                      <a:r>
                        <a:rPr lang="en-US" sz="1050" dirty="0" smtClean="0"/>
                        <a:t> Average Length of Stay</a:t>
                      </a:r>
                    </a:p>
                    <a:p>
                      <a:pPr marL="0" indent="0">
                        <a:buNone/>
                      </a:pPr>
                      <a:r>
                        <a:rPr lang="en-US" sz="1050" dirty="0" smtClean="0"/>
                        <a:t> Total Patients</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Horizontal Bar Chart:</a:t>
                      </a:r>
                      <a:r>
                        <a:rPr lang="en-US" sz="1050" dirty="0" smtClean="0"/>
                        <a:t> Average Billing by Department </a:t>
                      </a:r>
                    </a:p>
                    <a:p>
                      <a:pPr marL="0" indent="0">
                        <a:buNone/>
                      </a:pPr>
                      <a:r>
                        <a:rPr lang="en-US" sz="1050" b="1" dirty="0" smtClean="0"/>
                        <a:t>Horizontal Bar Chart:</a:t>
                      </a:r>
                      <a:r>
                        <a:rPr lang="en-US" sz="1050" dirty="0" smtClean="0"/>
                        <a:t> Average Length of Stay by Department </a:t>
                      </a:r>
                      <a:r>
                        <a:rPr lang="en-US" sz="1050" b="1" dirty="0" smtClean="0"/>
                        <a:t>Stacked Horizontal Bar Chart:</a:t>
                      </a:r>
                      <a:r>
                        <a:rPr lang="en-US" sz="1050" dirty="0" smtClean="0"/>
                        <a:t> Test Results by Department</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Department</a:t>
                      </a:r>
                    </a:p>
                    <a:p>
                      <a:pPr marL="0" indent="0">
                        <a:buNone/>
                      </a:pPr>
                      <a:r>
                        <a:rPr lang="en-US" sz="1050" dirty="0" smtClean="0"/>
                        <a:t>Test Results</a:t>
                      </a:r>
                    </a:p>
                    <a:p>
                      <a:pPr marL="0" indent="0">
                        <a:buNone/>
                      </a:pPr>
                      <a:r>
                        <a:rPr lang="en-US" sz="1050" dirty="0" smtClean="0"/>
                        <a:t>Length </a:t>
                      </a:r>
                      <a:r>
                        <a:rPr lang="en-US" sz="1050" dirty="0" smtClean="0"/>
                        <a:t>of Stay</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497913" y="2539855"/>
            <a:ext cx="11091672" cy="709966"/>
          </a:xfrm>
          <a:prstGeom prst="rect">
            <a:avLst/>
          </a:prstGeom>
          <a:noFill/>
          <a:ln/>
        </p:spPr>
        <p:txBody>
          <a:bodyPr wrap="square" rtlCol="0" anchor="t"/>
          <a:lstStyle/>
          <a:p>
            <a:r>
              <a:rPr lang="en-US" sz="1200" b="1" dirty="0">
                <a:solidFill>
                  <a:schemeClr val="accent5">
                    <a:lumMod val="75000"/>
                  </a:schemeClr>
                </a:solidFill>
                <a:latin typeface="Arial" panose="020B0604020202020204" pitchFamily="34" charset="0"/>
                <a:cs typeface="Arial" panose="020B0604020202020204" pitchFamily="34" charset="0"/>
              </a:rPr>
              <a:t>Navigation</a:t>
            </a:r>
            <a:r>
              <a:rPr lang="en-US" sz="1200" b="1" dirty="0">
                <a:latin typeface="Arial" panose="020B0604020202020204" pitchFamily="34" charset="0"/>
                <a:cs typeface="Arial" panose="020B0604020202020204" pitchFamily="34" charset="0"/>
              </a:rPr>
              <a:t>:</a:t>
            </a:r>
            <a:r>
              <a:rPr lang="en-US" sz="1200" dirty="0">
                <a:latin typeface="Arial" panose="020B0604020202020204" pitchFamily="34" charset="0"/>
                <a:cs typeface="Arial" panose="020B0604020202020204" pitchFamily="34" charset="0"/>
              </a:rPr>
              <a:t> </a:t>
            </a:r>
            <a:r>
              <a:rPr lang="en-IN" sz="1200" dirty="0">
                <a:latin typeface="Arial" panose="020B0604020202020204" pitchFamily="34" charset="0"/>
                <a:cs typeface="Arial" panose="020B0604020202020204" pitchFamily="34" charset="0"/>
              </a:rPr>
              <a:t>Provides department-level performance analysis.</a:t>
            </a:r>
            <a:endParaRPr lang="en-US" sz="1200" dirty="0">
              <a:latin typeface="Arial" panose="020B0604020202020204" pitchFamily="34" charset="0"/>
              <a:cs typeface="Arial" panose="020B0604020202020204" pitchFamily="34" charset="0"/>
            </a:endParaRPr>
          </a:p>
        </p:txBody>
      </p:sp>
      <p:sp>
        <p:nvSpPr>
          <p:cNvPr id="7"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Department Analytics Dashboard Screenshot Here ]</a:t>
            </a:r>
            <a:endParaRPr lang="en-US" sz="1300" dirty="0"/>
          </a:p>
        </p:txBody>
      </p:sp>
      <p:sp>
        <p:nvSpPr>
          <p:cNvPr id="4" name="Text 5"/>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9"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7</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2873829"/>
            <a:ext cx="11091672" cy="36001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4 – Resource Utilization</a:t>
            </a:r>
            <a:endParaRPr lang="en-US" sz="2400" dirty="0"/>
          </a:p>
        </p:txBody>
      </p:sp>
      <p:sp>
        <p:nvSpPr>
          <p:cNvPr id="3" name="Text 1"/>
          <p:cNvSpPr/>
          <p:nvPr/>
        </p:nvSpPr>
        <p:spPr>
          <a:xfrm>
            <a:off x="548640" y="940526"/>
            <a:ext cx="11091672" cy="685800"/>
          </a:xfrm>
          <a:prstGeom prst="rect">
            <a:avLst/>
          </a:prstGeom>
          <a:noFill/>
          <a:ln/>
        </p:spPr>
        <p:txBody>
          <a:bodyPr wrap="square" rtlCol="0" anchor="t"/>
          <a:lstStyle/>
          <a:p>
            <a:r>
              <a:rPr lang="en-US" sz="1250" b="1" dirty="0">
                <a:solidFill>
                  <a:srgbClr val="1B4965"/>
                </a:solidFill>
                <a:latin typeface="Arial" pitchFamily="34" charset="0"/>
                <a:ea typeface="Arial" pitchFamily="34" charset="-122"/>
                <a:cs typeface="Arial" pitchFamily="34" charset="-120"/>
              </a:rPr>
              <a:t>Purpose: </a:t>
            </a:r>
            <a:r>
              <a:rPr lang="en-US" sz="1200" dirty="0">
                <a:latin typeface="Arial" panose="020B0604020202020204" pitchFamily="34" charset="0"/>
                <a:cs typeface="Arial" panose="020B0604020202020204" pitchFamily="34" charset="0"/>
              </a:rPr>
              <a:t>Tracks bed occupancy, ward utilization, and room distribution to monitor hospital resource utilization and operational efficiency.</a:t>
            </a:r>
            <a:endParaRPr lang="en-US" sz="1200" dirty="0">
              <a:latin typeface="Arial" panose="020B0604020202020204" pitchFamily="34" charset="0"/>
              <a:cs typeface="Arial" panose="020B0604020202020204" pitchFamily="34" charset="0"/>
            </a:endParaRPr>
          </a:p>
        </p:txBody>
      </p:sp>
      <p:graphicFrame>
        <p:nvGraphicFramePr>
          <p:cNvPr id="9" name="Table 0"/>
          <p:cNvGraphicFramePr>
            <a:graphicFrameLocks noGrp="1"/>
          </p:cNvGraphicFramePr>
          <p:nvPr>
            <p:extLst>
              <p:ext uri="{D42A27DB-BD31-4B8C-83A1-F6EECF244321}">
                <p14:modId xmlns:p14="http://schemas.microsoft.com/office/powerpoint/2010/main" val="1069054924"/>
              </p:ext>
            </p:extLst>
          </p:nvPr>
        </p:nvGraphicFramePr>
        <p:xfrm>
          <a:off x="548640" y="1322004"/>
          <a:ext cx="11091672" cy="1177356"/>
        </p:xfrm>
        <a:graphic>
          <a:graphicData uri="http://schemas.openxmlformats.org/drawingml/2006/table">
            <a:tbl>
              <a:tblPr/>
              <a:tblGrid>
                <a:gridCol w="3697224"/>
                <a:gridCol w="3697224"/>
                <a:gridCol w="3697224"/>
              </a:tblGrid>
              <a:tr h="384876">
                <a:tc>
                  <a:txBody>
                    <a:bodyPr/>
                    <a:lstStyle/>
                    <a:p>
                      <a:pPr marL="0" indent="0">
                        <a:buNone/>
                      </a:pPr>
                      <a:r>
                        <a:rPr lang="en-US" sz="1150" b="1" dirty="0">
                          <a:solidFill>
                            <a:srgbClr val="FFFFFF"/>
                          </a:solidFill>
                        </a:rPr>
                        <a:t>KPIs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Charts Used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c>
                  <a:txBody>
                    <a:bodyPr/>
                    <a:lstStyle/>
                    <a:p>
                      <a:pPr marL="0" indent="0">
                        <a:buNone/>
                      </a:pPr>
                      <a:r>
                        <a:rPr lang="en-US" sz="1150" b="1" dirty="0">
                          <a:solidFill>
                            <a:srgbClr val="FFFFFF"/>
                          </a:solidFill>
                        </a:rPr>
                        <a:t>Filters Planned</a:t>
                      </a:r>
                      <a:endParaRPr lang="en-US" sz="11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4965"/>
                    </a:solidFill>
                  </a:tcPr>
                </a:tc>
              </a:tr>
              <a:tr h="746455">
                <a:tc>
                  <a:txBody>
                    <a:bodyPr/>
                    <a:lstStyle/>
                    <a:p>
                      <a:pPr marL="0" indent="0">
                        <a:buNone/>
                      </a:pPr>
                      <a:r>
                        <a:rPr lang="en-US" sz="1050" dirty="0" smtClean="0"/>
                        <a:t>Bed Occupancy Rate</a:t>
                      </a:r>
                    </a:p>
                    <a:p>
                      <a:pPr marL="0" indent="0">
                        <a:buNone/>
                      </a:pPr>
                      <a:r>
                        <a:rPr lang="en-US" sz="1050" dirty="0" smtClean="0"/>
                        <a:t> Total Beds </a:t>
                      </a:r>
                    </a:p>
                    <a:p>
                      <a:pPr marL="0" indent="0">
                        <a:buNone/>
                      </a:pPr>
                      <a:r>
                        <a:rPr lang="en-US" sz="1050" dirty="0" smtClean="0"/>
                        <a:t>Occupied Beds</a:t>
                      </a:r>
                    </a:p>
                    <a:p>
                      <a:pPr marL="0" indent="0">
                        <a:buNone/>
                      </a:pPr>
                      <a:r>
                        <a:rPr lang="en-US" sz="1050" dirty="0" smtClean="0"/>
                        <a:t> Vacant Beds</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b="1" dirty="0" smtClean="0"/>
                        <a:t>Horizontal Bar Chart </a:t>
                      </a:r>
                      <a:r>
                        <a:rPr lang="en-US" sz="1050" dirty="0" smtClean="0"/>
                        <a:t>– Occupancy Status </a:t>
                      </a:r>
                    </a:p>
                    <a:p>
                      <a:pPr marL="0" indent="0">
                        <a:buNone/>
                      </a:pPr>
                      <a:r>
                        <a:rPr lang="en-US" sz="1050" b="1" dirty="0" smtClean="0"/>
                        <a:t>Horizontal Bar Chart </a:t>
                      </a:r>
                      <a:r>
                        <a:rPr lang="en-US" sz="1050" dirty="0" smtClean="0"/>
                        <a:t>– Ward-wise Patient Count </a:t>
                      </a:r>
                    </a:p>
                    <a:p>
                      <a:pPr marL="0" indent="0">
                        <a:buNone/>
                      </a:pPr>
                      <a:r>
                        <a:rPr lang="en-US" sz="1050" b="1" dirty="0" smtClean="0"/>
                        <a:t>Pie Chart </a:t>
                      </a:r>
                      <a:r>
                        <a:rPr lang="en-US" sz="1050" dirty="0" smtClean="0"/>
                        <a:t>– Room Type Distribution</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050" dirty="0" smtClean="0"/>
                        <a:t>Occupancy Status</a:t>
                      </a:r>
                    </a:p>
                    <a:p>
                      <a:pPr marL="0" indent="0">
                        <a:buNone/>
                      </a:pPr>
                      <a:r>
                        <a:rPr lang="en-US" sz="1050" dirty="0" smtClean="0"/>
                        <a:t>Ward </a:t>
                      </a:r>
                    </a:p>
                    <a:p>
                      <a:pPr marL="0" indent="0">
                        <a:buNone/>
                      </a:pPr>
                      <a:r>
                        <a:rPr lang="en-US" sz="1050" dirty="0" smtClean="0"/>
                        <a:t>Room Type</a:t>
                      </a:r>
                      <a:endParaRPr lang="en-US" sz="1050" dirty="0"/>
                    </a:p>
                  </a:txBody>
                  <a:tcPr marL="76200" marR="76200" marT="76200" marB="7620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Text 2"/>
          <p:cNvSpPr/>
          <p:nvPr/>
        </p:nvSpPr>
        <p:spPr>
          <a:xfrm>
            <a:off x="515331" y="2596722"/>
            <a:ext cx="11091672" cy="685800"/>
          </a:xfrm>
          <a:prstGeom prst="rect">
            <a:avLst/>
          </a:prstGeom>
          <a:noFill/>
          <a:ln/>
        </p:spPr>
        <p:txBody>
          <a:bodyPr wrap="square" rtlCol="0" anchor="t"/>
          <a:lstStyle/>
          <a:p>
            <a:r>
              <a:rPr lang="en-US" sz="1200" b="1" dirty="0" smtClean="0">
                <a:solidFill>
                  <a:srgbClr val="1B4965"/>
                </a:solidFill>
                <a:latin typeface="Arial" pitchFamily="34" charset="0"/>
                <a:ea typeface="Arial" pitchFamily="34" charset="-122"/>
                <a:cs typeface="Arial" pitchFamily="34" charset="-120"/>
              </a:rPr>
              <a:t>Navigation</a:t>
            </a:r>
            <a:r>
              <a:rPr lang="en-US" sz="1200" b="1" dirty="0" smtClean="0">
                <a:solidFill>
                  <a:srgbClr val="1B4965"/>
                </a:solidFill>
                <a:latin typeface="Arial" pitchFamily="34" charset="0"/>
                <a:ea typeface="Arial" pitchFamily="34" charset="-122"/>
                <a:cs typeface="Arial" pitchFamily="34" charset="-120"/>
              </a:rPr>
              <a:t>:</a:t>
            </a:r>
            <a:endParaRPr lang="en-US" sz="1200" dirty="0">
              <a:latin typeface="Arial" panose="020B0604020202020204" pitchFamily="34" charset="0"/>
              <a:cs typeface="Arial" panose="020B0604020202020204" pitchFamily="34" charset="0"/>
            </a:endParaRPr>
          </a:p>
        </p:txBody>
      </p:sp>
      <p:sp>
        <p:nvSpPr>
          <p:cNvPr id="7" name="Text 4"/>
          <p:cNvSpPr/>
          <p:nvPr/>
        </p:nvSpPr>
        <p:spPr>
          <a:xfrm>
            <a:off x="548640" y="5120640"/>
            <a:ext cx="11091672" cy="1234440"/>
          </a:xfrm>
          <a:prstGeom prst="rect">
            <a:avLst/>
          </a:prstGeom>
          <a:noFill/>
          <a:ln/>
        </p:spPr>
        <p:txBody>
          <a:bodyPr wrap="square" rtlCol="0" anchor="ctr"/>
          <a:lstStyle/>
          <a:p>
            <a:pPr marL="0" indent="0" algn="ctr">
              <a:buNone/>
            </a:pPr>
            <a:r>
              <a:rPr lang="en-US" sz="1300" i="1" dirty="0">
                <a:solidFill>
                  <a:srgbClr val="666666"/>
                </a:solidFill>
                <a:latin typeface="Arial" pitchFamily="34" charset="0"/>
                <a:ea typeface="Arial" pitchFamily="34" charset="-122"/>
                <a:cs typeface="Arial" pitchFamily="34" charset="-120"/>
              </a:rPr>
              <a:t>[ Insert Resource Utilization Dashboard Screenshot Here ]</a:t>
            </a:r>
            <a:endParaRPr lang="en-US" sz="1300" dirty="0"/>
          </a:p>
        </p:txBody>
      </p:sp>
      <p:sp>
        <p:nvSpPr>
          <p:cNvPr id="8" name="Text 5"/>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4" name="Text 6"/>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8</a:t>
            </a:r>
            <a:endParaRPr lang="en-US" sz="900"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 y="2856410"/>
            <a:ext cx="11091672" cy="3617541"/>
          </a:xfrm>
          <a:prstGeom prst="rect">
            <a:avLst/>
          </a:prstGeom>
        </p:spPr>
      </p:pic>
      <p:sp>
        <p:nvSpPr>
          <p:cNvPr id="14" name="Rectangle 4"/>
          <p:cNvSpPr>
            <a:spLocks noChangeArrowheads="1"/>
          </p:cNvSpPr>
          <p:nvPr/>
        </p:nvSpPr>
        <p:spPr bwMode="auto">
          <a:xfrm>
            <a:off x="1384663" y="2511506"/>
            <a:ext cx="3793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i="0" u="none" strike="noStrike" cap="none" normalizeH="0" baseline="0" dirty="0" smtClean="0">
                <a:ln>
                  <a:noFill/>
                </a:ln>
                <a:solidFill>
                  <a:schemeClr val="tx1"/>
                </a:solidFill>
                <a:effectLst/>
                <a:latin typeface="Arial" panose="020B0604020202020204" pitchFamily="34" charset="0"/>
              </a:rPr>
              <a:t>Displays hospital resource and occupancy utilization</a:t>
            </a:r>
            <a:r>
              <a:rPr kumimoji="0" lang="en-US" altLang="en-US" sz="1800" i="0" u="none" strike="noStrike" cap="none" normalizeH="0" baseline="0" dirty="0" smtClean="0">
                <a:ln>
                  <a:noFill/>
                </a:ln>
                <a:solidFill>
                  <a:schemeClr val="tx1"/>
                </a:solidFill>
                <a:effectLst/>
                <a:latin typeface="Arial" panose="020B0604020202020204" pitchFamily="34"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Dashboard Interactivity</a:t>
            </a:r>
            <a:endParaRPr lang="en-US" sz="2400" dirty="0"/>
          </a:p>
        </p:txBody>
      </p:sp>
      <p:sp>
        <p:nvSpPr>
          <p:cNvPr id="3" name="Text 1"/>
          <p:cNvSpPr/>
          <p:nvPr/>
        </p:nvSpPr>
        <p:spPr>
          <a:xfrm>
            <a:off x="548640" y="868680"/>
            <a:ext cx="11091672" cy="320040"/>
          </a:xfrm>
          <a:prstGeom prst="rect">
            <a:avLst/>
          </a:prstGeom>
          <a:noFill/>
          <a:ln/>
        </p:spPr>
        <p:txBody>
          <a:bodyPr wrap="square" rtlCol="0" anchor="ctr"/>
          <a:lstStyle/>
          <a:p>
            <a:pPr marL="0" indent="0" algn="l">
              <a:buNone/>
            </a:pPr>
            <a:r>
              <a:rPr lang="en-US" sz="1300" dirty="0">
                <a:solidFill>
                  <a:srgbClr val="666666"/>
                </a:solidFill>
                <a:latin typeface="Arial" pitchFamily="34" charset="0"/>
                <a:ea typeface="Arial" pitchFamily="34" charset="-122"/>
                <a:cs typeface="Arial" pitchFamily="34" charset="-120"/>
              </a:rPr>
              <a:t>Planned prototype features – not yet implemented</a:t>
            </a:r>
            <a:endParaRPr lang="en-US" sz="1300" dirty="0"/>
          </a:p>
        </p:txBody>
      </p:sp>
      <p:sp>
        <p:nvSpPr>
          <p:cNvPr id="4" name="Text 2"/>
          <p:cNvSpPr/>
          <p:nvPr/>
        </p:nvSpPr>
        <p:spPr>
          <a:xfrm>
            <a:off x="548640" y="1554480"/>
            <a:ext cx="356616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Filters &amp; Sorting</a:t>
            </a:r>
            <a:endParaRPr lang="en-US" sz="1400" dirty="0"/>
          </a:p>
        </p:txBody>
      </p:sp>
      <p:sp>
        <p:nvSpPr>
          <p:cNvPr id="5" name="Text 3"/>
          <p:cNvSpPr/>
          <p:nvPr/>
        </p:nvSpPr>
        <p:spPr>
          <a:xfrm>
            <a:off x="548640" y="1965960"/>
            <a:ext cx="3566160" cy="4023360"/>
          </a:xfrm>
          <a:prstGeom prst="rect">
            <a:avLst/>
          </a:prstGeom>
          <a:noFill/>
          <a:ln/>
        </p:spPr>
        <p:txBody>
          <a:bodyPr wrap="square" rtlCol="0" anchor="t"/>
          <a:lstStyle/>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Global date range filter across all dashboards</a:t>
            </a:r>
            <a:endParaRPr lang="en-US" sz="1150" dirty="0"/>
          </a:p>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Department, ward, and severity filters scoped to relevant dashboards</a:t>
            </a:r>
            <a:endParaRPr lang="en-US" sz="1150" dirty="0"/>
          </a:p>
          <a:p>
            <a:pPr marL="342900" indent="-342900">
              <a:spcAft>
                <a:spcPts val="1000"/>
              </a:spcAft>
              <a:buSzPct val="100000"/>
              <a:buChar char="•"/>
            </a:pPr>
            <a:r>
              <a:rPr lang="en-US" sz="1200" dirty="0">
                <a:latin typeface="Arial" panose="020B0604020202020204" pitchFamily="34" charset="0"/>
                <a:cs typeface="Arial" panose="020B0604020202020204" pitchFamily="34" charset="0"/>
              </a:rPr>
              <a:t>Payment Status filters for Hospital Overview and Occupancy/Ward filters for Resource Utilization</a:t>
            </a:r>
            <a:r>
              <a:rPr lang="en-US" sz="1200" dirty="0" smtClean="0">
                <a:latin typeface="Arial" panose="020B0604020202020204" pitchFamily="34" charset="0"/>
                <a:cs typeface="Arial" panose="020B0604020202020204" pitchFamily="34" charset="0"/>
              </a:rPr>
              <a:t>.</a:t>
            </a:r>
          </a:p>
          <a:p>
            <a:pPr marL="342900" indent="-342900">
              <a:spcAft>
                <a:spcPts val="1000"/>
              </a:spcAft>
              <a:buSzPct val="100000"/>
              <a:buChar char="•"/>
            </a:pPr>
            <a:r>
              <a:rPr lang="en-US" sz="1150" dirty="0" smtClean="0">
                <a:solidFill>
                  <a:srgbClr val="333333"/>
                </a:solidFill>
                <a:latin typeface="Arial" pitchFamily="34" charset="0"/>
                <a:ea typeface="Arial" pitchFamily="34" charset="-122"/>
                <a:cs typeface="Arial" pitchFamily="34" charset="-120"/>
              </a:rPr>
              <a:t>Sortable </a:t>
            </a:r>
            <a:r>
              <a:rPr lang="en-US" sz="1150" dirty="0">
                <a:solidFill>
                  <a:srgbClr val="333333"/>
                </a:solidFill>
                <a:latin typeface="Arial" pitchFamily="34" charset="0"/>
                <a:ea typeface="Arial" pitchFamily="34" charset="-122"/>
                <a:cs typeface="Arial" pitchFamily="34" charset="-120"/>
              </a:rPr>
              <a:t>tables (department/ward summary) by column value</a:t>
            </a:r>
            <a:endParaRPr lang="en-US" sz="1150" dirty="0"/>
          </a:p>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Ranked bar charts sorted by metric value</a:t>
            </a:r>
            <a:endParaRPr lang="en-US" sz="1150" dirty="0"/>
          </a:p>
        </p:txBody>
      </p:sp>
      <p:sp>
        <p:nvSpPr>
          <p:cNvPr id="6" name="Text 4"/>
          <p:cNvSpPr/>
          <p:nvPr/>
        </p:nvSpPr>
        <p:spPr>
          <a:xfrm>
            <a:off x="4343400" y="1554480"/>
            <a:ext cx="356616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Interactive Charts</a:t>
            </a:r>
            <a:endParaRPr lang="en-US" sz="1400" dirty="0"/>
          </a:p>
        </p:txBody>
      </p:sp>
      <p:sp>
        <p:nvSpPr>
          <p:cNvPr id="7" name="Text 5"/>
          <p:cNvSpPr/>
          <p:nvPr/>
        </p:nvSpPr>
        <p:spPr>
          <a:xfrm>
            <a:off x="4343400" y="1965960"/>
            <a:ext cx="3566160" cy="1828800"/>
          </a:xfrm>
          <a:prstGeom prst="rect">
            <a:avLst/>
          </a:prstGeom>
          <a:noFill/>
          <a:ln/>
        </p:spPr>
        <p:txBody>
          <a:bodyPr wrap="square" rtlCol="0" anchor="t"/>
          <a:lstStyle/>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Click-to-filter interactions between summary and detail views</a:t>
            </a:r>
            <a:endParaRPr lang="en-US" sz="1150" dirty="0"/>
          </a:p>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Tooltips on hover showing underlying metric values</a:t>
            </a:r>
            <a:endParaRPr lang="en-US" sz="1150" dirty="0"/>
          </a:p>
        </p:txBody>
      </p:sp>
      <p:sp>
        <p:nvSpPr>
          <p:cNvPr id="8" name="Text 6"/>
          <p:cNvSpPr/>
          <p:nvPr/>
        </p:nvSpPr>
        <p:spPr>
          <a:xfrm>
            <a:off x="4343400" y="3749040"/>
            <a:ext cx="356616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Navigation</a:t>
            </a:r>
            <a:endParaRPr lang="en-US" sz="1400" dirty="0"/>
          </a:p>
        </p:txBody>
      </p:sp>
      <p:sp>
        <p:nvSpPr>
          <p:cNvPr id="9" name="Text 7"/>
          <p:cNvSpPr/>
          <p:nvPr/>
        </p:nvSpPr>
        <p:spPr>
          <a:xfrm>
            <a:off x="4343400" y="4160520"/>
            <a:ext cx="3566160" cy="1828800"/>
          </a:xfrm>
          <a:prstGeom prst="rect">
            <a:avLst/>
          </a:prstGeom>
          <a:noFill/>
          <a:ln/>
        </p:spPr>
        <p:txBody>
          <a:bodyPr wrap="square" rtlCol="0" anchor="t"/>
          <a:lstStyle/>
          <a:p>
            <a:pPr marL="342900" indent="-342900" algn="l">
              <a:spcAft>
                <a:spcPts val="1000"/>
              </a:spcAft>
              <a:buSzPct val="100000"/>
              <a:buChar char="•"/>
            </a:pPr>
            <a:r>
              <a:rPr lang="en-US" sz="1150" dirty="0">
                <a:solidFill>
                  <a:srgbClr val="333333"/>
                </a:solidFill>
                <a:latin typeface="Arial" pitchFamily="34" charset="0"/>
                <a:ea typeface="Arial" pitchFamily="34" charset="-122"/>
                <a:cs typeface="Arial" pitchFamily="34" charset="-120"/>
              </a:rPr>
              <a:t>Navigation buttons planned between the four dashboards</a:t>
            </a:r>
            <a:endParaRPr lang="en-US" sz="1150" dirty="0"/>
          </a:p>
          <a:p>
            <a:pPr marL="342900" indent="-342900">
              <a:spcAft>
                <a:spcPts val="1000"/>
              </a:spcAft>
              <a:buSzPct val="100000"/>
              <a:buChar char="•"/>
            </a:pPr>
            <a:r>
              <a:rPr lang="en-US" sz="1200" dirty="0">
                <a:latin typeface="Arial" panose="020B0604020202020204" pitchFamily="34" charset="0"/>
                <a:cs typeface="Arial" panose="020B0604020202020204" pitchFamily="34" charset="0"/>
              </a:rPr>
              <a:t>Planned drill-down from Hospital Overview to Department Analytics for department-level analysis.</a:t>
            </a:r>
            <a:endParaRPr lang="en-US" sz="1150" dirty="0">
              <a:latin typeface="Arial" panose="020B0604020202020204" pitchFamily="34" charset="0"/>
              <a:cs typeface="Arial" panose="020B0604020202020204" pitchFamily="34" charset="0"/>
            </a:endParaRPr>
          </a:p>
        </p:txBody>
      </p:sp>
      <p:sp>
        <p:nvSpPr>
          <p:cNvPr id="10" name="Text 8"/>
          <p:cNvSpPr/>
          <p:nvPr/>
        </p:nvSpPr>
        <p:spPr>
          <a:xfrm>
            <a:off x="8686800" y="1554480"/>
            <a:ext cx="2926080" cy="320040"/>
          </a:xfrm>
          <a:prstGeom prst="rect">
            <a:avLst/>
          </a:prstGeom>
          <a:noFill/>
          <a:ln/>
        </p:spPr>
        <p:txBody>
          <a:bodyPr wrap="square" rtlCol="0" anchor="ctr"/>
          <a:lstStyle/>
          <a:p>
            <a:pPr marL="0" indent="0">
              <a:buNone/>
            </a:pPr>
            <a:r>
              <a:rPr lang="en-US" sz="1400" b="1" dirty="0">
                <a:solidFill>
                  <a:srgbClr val="1B4965"/>
                </a:solidFill>
                <a:latin typeface="Arial" pitchFamily="34" charset="0"/>
                <a:ea typeface="Arial" pitchFamily="34" charset="-122"/>
                <a:cs typeface="Arial" pitchFamily="34" charset="-120"/>
              </a:rPr>
              <a:t>Design Intent</a:t>
            </a:r>
            <a:endParaRPr lang="en-US" sz="1400" dirty="0"/>
          </a:p>
        </p:txBody>
      </p:sp>
      <p:sp>
        <p:nvSpPr>
          <p:cNvPr id="11" name="Text 9"/>
          <p:cNvSpPr/>
          <p:nvPr/>
        </p:nvSpPr>
        <p:spPr>
          <a:xfrm>
            <a:off x="8686800" y="1965960"/>
            <a:ext cx="2926080" cy="2743200"/>
          </a:xfrm>
          <a:prstGeom prst="rect">
            <a:avLst/>
          </a:prstGeom>
          <a:noFill/>
          <a:ln/>
        </p:spPr>
        <p:txBody>
          <a:bodyPr wrap="square" rtlCol="0" anchor="t"/>
          <a:lstStyle/>
          <a:p>
            <a:pPr marL="0" indent="0">
              <a:buNone/>
            </a:pPr>
            <a:r>
              <a:rPr lang="en-US" sz="1150" dirty="0">
                <a:solidFill>
                  <a:srgbClr val="333333"/>
                </a:solidFill>
                <a:latin typeface="Arial" pitchFamily="34" charset="0"/>
                <a:ea typeface="Arial" pitchFamily="34" charset="-122"/>
                <a:cs typeface="Arial" pitchFamily="34" charset="-120"/>
              </a:rPr>
              <a:t>All interactivity is planned with non-technical hospital staff in mind – clear labels, minimal clicks, and consistent filter placement across dashboards.</a:t>
            </a:r>
            <a:endParaRPr lang="en-US" sz="1150" dirty="0"/>
          </a:p>
        </p:txBody>
      </p:sp>
      <p:sp>
        <p:nvSpPr>
          <p:cNvPr id="12" name="Text 10"/>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13" name="Text 11"/>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Design Considerations</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846320"/>
        </p:xfrm>
        <a:graphic>
          <a:graphicData uri="http://schemas.openxmlformats.org/drawingml/2006/table">
            <a:tbl>
              <a:tblPr/>
              <a:tblGrid>
                <a:gridCol w="3291840"/>
                <a:gridCol w="7799832"/>
              </a:tblGrid>
              <a:tr h="807720">
                <a:tc>
                  <a:txBody>
                    <a:bodyPr/>
                    <a:lstStyle/>
                    <a:p>
                      <a:pPr marL="0" indent="0">
                        <a:buNone/>
                      </a:pPr>
                      <a:r>
                        <a:rPr lang="en-US" sz="1200" b="1" dirty="0">
                          <a:solidFill>
                            <a:srgbClr val="333333"/>
                          </a:solidFill>
                        </a:rPr>
                        <a:t>Consistency</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Same color palette, fonts, and KPI card style used across all four dashboards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Simple Layout</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Clear top-to-bottom reading order: KPI cards first, then supporting charts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Healthcare-Friendly Visualization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Calm blue/white palette; bright colors reserved for flagging severity</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Ease of Navigation</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Consistent filter placement and navigation buttons across dashboards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Readable Charts</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Clear titles, labeled axes, limited categories per chart to avoid clutter</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807720">
                <a:tc>
                  <a:txBody>
                    <a:bodyPr/>
                    <a:lstStyle/>
                    <a:p>
                      <a:pPr marL="0" indent="0">
                        <a:buNone/>
                      </a:pPr>
                      <a:r>
                        <a:rPr lang="en-US" sz="1200" b="1" dirty="0">
                          <a:solidFill>
                            <a:srgbClr val="333333"/>
                          </a:solidFill>
                        </a:rPr>
                        <a:t>Professional Structure</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marL="0" indent="0">
                        <a:buNone/>
                      </a:pPr>
                      <a:r>
                        <a:rPr lang="en-US" sz="1200" dirty="0">
                          <a:solidFill>
                            <a:srgbClr val="333333"/>
                          </a:solidFill>
                        </a:rPr>
                        <a:t>Each dashboard follows the same template: title, KPI row, chart grid, filter panel</a:t>
                      </a:r>
                      <a:endParaRPr lang="en-US" sz="1200" dirty="0"/>
                    </a:p>
                  </a:txBody>
                  <a:tcPr marL="76200" marR="76200" marT="76200" marB="7620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4" name="Text 1"/>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5" name="Text 2"/>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Future Enhancements</a:t>
            </a:r>
            <a:endParaRPr lang="en-US" sz="2400" dirty="0"/>
          </a:p>
        </p:txBody>
      </p:sp>
      <p:sp>
        <p:nvSpPr>
          <p:cNvPr id="3" name="Text 1"/>
          <p:cNvSpPr/>
          <p:nvPr/>
        </p:nvSpPr>
        <p:spPr>
          <a:xfrm>
            <a:off x="548640" y="868680"/>
            <a:ext cx="11091672" cy="320040"/>
          </a:xfrm>
          <a:prstGeom prst="rect">
            <a:avLst/>
          </a:prstGeom>
          <a:noFill/>
          <a:ln/>
        </p:spPr>
        <p:txBody>
          <a:bodyPr wrap="square" rtlCol="0" anchor="ctr"/>
          <a:lstStyle/>
          <a:p>
            <a:pPr marL="0" indent="0" algn="l">
              <a:buNone/>
            </a:pPr>
            <a:r>
              <a:rPr lang="en-US" sz="1300" dirty="0">
                <a:solidFill>
                  <a:srgbClr val="666666"/>
                </a:solidFill>
                <a:latin typeface="Arial" pitchFamily="34" charset="0"/>
                <a:ea typeface="Arial" pitchFamily="34" charset="-122"/>
                <a:cs typeface="Arial" pitchFamily="34" charset="-120"/>
              </a:rPr>
              <a:t>Beyond the scope of the current planning module</a:t>
            </a:r>
            <a:endParaRPr lang="en-US" sz="1300" dirty="0"/>
          </a:p>
        </p:txBody>
      </p:sp>
      <p:sp>
        <p:nvSpPr>
          <p:cNvPr id="4" name="Text 2"/>
          <p:cNvSpPr/>
          <p:nvPr/>
        </p:nvSpPr>
        <p:spPr>
          <a:xfrm>
            <a:off x="548640" y="1554480"/>
            <a:ext cx="11091672" cy="4572000"/>
          </a:xfrm>
          <a:prstGeom prst="rect">
            <a:avLst/>
          </a:prstGeom>
          <a:noFill/>
          <a:ln/>
        </p:spPr>
        <p:txBody>
          <a:bodyPr wrap="square" rtlCol="0" anchor="t"/>
          <a:lstStyle/>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Advanced KPIs – derived metrics such as cost per patient or department efficiency scores</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Predictive Analytics – forecasting future admissions or occupancy using historical trends</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Real-Time Monitoring – live data refresh for occupancy and admissions</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Role-Based Dashboards – tailored views for administrators, department heads, and management</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Drill-Down Analysis – deeper drill-down paths from hospital-level to patient-level detail</a:t>
            </a:r>
            <a:endParaRPr lang="en-US" sz="1350" dirty="0"/>
          </a:p>
          <a:p>
            <a:pPr marL="342900" indent="-342900" algn="l">
              <a:spcAft>
                <a:spcPts val="1200"/>
              </a:spcAft>
              <a:buSzPct val="100000"/>
              <a:buChar char="•"/>
            </a:pPr>
            <a:r>
              <a:rPr lang="en-US" sz="1350" dirty="0">
                <a:solidFill>
                  <a:srgbClr val="333333"/>
                </a:solidFill>
                <a:latin typeface="Arial" pitchFamily="34" charset="0"/>
                <a:ea typeface="Arial" pitchFamily="34" charset="-122"/>
                <a:cs typeface="Arial" pitchFamily="34" charset="-120"/>
              </a:rPr>
              <a:t>Alerts – automated notifications when metrics cross planned thresholds</a:t>
            </a:r>
            <a:endParaRPr lang="en-US" sz="1350" dirty="0"/>
          </a:p>
          <a:p>
            <a:pPr marL="342900" indent="-342900">
              <a:spcAft>
                <a:spcPts val="1200"/>
              </a:spcAft>
              <a:buSzPct val="100000"/>
              <a:buChar char="•"/>
            </a:pPr>
            <a:r>
              <a:rPr lang="en-US" sz="1400" dirty="0">
                <a:latin typeface="Arial" panose="020B0604020202020204" pitchFamily="34" charset="0"/>
                <a:cs typeface="Arial" panose="020B0604020202020204" pitchFamily="34" charset="0"/>
              </a:rPr>
              <a:t>Mobile Dashboard Support – responsive layouts for tablets and mobile devices.</a:t>
            </a:r>
            <a:endParaRPr lang="en-US" sz="1350" dirty="0">
              <a:latin typeface="Arial" panose="020B0604020202020204" pitchFamily="34" charset="0"/>
              <a:cs typeface="Arial" panose="020B0604020202020204" pitchFamily="34" charset="0"/>
            </a:endParaRPr>
          </a:p>
        </p:txBody>
      </p:sp>
      <p:sp>
        <p:nvSpPr>
          <p:cNvPr id="5" name="Text 3"/>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6" name="Text 4"/>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11091672" cy="548640"/>
          </a:xfrm>
          <a:prstGeom prst="rect">
            <a:avLst/>
          </a:prstGeom>
          <a:noFill/>
          <a:ln/>
        </p:spPr>
        <p:txBody>
          <a:bodyPr wrap="square" rtlCol="0" anchor="ctr"/>
          <a:lstStyle/>
          <a:p>
            <a:pPr marL="0" indent="0" algn="l">
              <a:buNone/>
            </a:pPr>
            <a:r>
              <a:rPr lang="en-US" sz="2400" b="1" dirty="0">
                <a:solidFill>
                  <a:srgbClr val="1B4965"/>
                </a:solidFill>
                <a:latin typeface="Arial" pitchFamily="34" charset="0"/>
                <a:ea typeface="Arial" pitchFamily="34" charset="-122"/>
                <a:cs typeface="Arial" pitchFamily="34" charset="-120"/>
              </a:rPr>
              <a:t>Conclusion</a:t>
            </a:r>
            <a:endParaRPr lang="en-US" sz="2400" dirty="0"/>
          </a:p>
        </p:txBody>
      </p:sp>
      <p:sp>
        <p:nvSpPr>
          <p:cNvPr id="3" name="Text 1"/>
          <p:cNvSpPr/>
          <p:nvPr/>
        </p:nvSpPr>
        <p:spPr>
          <a:xfrm>
            <a:off x="548640" y="2011680"/>
            <a:ext cx="11091672" cy="3200400"/>
          </a:xfrm>
          <a:prstGeom prst="rect">
            <a:avLst/>
          </a:prstGeom>
          <a:noFill/>
          <a:ln/>
        </p:spPr>
        <p:txBody>
          <a:bodyPr wrap="square" rtlCol="0" anchor="t"/>
          <a:lstStyle/>
          <a:p>
            <a:pPr>
              <a:lnSpc>
                <a:spcPct val="130000"/>
              </a:lnSpc>
            </a:pPr>
            <a:r>
              <a:rPr lang="en-US" sz="1500" dirty="0">
                <a:solidFill>
                  <a:srgbClr val="333333"/>
                </a:solidFill>
                <a:latin typeface="Arial" pitchFamily="34" charset="0"/>
                <a:ea typeface="Arial" pitchFamily="34" charset="-122"/>
                <a:cs typeface="Arial" pitchFamily="34" charset="-120"/>
              </a:rPr>
              <a:t>This storyboard documents the planning and prototype design for the four MedTrack_DV dashboards – Hospital Overview, Patient Flow, Department Analytics, and Resource Utilization</a:t>
            </a:r>
            <a:r>
              <a:rPr lang="en-US" sz="1500" dirty="0">
                <a:solidFill>
                  <a:srgbClr val="333333"/>
                </a:solidFill>
                <a:latin typeface="Arial" panose="020B0604020202020204" pitchFamily="34" charset="0"/>
                <a:ea typeface="Arial" pitchFamily="34" charset="-122"/>
                <a:cs typeface="Arial" panose="020B0604020202020204" pitchFamily="34" charset="0"/>
              </a:rPr>
              <a:t>. It </a:t>
            </a:r>
            <a:r>
              <a:rPr lang="en-US" sz="1500" dirty="0" smtClean="0">
                <a:solidFill>
                  <a:srgbClr val="333333"/>
                </a:solidFill>
                <a:latin typeface="Arial" pitchFamily="34" charset="0"/>
                <a:ea typeface="Arial" pitchFamily="34" charset="-122"/>
                <a:cs typeface="Arial" panose="020B0604020202020204" pitchFamily="34" charset="0"/>
              </a:rPr>
              <a:t>C</a:t>
            </a:r>
            <a:r>
              <a:rPr lang="en-US" sz="1600" dirty="0" smtClean="0">
                <a:latin typeface="Arial" panose="020B0604020202020204" pitchFamily="34" charset="0"/>
                <a:cs typeface="Arial" panose="020B0604020202020204" pitchFamily="34" charset="0"/>
              </a:rPr>
              <a:t>aptures </a:t>
            </a:r>
            <a:r>
              <a:rPr lang="en-US" sz="1600" dirty="0">
                <a:latin typeface="Arial" panose="020B0604020202020204" pitchFamily="34" charset="0"/>
                <a:cs typeface="Arial" panose="020B0604020202020204" pitchFamily="34" charset="0"/>
              </a:rPr>
              <a:t>the intended dashboard layout, KPIs, visualizations, filters, and navigation </a:t>
            </a:r>
            <a:r>
              <a:rPr lang="en-US" sz="1600" dirty="0" smtClean="0">
                <a:latin typeface="Arial" panose="020B0604020202020204" pitchFamily="34" charset="0"/>
                <a:cs typeface="Arial" panose="020B0604020202020204" pitchFamily="34" charset="0"/>
              </a:rPr>
              <a:t>flow </a:t>
            </a:r>
            <a:r>
              <a:rPr lang="en-US" sz="1500" dirty="0" smtClean="0">
                <a:solidFill>
                  <a:srgbClr val="333333"/>
                </a:solidFill>
                <a:latin typeface="Arial" pitchFamily="34" charset="0"/>
                <a:ea typeface="Arial" pitchFamily="34" charset="-122"/>
                <a:cs typeface="Arial" pitchFamily="34" charset="-120"/>
              </a:rPr>
              <a:t>for </a:t>
            </a:r>
            <a:r>
              <a:rPr lang="en-US" sz="1500" dirty="0">
                <a:solidFill>
                  <a:srgbClr val="333333"/>
                </a:solidFill>
                <a:latin typeface="Arial" pitchFamily="34" charset="0"/>
                <a:ea typeface="Arial" pitchFamily="34" charset="-122"/>
                <a:cs typeface="Arial" pitchFamily="34" charset="-120"/>
              </a:rPr>
              <a:t>each dashboard, along with placeholders for screenshots once the dashboards are built.</a:t>
            </a:r>
            <a:endParaRPr lang="en-US" sz="1500" dirty="0"/>
          </a:p>
          <a:p>
            <a:pPr marL="0" indent="0">
              <a:lnSpc>
                <a:spcPct val="130000"/>
              </a:lnSpc>
              <a:buNone/>
            </a:pPr>
            <a:endParaRPr lang="en-US" sz="1500" dirty="0"/>
          </a:p>
          <a:p>
            <a:pPr marL="0" indent="0">
              <a:lnSpc>
                <a:spcPct val="130000"/>
              </a:lnSpc>
              <a:buNone/>
            </a:pPr>
            <a:r>
              <a:rPr lang="en-US" sz="1500" dirty="0">
                <a:solidFill>
                  <a:srgbClr val="333333"/>
                </a:solidFill>
                <a:latin typeface="Arial" pitchFamily="34" charset="0"/>
                <a:ea typeface="Arial" pitchFamily="34" charset="-122"/>
                <a:cs typeface="Arial" pitchFamily="34" charset="-120"/>
              </a:rPr>
              <a:t>This document forms the foundation for the full Tableau implementation to be carried out in the subsequent modules of the Infosys Springboard Data Visualization Virtual Internship.</a:t>
            </a:r>
            <a:endParaRPr lang="en-US" sz="1500" dirty="0"/>
          </a:p>
        </p:txBody>
      </p:sp>
      <p:sp>
        <p:nvSpPr>
          <p:cNvPr id="4" name="Text 2"/>
          <p:cNvSpPr/>
          <p:nvPr/>
        </p:nvSpPr>
        <p:spPr>
          <a:xfrm>
            <a:off x="548640" y="6473952"/>
            <a:ext cx="5486400" cy="274320"/>
          </a:xfrm>
          <a:prstGeom prst="rect">
            <a:avLst/>
          </a:prstGeom>
          <a:noFill/>
          <a:ln/>
        </p:spPr>
        <p:txBody>
          <a:bodyPr wrap="square" rtlCol="0" anchor="ctr"/>
          <a:lstStyle/>
          <a:p>
            <a:pPr marL="0" indent="0">
              <a:buNone/>
            </a:pPr>
            <a:r>
              <a:rPr lang="en-US" sz="900" dirty="0">
                <a:solidFill>
                  <a:srgbClr val="666666"/>
                </a:solidFill>
                <a:latin typeface="Arial" pitchFamily="34" charset="0"/>
                <a:ea typeface="Arial" pitchFamily="34" charset="-122"/>
                <a:cs typeface="Arial" pitchFamily="34" charset="-120"/>
              </a:rPr>
              <a:t>MedTrack_DV – Dashboard Storyboard</a:t>
            </a:r>
            <a:endParaRPr lang="en-US" sz="900" dirty="0"/>
          </a:p>
        </p:txBody>
      </p:sp>
      <p:sp>
        <p:nvSpPr>
          <p:cNvPr id="5" name="Text 3"/>
          <p:cNvSpPr/>
          <p:nvPr/>
        </p:nvSpPr>
        <p:spPr>
          <a:xfrm>
            <a:off x="10725912" y="6473952"/>
            <a:ext cx="914400" cy="274320"/>
          </a:xfrm>
          <a:prstGeom prst="rect">
            <a:avLst/>
          </a:prstGeom>
          <a:noFill/>
          <a:ln/>
        </p:spPr>
        <p:txBody>
          <a:bodyPr wrap="square" rtlCol="0" anchor="ctr"/>
          <a:lstStyle/>
          <a:p>
            <a:pPr marL="0" indent="0" algn="r">
              <a:buNone/>
            </a:pPr>
            <a:r>
              <a:rPr lang="en-US" sz="900" dirty="0">
                <a:solidFill>
                  <a:srgbClr val="666666"/>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79</TotalTime>
  <Words>1184</Words>
  <Application>Microsoft Office PowerPoint</Application>
  <PresentationFormat>Widescreen</PresentationFormat>
  <Paragraphs>188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Dashboard Storyboard - MedTrack_DV</dc:title>
  <dc:subject>PptxGenJS Presentation</dc:subject>
  <dc:creator>Madhan Raj G</dc:creator>
  <cp:lastModifiedBy>Microsoft account</cp:lastModifiedBy>
  <cp:revision>11</cp:revision>
  <dcterms:created xsi:type="dcterms:W3CDTF">2026-07-20T07:35:18Z</dcterms:created>
  <dcterms:modified xsi:type="dcterms:W3CDTF">2026-07-23T13:00:03Z</dcterms:modified>
</cp:coreProperties>
</file>