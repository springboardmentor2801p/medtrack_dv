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418" y="3085765"/>
            <a:ext cx="11259933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040" y="1020431"/>
            <a:ext cx="10990686" cy="1475013"/>
          </a:xfrm>
          <a:effectLst/>
        </p:spPr>
        <p:txBody>
          <a:bodyPr anchor="b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043" y="2495446"/>
            <a:ext cx="10990683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3970" y="5956138"/>
            <a:ext cx="284405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040" y="5951812"/>
            <a:ext cx="691540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5551" y="5956138"/>
            <a:ext cx="101617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6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171" y="614407"/>
            <a:ext cx="11306393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041" y="2180497"/>
            <a:ext cx="11026743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5550" y="5956138"/>
            <a:ext cx="105223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5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700" y="5141975"/>
            <a:ext cx="1128792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2" y="3043911"/>
            <a:ext cx="11026743" cy="1497507"/>
          </a:xfrm>
        </p:spPr>
        <p:txBody>
          <a:bodyPr anchor="b">
            <a:normAutofit/>
          </a:bodyPr>
          <a:lstStyle>
            <a:lvl1pPr algn="l">
              <a:defRPr sz="3599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041" y="4541417"/>
            <a:ext cx="11026743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799" cap="all">
                <a:solidFill>
                  <a:schemeClr val="accent2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4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866" y="606555"/>
            <a:ext cx="1129709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729658"/>
            <a:ext cx="11026744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042" y="2228004"/>
            <a:ext cx="5420978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6805" y="2228004"/>
            <a:ext cx="542098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6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866" y="606555"/>
            <a:ext cx="1129709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041" y="729658"/>
            <a:ext cx="11026744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6989" y="2250893"/>
            <a:ext cx="5085750" cy="536005"/>
          </a:xfrm>
        </p:spPr>
        <p:txBody>
          <a:bodyPr anchor="b">
            <a:noAutofit/>
          </a:bodyPr>
          <a:lstStyle>
            <a:lvl1pPr marL="0" indent="0">
              <a:buNone/>
              <a:defRPr sz="2199" b="0">
                <a:solidFill>
                  <a:schemeClr val="accent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042" y="2926053"/>
            <a:ext cx="539169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2037" y="2250893"/>
            <a:ext cx="5085748" cy="553373"/>
          </a:xfrm>
        </p:spPr>
        <p:txBody>
          <a:bodyPr anchor="b">
            <a:noAutofit/>
          </a:bodyPr>
          <a:lstStyle>
            <a:lvl1pPr marL="0" indent="0">
              <a:buNone/>
              <a:defRPr sz="2199" b="0">
                <a:solidFill>
                  <a:schemeClr val="accent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090" y="2926053"/>
            <a:ext cx="539169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5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568" y="606555"/>
            <a:ext cx="1129709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744" y="729658"/>
            <a:ext cx="11026744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5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2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700" y="5141973"/>
            <a:ext cx="11295258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5262296"/>
            <a:ext cx="4908166" cy="689514"/>
          </a:xfrm>
        </p:spPr>
        <p:txBody>
          <a:bodyPr anchor="ctr"/>
          <a:lstStyle>
            <a:lvl1pPr algn="l">
              <a:defRPr sz="1999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699" y="601200"/>
            <a:ext cx="11289899" cy="4204800"/>
          </a:xfrm>
        </p:spPr>
        <p:txBody>
          <a:bodyPr anchor="ctr">
            <a:normAutofit/>
          </a:bodyPr>
          <a:lstStyle>
            <a:lvl1pPr>
              <a:defRPr sz="1999">
                <a:solidFill>
                  <a:schemeClr val="tx2"/>
                </a:solidFill>
              </a:defRPr>
            </a:lvl1pPr>
            <a:lvl2pPr>
              <a:defRPr sz="1799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39329" y="5262297"/>
            <a:ext cx="586845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063" indent="0">
              <a:buNone/>
              <a:defRPr sz="11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76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41" y="4693389"/>
            <a:ext cx="11026744" cy="566738"/>
          </a:xfrm>
        </p:spPr>
        <p:txBody>
          <a:bodyPr anchor="b">
            <a:normAutofit/>
          </a:bodyPr>
          <a:lstStyle>
            <a:lvl1pPr algn="l">
              <a:defRPr sz="2399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701" y="599725"/>
            <a:ext cx="1128791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041" y="5260128"/>
            <a:ext cx="11026745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171" y="614407"/>
            <a:ext cx="11306393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041" y="702156"/>
            <a:ext cx="11026744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7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6900" y="599725"/>
            <a:ext cx="2906060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9" y="675727"/>
            <a:ext cx="2003642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722" y="675727"/>
            <a:ext cx="7894223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1331" y="5956138"/>
            <a:ext cx="13277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722" y="5951812"/>
            <a:ext cx="78942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3895" y="5956138"/>
            <a:ext cx="116389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041" y="705124"/>
            <a:ext cx="11026744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041" y="2336003"/>
            <a:ext cx="11026744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3971" y="5956138"/>
            <a:ext cx="28440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040" y="5951812"/>
            <a:ext cx="69154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5550" y="5956138"/>
            <a:ext cx="1052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418" y="457200"/>
            <a:ext cx="3702356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0052" y="453643"/>
            <a:ext cx="3702356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0725" y="457200"/>
            <a:ext cx="3702356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2072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457063" rtl="0" eaLnBrk="1" latinLnBrk="0" hangingPunct="1">
        <a:spcBef>
          <a:spcPct val="0"/>
        </a:spcBef>
        <a:buNone/>
        <a:defRPr sz="2799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08" indent="-305908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799" kern="1200">
          <a:solidFill>
            <a:schemeClr val="tx2"/>
          </a:solidFill>
          <a:latin typeface="+mn-lt"/>
          <a:ea typeface="+mn-ea"/>
          <a:cs typeface="+mn-cs"/>
        </a:defRPr>
      </a:lvl1pPr>
      <a:lvl2pPr marL="629811" indent="-305908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30" indent="-269919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627" indent="-233930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519" indent="-233930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43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34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25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160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Module 4: Dashboard Planning &amp; Prototyping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5408612" cy="2142125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dirty="0">
                <a:solidFill>
                  <a:srgbClr val="12243F"/>
                </a:solidFill>
                <a:latin typeface="Calibri"/>
              </a:rPr>
              <a:t>Module 4: Dashboard Planning &amp; Prototyping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307985"/>
            <a:ext cx="7772400" cy="7315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dirty="0">
                <a:solidFill>
                  <a:srgbClr val="129690"/>
                </a:solidFill>
                <a:latin typeface="Calibri"/>
              </a:rPr>
              <a:t>Hospital Analytics Dashboard Storyboard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868680"/>
            <a:ext cx="1188720" cy="164592"/>
          </a:xfrm>
          <a:prstGeom prst="roundRect">
            <a:avLst/>
          </a:prstGeom>
          <a:solidFill>
            <a:srgbClr val="129690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7940" y="1234441"/>
            <a:ext cx="2286000" cy="3657600"/>
          </a:xfrm>
          <a:prstGeom prst="roundRect">
            <a:avLst>
              <a:gd name="adj" fmla="val 28280"/>
            </a:avLst>
          </a:prstGeom>
          <a:solidFill>
            <a:srgbClr val="D6EBFC"/>
          </a:solidFill>
          <a:ln w="1905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6537960" y="1463040"/>
            <a:ext cx="457200" cy="457200"/>
          </a:xfrm>
          <a:prstGeom prst="ellipse">
            <a:avLst/>
          </a:prstGeom>
          <a:solidFill>
            <a:srgbClr val="1C69D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49440" y="2103120"/>
            <a:ext cx="457200" cy="457200"/>
          </a:xfrm>
          <a:prstGeom prst="ellipse">
            <a:avLst/>
          </a:prstGeom>
          <a:solidFill>
            <a:srgbClr val="1296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60920" y="2743200"/>
            <a:ext cx="457200" cy="457200"/>
          </a:xfrm>
          <a:prstGeom prst="ellipse">
            <a:avLst/>
          </a:prstGeom>
          <a:solidFill>
            <a:srgbClr val="F299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0" y="3383279"/>
            <a:ext cx="457200" cy="457200"/>
          </a:xfrm>
          <a:prstGeom prst="ellipse">
            <a:avLst/>
          </a:prstGeom>
          <a:solidFill>
            <a:srgbClr val="27AE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1554480"/>
            <a:ext cx="1600200" cy="4114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2243F"/>
                </a:solidFill>
                <a:latin typeface="Calibri"/>
              </a:rPr>
              <a:t>Patient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194560"/>
            <a:ext cx="1600200" cy="4114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2243F"/>
                </a:solidFill>
                <a:latin typeface="Calibri"/>
              </a:rPr>
              <a:t>KPI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834639"/>
            <a:ext cx="1600200" cy="4114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2243F"/>
                </a:solidFill>
                <a:latin typeface="Calibri"/>
              </a:rPr>
              <a:t>Resource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474720"/>
            <a:ext cx="1600200" cy="4114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2243F"/>
                </a:solidFill>
                <a:latin typeface="Calibri"/>
              </a:rPr>
              <a:t>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686800" cy="43891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4F5966"/>
                </a:solidFill>
                <a:latin typeface="Calibri"/>
              </a:rPr>
              <a:t>Design interactive Tableau dashboards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Monitor hospital KPIs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Track patient flow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Compare departments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Optimize hospital resources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Support data-driven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Dashboard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Dashboard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108960" cy="73152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Hospital Dataset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1627632"/>
            <a:ext cx="960120" cy="137160"/>
          </a:xfrm>
          <a:prstGeom prst="rightArrow">
            <a:avLst/>
          </a:prstGeom>
          <a:solidFill>
            <a:srgbClr val="129690"/>
          </a:solidFill>
          <a:ln w="6350"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3108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Data Cleaning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77639" y="2542032"/>
            <a:ext cx="960120" cy="137160"/>
          </a:xfrm>
          <a:prstGeom prst="rightArrow">
            <a:avLst/>
          </a:prstGeom>
          <a:solidFill>
            <a:srgbClr val="129690"/>
          </a:solidFill>
          <a:ln w="6350"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3108960" cy="73152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KPI Engineering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39" y="3456432"/>
            <a:ext cx="960120" cy="137160"/>
          </a:xfrm>
          <a:prstGeom prst="rightArrow">
            <a:avLst/>
          </a:prstGeom>
          <a:solidFill>
            <a:srgbClr val="129690"/>
          </a:solidFill>
          <a:ln w="6350"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3108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Dashboard Planning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77639" y="4370832"/>
            <a:ext cx="960120" cy="137160"/>
          </a:xfrm>
          <a:prstGeom prst="rightArrow">
            <a:avLst/>
          </a:prstGeom>
          <a:solidFill>
            <a:srgbClr val="129690"/>
          </a:solidFill>
          <a:ln w="6350"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0"/>
            <a:ext cx="3108960" cy="73152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800" b="1" dirty="0">
                <a:solidFill>
                  <a:srgbClr val="12243F"/>
                </a:solidFill>
                <a:latin typeface="Calibri"/>
              </a:rPr>
              <a:t>Tableau Dashboard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7639" y="5285232"/>
            <a:ext cx="960120" cy="137160"/>
          </a:xfrm>
          <a:prstGeom prst="rightArrow">
            <a:avLst/>
          </a:prstGeom>
          <a:solidFill>
            <a:srgbClr val="129690"/>
          </a:solidFill>
          <a:ln w="6350"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5943600"/>
            <a:ext cx="3108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>
              <a:spcAft>
                <a:spcPts val="400"/>
              </a:spcAft>
            </a:pPr>
            <a:r>
              <a:rPr sz="1800" b="1" dirty="0">
                <a:solidFill>
                  <a:srgbClr val="12243F"/>
                </a:solidFill>
                <a:latin typeface="Calibri"/>
              </a:rPr>
              <a:t>Business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Hospital Overview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Hospital Overview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920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88720"/>
            <a:ext cx="173736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C69D4"/>
                </a:solidFill>
                <a:latin typeface="Calibri"/>
              </a:rPr>
              <a:t>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143000"/>
            <a:ext cx="1920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87168" y="1188720"/>
            <a:ext cx="173736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C69D4"/>
                </a:solidFill>
                <a:latin typeface="Calibri"/>
              </a:rPr>
              <a:t>Department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79" y="1143000"/>
            <a:ext cx="1920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188720"/>
            <a:ext cx="173736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C69D4"/>
                </a:solidFill>
                <a:latin typeface="Calibri"/>
              </a:rPr>
              <a:t>Gender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399" y="1143000"/>
            <a:ext cx="1920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93407" y="1188720"/>
            <a:ext cx="173736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C69D4"/>
                </a:solidFill>
                <a:latin typeface="Calibri"/>
              </a:rPr>
              <a:t>Age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920240"/>
            <a:ext cx="1828800" cy="82296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011680"/>
            <a:ext cx="164592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43F"/>
                </a:solidFill>
                <a:latin typeface="Calibri"/>
              </a:rPr>
              <a:t>Total Admissions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331720"/>
            <a:ext cx="164592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1920240"/>
            <a:ext cx="1828800" cy="82296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95728" y="2011680"/>
            <a:ext cx="164592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43F"/>
                </a:solidFill>
                <a:latin typeface="Calibri"/>
              </a:rPr>
              <a:t>Occupancy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2331720"/>
            <a:ext cx="164592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920240"/>
            <a:ext cx="1828800" cy="82296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8" y="2011680"/>
            <a:ext cx="164592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43F"/>
                </a:solidFill>
                <a:latin typeface="Calibri"/>
              </a:rPr>
              <a:t>Average Length of Stay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331720"/>
            <a:ext cx="164592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20240"/>
            <a:ext cx="1828800" cy="82296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2011680"/>
            <a:ext cx="164592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43F"/>
                </a:solidFill>
                <a:latin typeface="Calibri"/>
              </a:rPr>
              <a:t>Readmission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331720"/>
            <a:ext cx="164592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17520"/>
            <a:ext cx="4023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15468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Admissions Trend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52044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017520"/>
            <a:ext cx="4023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15468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Department Admissions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52044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4023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507492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Bed Occupancy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44068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4937760"/>
            <a:ext cx="4023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0" y="507492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Disease Distribution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44068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Patient Flow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Patient Flow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88720"/>
            <a:ext cx="2194560" cy="4114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9690"/>
                </a:solidFill>
                <a:latin typeface="Calibri"/>
              </a:rPr>
              <a:t>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14300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27248" y="1188720"/>
            <a:ext cx="2194560" cy="4114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9690"/>
                </a:solidFill>
                <a:latin typeface="Calibri"/>
              </a:rPr>
              <a:t>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14300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70448" y="1188720"/>
            <a:ext cx="2194560" cy="4114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9690"/>
                </a:solidFill>
                <a:latin typeface="Calibri"/>
              </a:rPr>
              <a:t>Patient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011680"/>
            <a:ext cx="2377440" cy="82296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2103120"/>
            <a:ext cx="219456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Admissions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423160"/>
            <a:ext cx="219456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2011680"/>
            <a:ext cx="2377440" cy="82296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27248" y="2103120"/>
            <a:ext cx="219456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Discharges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423160"/>
            <a:ext cx="219456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011680"/>
            <a:ext cx="2377440" cy="822960"/>
          </a:xfrm>
          <a:prstGeom prst="roundRect">
            <a:avLst/>
          </a:prstGeom>
          <a:solidFill>
            <a:srgbClr val="D6EBFC"/>
          </a:solidFill>
          <a:ln w="12700"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2103120"/>
            <a:ext cx="219456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Current Patients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423160"/>
            <a:ext cx="219456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54680"/>
            <a:ext cx="40233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9184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Patient Flow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79" y="3154680"/>
            <a:ext cx="40233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329184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Admission vs Discharge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365760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83480"/>
            <a:ext cx="40233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12064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Length of Stay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8640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79" y="4983480"/>
            <a:ext cx="40233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59" y="512064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Heatmap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548640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Department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Department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3840480" cy="914400"/>
          </a:xfrm>
          <a:prstGeom prst="roundRect">
            <a:avLst/>
          </a:prstGeom>
          <a:solidFill>
            <a:srgbClr val="D6EBFC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Efficiency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097280"/>
            <a:ext cx="3840480" cy="914400"/>
          </a:xfrm>
          <a:prstGeom prst="roundRect">
            <a:avLst/>
          </a:prstGeom>
          <a:solidFill>
            <a:srgbClr val="D6EBFC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23444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Patient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286000"/>
            <a:ext cx="3840480" cy="914400"/>
          </a:xfrm>
          <a:prstGeom prst="roundRect">
            <a:avLst/>
          </a:prstGeom>
          <a:solidFill>
            <a:srgbClr val="D6EBFC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42316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4320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2286000"/>
            <a:ext cx="3840480" cy="914400"/>
          </a:xfrm>
          <a:prstGeom prst="roundRect">
            <a:avLst/>
          </a:prstGeom>
          <a:solidFill>
            <a:srgbClr val="D6EBFC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42316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Staff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4320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08960"/>
            <a:ext cx="40233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24612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Department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79" y="3108960"/>
            <a:ext cx="40233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59" y="324612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Occupancy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361188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92040"/>
            <a:ext cx="40233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Readmission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9496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79" y="4892040"/>
            <a:ext cx="40233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59" y="502920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Efficiency Scatter Plot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539496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Resource Utilization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Resource Utilization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2560320" cy="822960"/>
          </a:xfrm>
          <a:prstGeom prst="roundRect">
            <a:avLst/>
          </a:prstGeom>
          <a:solidFill>
            <a:srgbClr val="D6EBFC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237744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Beds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237744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097280"/>
            <a:ext cx="2560320" cy="822960"/>
          </a:xfrm>
          <a:prstGeom prst="roundRect">
            <a:avLst/>
          </a:prstGeom>
          <a:solidFill>
            <a:srgbClr val="D6EBFC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234440"/>
            <a:ext cx="237744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Beds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554480"/>
            <a:ext cx="237744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097280"/>
            <a:ext cx="2560320" cy="822960"/>
          </a:xfrm>
          <a:prstGeom prst="roundRect">
            <a:avLst/>
          </a:prstGeom>
          <a:solidFill>
            <a:srgbClr val="D6EBFC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1234440"/>
            <a:ext cx="237744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243F"/>
                </a:solidFill>
                <a:latin typeface="Calibri"/>
              </a:rPr>
              <a:t>Utilization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554480"/>
            <a:ext cx="237744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C69D4"/>
                </a:solidFill>
                <a:latin typeface="Calibri"/>
              </a:rPr>
              <a:t>--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108960"/>
            <a:ext cx="40233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24612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Bed 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9" y="3108960"/>
            <a:ext cx="40233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59" y="324612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Staff Utilization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61188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892040"/>
            <a:ext cx="40233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Equipment Usage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79" y="4892040"/>
            <a:ext cx="40233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4F5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5029200"/>
            <a:ext cx="3657600" cy="365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C69D4"/>
                </a:solidFill>
                <a:latin typeface="Calibri"/>
              </a:rPr>
              <a:t>Resource Heatmap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5394960"/>
            <a:ext cx="3657600" cy="1005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F5966"/>
                </a:solidFill>
                <a:latin typeface="Calibri"/>
              </a:rPr>
              <a:t>Placeholder chart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Filters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Filters &amp;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828800" cy="731520"/>
          </a:xfrm>
          <a:prstGeom prst="roundRect">
            <a:avLst/>
          </a:prstGeom>
          <a:solidFill>
            <a:srgbClr val="1C69D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828800" cy="5486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Hospital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097280"/>
            <a:ext cx="1828800" cy="731520"/>
          </a:xfrm>
          <a:prstGeom prst="roundRect">
            <a:avLst/>
          </a:prstGeom>
          <a:solidFill>
            <a:srgbClr val="1296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23160" y="1234440"/>
            <a:ext cx="1828800" cy="5486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Patient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097280"/>
            <a:ext cx="1828800" cy="731520"/>
          </a:xfrm>
          <a:prstGeom prst="roundRect">
            <a:avLst/>
          </a:prstGeom>
          <a:solidFill>
            <a:srgbClr val="F299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1828800" cy="5486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Department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097280"/>
            <a:ext cx="1828800" cy="731520"/>
          </a:xfrm>
          <a:prstGeom prst="roundRect">
            <a:avLst/>
          </a:prstGeom>
          <a:solidFill>
            <a:srgbClr val="27AE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234440"/>
            <a:ext cx="1828800" cy="5486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Resource Utilization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48840"/>
            <a:ext cx="8412480" cy="39319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9690"/>
                </a:solidFill>
                <a:latin typeface="Calibri"/>
              </a:rPr>
              <a:t>Global Filters</a:t>
            </a:r>
          </a:p>
          <a:p>
            <a:pPr>
              <a:defRPr sz="1800">
                <a:solidFill>
                  <a:srgbClr val="4F5966"/>
                </a:solidFill>
                <a:latin typeface="Calibri"/>
              </a:defRPr>
            </a:pPr>
            <a:r>
              <a:t>• Date</a:t>
            </a:r>
          </a:p>
          <a:p>
            <a:pPr>
              <a:defRPr sz="1800">
                <a:solidFill>
                  <a:srgbClr val="4F5966"/>
                </a:solidFill>
                <a:latin typeface="Calibri"/>
              </a:defRPr>
            </a:pPr>
            <a:r>
              <a:t>• Department</a:t>
            </a:r>
          </a:p>
          <a:p>
            <a:pPr>
              <a:defRPr sz="1800">
                <a:solidFill>
                  <a:srgbClr val="4F5966"/>
                </a:solidFill>
                <a:latin typeface="Calibri"/>
              </a:defRPr>
            </a:pPr>
            <a:r>
              <a:t>• Gender</a:t>
            </a:r>
          </a:p>
          <a:p>
            <a:pPr>
              <a:defRPr sz="1800">
                <a:solidFill>
                  <a:srgbClr val="4F5966"/>
                </a:solidFill>
                <a:latin typeface="Calibri"/>
              </a:defRPr>
            </a:pPr>
            <a:r>
              <a:t>• Age Group</a:t>
            </a:r>
          </a:p>
          <a:p>
            <a:pPr>
              <a:defRPr sz="1800">
                <a:solidFill>
                  <a:srgbClr val="4F5966"/>
                </a:solidFill>
                <a:latin typeface="Calibri"/>
              </a:defRPr>
            </a:pPr>
            <a:r>
              <a:t>• Patient Type</a:t>
            </a:r>
          </a:p>
          <a:p>
            <a:pPr>
              <a:defRPr sz="1800">
                <a:solidFill>
                  <a:srgbClr val="4F5966"/>
                </a:solidFill>
                <a:latin typeface="Calibri"/>
              </a:defRPr>
            </a:pPr>
            <a:r>
              <a:t>• Disease Category</a:t>
            </a:r>
          </a:p>
          <a:p>
            <a:pPr>
              <a:defRPr sz="1800">
                <a:solidFill>
                  <a:srgbClr val="4F5966"/>
                </a:solidFill>
                <a:latin typeface="Calibri"/>
              </a:defRPr>
            </a:pPr>
            <a:r>
              <a:t>• Doctor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Dashboard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Dashboard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840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36576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Filter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188720"/>
            <a:ext cx="3840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307592"/>
            <a:ext cx="36576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Highlight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40280"/>
            <a:ext cx="3840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36576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Drill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240280"/>
            <a:ext cx="3840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359152"/>
            <a:ext cx="36576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Tooltips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91839"/>
            <a:ext cx="3840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410711"/>
            <a:ext cx="36576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Cross Filtering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291839"/>
            <a:ext cx="3840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410711"/>
            <a:ext cx="36576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43F"/>
                </a:solidFill>
                <a:latin typeface="Calibri"/>
              </a:rPr>
              <a:t>Dashboard Navigation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Department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Department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8412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Dashboard Metric</a:t>
                      </a:r>
                    </a:p>
                  </a:txBody>
                  <a:tcPr>
                    <a:solidFill>
                      <a:srgbClr val="D6E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Visualization Style</a:t>
                      </a:r>
                    </a:p>
                  </a:txBody>
                  <a:tcPr>
                    <a:solidFill>
                      <a:srgbClr val="D6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Admissions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Bar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Occupancy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Heatmap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Average Length of Stay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Horizontal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Readmission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Bar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Bed 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Donut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Efficiency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F5966"/>
                          </a:solidFill>
                        </a:defRPr>
                      </a:pPr>
                      <a:r>
                        <a:t>Scatter 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Dashboard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Dashboard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88720" cy="640080"/>
          </a:xfrm>
          <a:prstGeom prst="rect">
            <a:avLst/>
          </a:prstGeom>
          <a:solidFill>
            <a:srgbClr val="1C69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011680"/>
            <a:ext cx="1188720" cy="5029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243F"/>
                </a:solidFill>
                <a:latin typeface="Calibri"/>
              </a:rPr>
              <a:t>Blue - Admissions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325880"/>
            <a:ext cx="1188720" cy="64008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2011680"/>
            <a:ext cx="1188720" cy="5029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243F"/>
                </a:solidFill>
                <a:latin typeface="Calibri"/>
              </a:rPr>
              <a:t>Green - Discharges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325880"/>
            <a:ext cx="1188720" cy="640080"/>
          </a:xfrm>
          <a:prstGeom prst="rect">
            <a:avLst/>
          </a:prstGeom>
          <a:solidFill>
            <a:srgbClr val="F299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2011680"/>
            <a:ext cx="1188720" cy="5029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243F"/>
                </a:solidFill>
                <a:latin typeface="Calibri"/>
              </a:rPr>
              <a:t>Orange - Occupancy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1188720" cy="640080"/>
          </a:xfrm>
          <a:prstGeom prst="rect">
            <a:avLst/>
          </a:prstGeom>
          <a:solidFill>
            <a:srgbClr val="EB5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1188720" cy="5029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243F"/>
                </a:solidFill>
                <a:latin typeface="Calibri"/>
              </a:rPr>
              <a:t>Red - Readmission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325880"/>
            <a:ext cx="1188720" cy="640080"/>
          </a:xfrm>
          <a:prstGeom prst="rect">
            <a:avLst/>
          </a:prstGeom>
          <a:solidFill>
            <a:srgbClr val="7B4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2011680"/>
            <a:ext cx="1188720" cy="5029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243F"/>
                </a:solidFill>
                <a:latin typeface="Calibri"/>
              </a:rPr>
              <a:t>Purple - Efficiency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1325880"/>
            <a:ext cx="1188720" cy="640080"/>
          </a:xfrm>
          <a:prstGeom prst="rect">
            <a:avLst/>
          </a:prstGeom>
          <a:solidFill>
            <a:srgbClr val="EB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2011680"/>
            <a:ext cx="1188720" cy="5029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243F"/>
                </a:solidFill>
                <a:latin typeface="Calibri"/>
              </a:rPr>
              <a:t>Gray - Background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834640"/>
            <a:ext cx="2377440" cy="1005840"/>
          </a:xfrm>
          <a:prstGeom prst="roundRect">
            <a:avLst/>
          </a:prstGeom>
          <a:solidFill>
            <a:srgbClr val="1C69D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017520"/>
            <a:ext cx="2194560" cy="8229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Admissions Card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2834640"/>
            <a:ext cx="2377440" cy="1005840"/>
          </a:xfrm>
          <a:prstGeom prst="roundRect">
            <a:avLst/>
          </a:prstGeom>
          <a:solidFill>
            <a:srgbClr val="27AE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4680" y="3017520"/>
            <a:ext cx="2194560" cy="8229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Discharges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2834640"/>
            <a:ext cx="2377440" cy="1005840"/>
          </a:xfrm>
          <a:prstGeom prst="roundRect">
            <a:avLst/>
          </a:prstGeom>
          <a:solidFill>
            <a:srgbClr val="F299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97880" y="3017520"/>
            <a:ext cx="2194560" cy="8229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Occupancy Card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20040"/>
            <a:ext cx="8686800" cy="6400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2243F"/>
                </a:solidFill>
                <a:latin typeface="Calibri"/>
              </a:rP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8686800" cy="43891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4F5966"/>
                </a:solidFill>
                <a:latin typeface="Calibri"/>
              </a:rPr>
              <a:t>Interactive Tableau Dashboards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Better Hospital Monitoring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Resource Optimization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Department Performance Comparison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Improved Decision Making</a:t>
            </a:r>
          </a:p>
          <a:p>
            <a:pPr>
              <a:defRPr sz="2000" b="0">
                <a:solidFill>
                  <a:srgbClr val="4F5966"/>
                </a:solidFill>
                <a:latin typeface="Calibri"/>
              </a:defRPr>
            </a:pPr>
            <a:r>
              <a:t>Better Patient 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69D4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26480"/>
            <a:ext cx="822960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Hospital Analytics | Module 4 Dashboard Planning 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126480"/>
            <a:ext cx="1097280" cy="3200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F5966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6400800" cy="91440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C69D4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</TotalTime>
  <Words>479</Words>
  <Application>Microsoft Office PowerPoint</Application>
  <PresentationFormat>Custom</PresentationFormat>
  <Paragraphs>183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Revathi Miriyam</cp:lastModifiedBy>
  <cp:revision>2</cp:revision>
  <dcterms:created xsi:type="dcterms:W3CDTF">2013-01-27T09:14:16Z</dcterms:created>
  <dcterms:modified xsi:type="dcterms:W3CDTF">2026-07-24T13:41:01Z</dcterms:modified>
  <cp:category/>
</cp:coreProperties>
</file>