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  <p:embeddedFont>
      <p:font typeface="Consolas Bold" panose="020B0709020204030204" pitchFamily="49" charset="0"/>
      <p:bold r:id="rId29"/>
    </p:embeddedFont>
    <p:embeddedFont>
      <p:font typeface="Cambria Bold" panose="02040803050406030204" pitchFamily="18" charset="0"/>
      <p:bold r:id="rId30"/>
    </p:embeddedFont>
    <p:embeddedFont>
      <p:font typeface="Calibri (MS) Bold" panose="020B0604020202020204" charset="0"/>
      <p:regular r:id="rId31"/>
    </p:embeddedFont>
    <p:embeddedFont>
      <p:font typeface="Calibri (MS) Italics" panose="020B0604020202020204" charset="0"/>
      <p:regular r:id="rId32"/>
    </p:embeddedFont>
    <p:embeddedFont>
      <p:font typeface="Calibri (MS)" panose="020B0604020202020204" charset="0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17.08.2026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645369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0521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828259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9945275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713878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73010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129828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070495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4096929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790828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8642023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054221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939166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6836414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48768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383829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566533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9206682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.jpe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8.png"/><Relationship Id="rId4" Type="http://schemas.openxmlformats.org/officeDocument/2006/relationships/image" Target="../media/image13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2.jpe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jpe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38960" y="-1645920"/>
            <a:ext cx="5760720" cy="5760720"/>
            <a:chOff x="0" y="0"/>
            <a:chExt cx="7680960" cy="7680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80960" cy="7680960"/>
            </a:xfrm>
            <a:custGeom>
              <a:avLst/>
              <a:gdLst/>
              <a:ahLst/>
              <a:cxnLst/>
              <a:rect l="l" t="t" r="r" b="b"/>
              <a:pathLst>
                <a:path w="7680960" h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920240" y="7680960"/>
            <a:ext cx="4937760" cy="4937760"/>
            <a:chOff x="0" y="0"/>
            <a:chExt cx="6583680" cy="65836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583680" cy="6583680"/>
            </a:xfrm>
            <a:custGeom>
              <a:avLst/>
              <a:gdLst/>
              <a:ahLst/>
              <a:cxnLst/>
              <a:rect l="l" t="t" r="r" b="b"/>
              <a:pathLst>
                <a:path w="6583680" h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34440" y="1028700"/>
            <a:ext cx="1165860" cy="1165860"/>
            <a:chOff x="0" y="0"/>
            <a:chExt cx="1554480" cy="155448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54480" cy="1554480"/>
            </a:xfrm>
            <a:custGeom>
              <a:avLst/>
              <a:gdLst/>
              <a:ahLst/>
              <a:cxnLst/>
              <a:rect l="l" t="t" r="r" b="b"/>
              <a:pathLst>
                <a:path w="1554480" h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3FC7C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496758" y="1291018"/>
            <a:ext cx="641223" cy="641223"/>
            <a:chOff x="0" y="0"/>
            <a:chExt cx="854964" cy="854964"/>
          </a:xfrm>
        </p:grpSpPr>
        <p:sp>
          <p:nvSpPr>
            <p:cNvPr id="9" name="Freeform 9" descr="/home/claude/m4_deck/img/icons/checksquare.png"/>
            <p:cNvSpPr/>
            <p:nvPr/>
          </p:nvSpPr>
          <p:spPr>
            <a:xfrm>
              <a:off x="0" y="0"/>
              <a:ext cx="854964" cy="854964"/>
            </a:xfrm>
            <a:custGeom>
              <a:avLst/>
              <a:gdLst/>
              <a:ahLst/>
              <a:cxnLst/>
              <a:rect l="l" t="t" r="r" b="b"/>
              <a:pathLst>
                <a:path w="854964" h="854964">
                  <a:moveTo>
                    <a:pt x="0" y="0"/>
                  </a:moveTo>
                  <a:lnTo>
                    <a:pt x="854964" y="0"/>
                  </a:lnTo>
                  <a:lnTo>
                    <a:pt x="854964" y="854964"/>
                  </a:lnTo>
                  <a:lnTo>
                    <a:pt x="0" y="854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2674620" y="987552"/>
            <a:ext cx="10972800" cy="685800"/>
            <a:chOff x="0" y="0"/>
            <a:chExt cx="14630400" cy="914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630400" cy="914400"/>
            </a:xfrm>
            <a:custGeom>
              <a:avLst/>
              <a:gdLst/>
              <a:ahLst/>
              <a:cxnLst/>
              <a:rect l="l" t="t" r="r" b="b"/>
              <a:pathLst>
                <a:path w="14630400" h="914400">
                  <a:moveTo>
                    <a:pt x="0" y="0"/>
                  </a:moveTo>
                  <a:lnTo>
                    <a:pt x="14630400" y="0"/>
                  </a:lnTo>
                  <a:lnTo>
                    <a:pt x="14630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1463040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0"/>
                </a:lnSpc>
              </a:pPr>
              <a:r>
                <a:rPr lang="en-US" sz="3000" b="1" spc="450">
                  <a:solidFill>
                    <a:srgbClr val="3FC7C0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MEDTRACK_DV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674620" y="1618488"/>
            <a:ext cx="12344400" cy="480060"/>
            <a:chOff x="0" y="0"/>
            <a:chExt cx="16459200" cy="64008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459200" cy="640080"/>
            </a:xfrm>
            <a:custGeom>
              <a:avLst/>
              <a:gdLst/>
              <a:ahLst/>
              <a:cxnLst/>
              <a:rect l="l" t="t" r="r" b="b"/>
              <a:pathLst>
                <a:path w="16459200" h="640080">
                  <a:moveTo>
                    <a:pt x="0" y="0"/>
                  </a:moveTo>
                  <a:lnTo>
                    <a:pt x="16459200" y="0"/>
                  </a:lnTo>
                  <a:lnTo>
                    <a:pt x="1645920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51043" b="-45104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645920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spc="150">
                  <a:solidFill>
                    <a:srgbClr val="B9C7D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HOSPITAL OPERATIONS &amp; PATIENT ANALYTICS DASHBOARD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34440" y="3429000"/>
            <a:ext cx="15499080" cy="2331720"/>
            <a:chOff x="0" y="0"/>
            <a:chExt cx="20665440" cy="310896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0665439" cy="3108960"/>
            </a:xfrm>
            <a:custGeom>
              <a:avLst/>
              <a:gdLst/>
              <a:ahLst/>
              <a:cxnLst/>
              <a:rect l="l" t="t" r="r" b="b"/>
              <a:pathLst>
                <a:path w="20665439" h="3108960">
                  <a:moveTo>
                    <a:pt x="0" y="0"/>
                  </a:moveTo>
                  <a:lnTo>
                    <a:pt x="20665439" y="0"/>
                  </a:lnTo>
                  <a:lnTo>
                    <a:pt x="20665439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79518" b="-79518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9525"/>
              <a:ext cx="20665440" cy="309943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200"/>
                </a:lnSpc>
              </a:pPr>
              <a:r>
                <a:rPr lang="en-US" sz="63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Milestone 4:</a:t>
              </a:r>
            </a:p>
            <a:p>
              <a:pPr algn="l">
                <a:lnSpc>
                  <a:spcPts val="7200"/>
                </a:lnSpc>
              </a:pPr>
              <a:r>
                <a:rPr lang="en-US" sz="63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Testing &amp; Delivery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34440" y="5897880"/>
            <a:ext cx="15087600" cy="685800"/>
            <a:chOff x="0" y="0"/>
            <a:chExt cx="20116800" cy="9144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0116800" cy="914400"/>
            </a:xfrm>
            <a:custGeom>
              <a:avLst/>
              <a:gdLst/>
              <a:ahLst/>
              <a:cxnLst/>
              <a:rect l="l" t="t" r="r" b="b"/>
              <a:pathLst>
                <a:path w="20116800" h="914400">
                  <a:moveTo>
                    <a:pt x="0" y="0"/>
                  </a:moveTo>
                  <a:lnTo>
                    <a:pt x="20116800" y="0"/>
                  </a:lnTo>
                  <a:lnTo>
                    <a:pt x="201168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378670" b="-37867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20116800" cy="9620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i="1">
                  <a:solidFill>
                    <a:srgbClr val="B9C7D3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Module 7 – Testing &amp; Validation   |   Module 8 – Documentation &amp; Project Delivery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rot="5357160">
            <a:off x="470478" y="8087678"/>
            <a:ext cx="1527924" cy="0"/>
          </a:xfrm>
          <a:prstGeom prst="line">
            <a:avLst/>
          </a:prstGeom>
          <a:ln w="9525" cap="rnd">
            <a:solidFill>
              <a:srgbClr val="35557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1440180" y="7338060"/>
            <a:ext cx="3566160" cy="411480"/>
            <a:chOff x="0" y="0"/>
            <a:chExt cx="4754880" cy="5486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754880" cy="548640"/>
            </a:xfrm>
            <a:custGeom>
              <a:avLst/>
              <a:gdLst/>
              <a:ahLst/>
              <a:cxnLst/>
              <a:rect l="l" t="t" r="r" b="b"/>
              <a:pathLst>
                <a:path w="4754880" h="54864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8870" b="-11887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7548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spc="150">
                  <a:solidFill>
                    <a:srgbClr val="3FC7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40180" y="7749540"/>
            <a:ext cx="3566160" cy="960120"/>
            <a:chOff x="0" y="0"/>
            <a:chExt cx="4754880" cy="128016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754880" cy="1280160"/>
            </a:xfrm>
            <a:custGeom>
              <a:avLst/>
              <a:gdLst/>
              <a:ahLst/>
              <a:cxnLst/>
              <a:rect l="l" t="t" r="r" b="b"/>
              <a:pathLst>
                <a:path w="4754880" h="1280160">
                  <a:moveTo>
                    <a:pt x="0" y="0"/>
                  </a:moveTo>
                  <a:lnTo>
                    <a:pt x="4754880" y="0"/>
                  </a:lnTo>
                  <a:lnTo>
                    <a:pt x="4754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372" b="-22372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475488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Madhan Raj G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 rot="5357160">
            <a:off x="4379538" y="8087678"/>
            <a:ext cx="1527924" cy="0"/>
          </a:xfrm>
          <a:prstGeom prst="line">
            <a:avLst/>
          </a:prstGeom>
          <a:ln w="9525" cap="rnd">
            <a:solidFill>
              <a:srgbClr val="35557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5349240" y="7338060"/>
            <a:ext cx="3566160" cy="411480"/>
            <a:chOff x="0" y="0"/>
            <a:chExt cx="4754880" cy="5486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54880" cy="548640"/>
            </a:xfrm>
            <a:custGeom>
              <a:avLst/>
              <a:gdLst/>
              <a:ahLst/>
              <a:cxnLst/>
              <a:rect l="l" t="t" r="r" b="b"/>
              <a:pathLst>
                <a:path w="4754880" h="54864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8870" b="-118870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7548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spc="150">
                  <a:solidFill>
                    <a:srgbClr val="3FC7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PROGRAM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349240" y="7749540"/>
            <a:ext cx="3566160" cy="960120"/>
            <a:chOff x="0" y="0"/>
            <a:chExt cx="4754880" cy="128016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4754880" cy="1280160"/>
            </a:xfrm>
            <a:custGeom>
              <a:avLst/>
              <a:gdLst/>
              <a:ahLst/>
              <a:cxnLst/>
              <a:rect l="l" t="t" r="r" b="b"/>
              <a:pathLst>
                <a:path w="4754880" h="1280160">
                  <a:moveTo>
                    <a:pt x="0" y="0"/>
                  </a:moveTo>
                  <a:lnTo>
                    <a:pt x="4754880" y="0"/>
                  </a:lnTo>
                  <a:lnTo>
                    <a:pt x="4754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372" b="-22372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475488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Infosys Springboard Internship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 rot="5357160">
            <a:off x="8288598" y="8087678"/>
            <a:ext cx="1527924" cy="0"/>
          </a:xfrm>
          <a:prstGeom prst="line">
            <a:avLst/>
          </a:prstGeom>
          <a:ln w="9525" cap="rnd">
            <a:solidFill>
              <a:srgbClr val="35557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7" name="Group 37"/>
          <p:cNvGrpSpPr/>
          <p:nvPr/>
        </p:nvGrpSpPr>
        <p:grpSpPr>
          <a:xfrm>
            <a:off x="9258300" y="7338060"/>
            <a:ext cx="3566160" cy="411480"/>
            <a:chOff x="0" y="0"/>
            <a:chExt cx="4754880" cy="5486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754880" cy="548640"/>
            </a:xfrm>
            <a:custGeom>
              <a:avLst/>
              <a:gdLst/>
              <a:ahLst/>
              <a:cxnLst/>
              <a:rect l="l" t="t" r="r" b="b"/>
              <a:pathLst>
                <a:path w="4754880" h="54864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8870" b="-118870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47548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spc="150">
                  <a:solidFill>
                    <a:srgbClr val="3FC7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TIMEFRAME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258300" y="7749540"/>
            <a:ext cx="3566160" cy="960120"/>
            <a:chOff x="0" y="0"/>
            <a:chExt cx="4754880" cy="128016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4754880" cy="1280160"/>
            </a:xfrm>
            <a:custGeom>
              <a:avLst/>
              <a:gdLst/>
              <a:ahLst/>
              <a:cxnLst/>
              <a:rect l="l" t="t" r="r" b="b"/>
              <a:pathLst>
                <a:path w="4754880" h="1280160">
                  <a:moveTo>
                    <a:pt x="0" y="0"/>
                  </a:moveTo>
                  <a:lnTo>
                    <a:pt x="4754880" y="0"/>
                  </a:lnTo>
                  <a:lnTo>
                    <a:pt x="4754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372" b="-22372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475488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Weeks 7–8</a:t>
              </a:r>
            </a:p>
          </p:txBody>
        </p:sp>
      </p:grpSp>
      <p:sp>
        <p:nvSpPr>
          <p:cNvPr id="43" name="AutoShape 43"/>
          <p:cNvSpPr/>
          <p:nvPr/>
        </p:nvSpPr>
        <p:spPr>
          <a:xfrm rot="5357160">
            <a:off x="12197658" y="8087678"/>
            <a:ext cx="1527924" cy="0"/>
          </a:xfrm>
          <a:prstGeom prst="line">
            <a:avLst/>
          </a:prstGeom>
          <a:ln w="9525" cap="rnd">
            <a:solidFill>
              <a:srgbClr val="35557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4" name="Group 44"/>
          <p:cNvGrpSpPr/>
          <p:nvPr/>
        </p:nvGrpSpPr>
        <p:grpSpPr>
          <a:xfrm>
            <a:off x="13167360" y="7338060"/>
            <a:ext cx="3566160" cy="411480"/>
            <a:chOff x="0" y="0"/>
            <a:chExt cx="4754880" cy="54864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754880" cy="548640"/>
            </a:xfrm>
            <a:custGeom>
              <a:avLst/>
              <a:gdLst/>
              <a:ahLst/>
              <a:cxnLst/>
              <a:rect l="l" t="t" r="r" b="b"/>
              <a:pathLst>
                <a:path w="4754880" h="548640">
                  <a:moveTo>
                    <a:pt x="0" y="0"/>
                  </a:moveTo>
                  <a:lnTo>
                    <a:pt x="4754880" y="0"/>
                  </a:lnTo>
                  <a:lnTo>
                    <a:pt x="47548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18870" b="-118870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47548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spc="150">
                  <a:solidFill>
                    <a:srgbClr val="3FC7C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STATUS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167360" y="7749540"/>
            <a:ext cx="3566160" cy="960120"/>
            <a:chOff x="0" y="0"/>
            <a:chExt cx="4754880" cy="128016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4754880" cy="1280160"/>
            </a:xfrm>
            <a:custGeom>
              <a:avLst/>
              <a:gdLst/>
              <a:ahLst/>
              <a:cxnLst/>
              <a:rect l="l" t="t" r="r" b="b"/>
              <a:pathLst>
                <a:path w="4754880" h="1280160">
                  <a:moveTo>
                    <a:pt x="0" y="0"/>
                  </a:moveTo>
                  <a:lnTo>
                    <a:pt x="4754880" y="0"/>
                  </a:lnTo>
                  <a:lnTo>
                    <a:pt x="47548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2372" b="-22372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4754880" cy="13182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Complete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Introduction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16596360" cy="822960"/>
            <a:chOff x="0" y="0"/>
            <a:chExt cx="22128480" cy="1097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097280"/>
            </a:xfrm>
            <a:custGeom>
              <a:avLst/>
              <a:gdLst/>
              <a:ahLst/>
              <a:cxnLst/>
              <a:rect l="l" t="t" r="r" b="b"/>
              <a:pathLst>
                <a:path w="22128480" h="10972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948" b="-34294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Milestone 4 Overview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207008"/>
            <a:ext cx="16596360" cy="438912"/>
            <a:chOff x="0" y="0"/>
            <a:chExt cx="22128480" cy="5852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28480" cy="585216"/>
            </a:xfrm>
            <a:custGeom>
              <a:avLst/>
              <a:gdLst/>
              <a:ahLst/>
              <a:cxnLst/>
              <a:rect l="l" t="t" r="r" b="b"/>
              <a:pathLst>
                <a:path w="22128480" h="585216">
                  <a:moveTo>
                    <a:pt x="0" y="0"/>
                  </a:moveTo>
                  <a:lnTo>
                    <a:pt x="22128480" y="0"/>
                  </a:lnTo>
                  <a:lnTo>
                    <a:pt x="22128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6777" b="-68677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212848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final milestone in the MedTrack_DV project plan – Weeks 7 and 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2960" y="2263140"/>
            <a:ext cx="16596360" cy="960120"/>
            <a:chOff x="0" y="0"/>
            <a:chExt cx="22128480" cy="12801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128480" cy="1280160"/>
            </a:xfrm>
            <a:custGeom>
              <a:avLst/>
              <a:gdLst/>
              <a:ahLst/>
              <a:cxnLst/>
              <a:rect l="l" t="t" r="r" b="b"/>
              <a:pathLst>
                <a:path w="22128480" h="128016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12" b="-286812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2128480" cy="1327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722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Milestone 4 closes out the project by confirming that everything built in Milestones 1 through 3 actually works as intended, and by packaging the finished project for delivery. It covers two modules: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5816" y="3490436"/>
            <a:ext cx="8175307" cy="5089208"/>
            <a:chOff x="0" y="0"/>
            <a:chExt cx="10900410" cy="678561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900410" cy="6785610"/>
            </a:xfrm>
            <a:custGeom>
              <a:avLst/>
              <a:gdLst/>
              <a:ahLst/>
              <a:cxnLst/>
              <a:rect l="l" t="t" r="r" b="b"/>
              <a:pathLst>
                <a:path w="10900410" h="678561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753725" y="0"/>
                  </a:lnTo>
                  <a:cubicBezTo>
                    <a:pt x="10834751" y="0"/>
                    <a:pt x="10900410" y="65659"/>
                    <a:pt x="10900410" y="146685"/>
                  </a:cubicBezTo>
                  <a:lnTo>
                    <a:pt x="10900410" y="6638925"/>
                  </a:lnTo>
                  <a:cubicBezTo>
                    <a:pt x="10900410" y="6719951"/>
                    <a:pt x="10834751" y="6785610"/>
                    <a:pt x="10753725" y="6785610"/>
                  </a:cubicBezTo>
                  <a:lnTo>
                    <a:pt x="146685" y="6785610"/>
                  </a:lnTo>
                  <a:cubicBezTo>
                    <a:pt x="65659" y="6785610"/>
                    <a:pt x="0" y="6719951"/>
                    <a:pt x="0" y="663892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234440" y="3909060"/>
            <a:ext cx="891540" cy="891540"/>
            <a:chOff x="0" y="0"/>
            <a:chExt cx="1188720" cy="11887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430579" y="4105199"/>
            <a:ext cx="499262" cy="499262"/>
            <a:chOff x="0" y="0"/>
            <a:chExt cx="665683" cy="665683"/>
          </a:xfrm>
        </p:grpSpPr>
        <p:sp>
          <p:nvSpPr>
            <p:cNvPr id="16" name="Freeform 16" descr="/home/claude/m4_deck/img/icons/checksquare.png"/>
            <p:cNvSpPr/>
            <p:nvPr/>
          </p:nvSpPr>
          <p:spPr>
            <a:xfrm>
              <a:off x="0" y="0"/>
              <a:ext cx="665734" cy="665734"/>
            </a:xfrm>
            <a:custGeom>
              <a:avLst/>
              <a:gdLst/>
              <a:ahLst/>
              <a:cxnLst/>
              <a:rect l="l" t="t" r="r" b="b"/>
              <a:pathLst>
                <a:path w="665734" h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7" b="7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2400300" y="3909060"/>
            <a:ext cx="6172200" cy="411480"/>
            <a:chOff x="0" y="0"/>
            <a:chExt cx="8229600" cy="548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E6E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7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2400300" y="4293108"/>
            <a:ext cx="6172200" cy="685800"/>
            <a:chOff x="0" y="0"/>
            <a:chExt cx="8229600" cy="9144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229600" cy="914400"/>
            </a:xfrm>
            <a:custGeom>
              <a:avLst/>
              <a:gdLst/>
              <a:ahLst/>
              <a:cxnLst/>
              <a:rect l="l" t="t" r="r" b="b"/>
              <a:pathLst>
                <a:path w="8229600" h="9144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82296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Testing &amp; Validation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325880" y="5288280"/>
            <a:ext cx="7155180" cy="296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7222E"/>
                </a:solidFill>
                <a:latin typeface="Calibri (MS)"/>
                <a:ea typeface="Calibri (MS)"/>
                <a:cs typeface="Calibri (MS)"/>
                <a:sym typeface="Calibri (MS)"/>
              </a:rPr>
              <a:t>Validate KPI calculations, verify healthcare metrics, test dashboard interactions, and validate patient flow analytics. Delivers a QA Checklist and a Dashboard Testing Report.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251156" y="3490436"/>
            <a:ext cx="8175307" cy="5089208"/>
            <a:chOff x="0" y="0"/>
            <a:chExt cx="10900410" cy="678561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900410" cy="6785610"/>
            </a:xfrm>
            <a:custGeom>
              <a:avLst/>
              <a:gdLst/>
              <a:ahLst/>
              <a:cxnLst/>
              <a:rect l="l" t="t" r="r" b="b"/>
              <a:pathLst>
                <a:path w="10900410" h="678561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753725" y="0"/>
                  </a:lnTo>
                  <a:cubicBezTo>
                    <a:pt x="10834751" y="0"/>
                    <a:pt x="10900410" y="65659"/>
                    <a:pt x="10900410" y="146685"/>
                  </a:cubicBezTo>
                  <a:lnTo>
                    <a:pt x="10900410" y="6638925"/>
                  </a:lnTo>
                  <a:cubicBezTo>
                    <a:pt x="10900410" y="6719951"/>
                    <a:pt x="10834751" y="6785610"/>
                    <a:pt x="10753725" y="6785610"/>
                  </a:cubicBezTo>
                  <a:lnTo>
                    <a:pt x="146685" y="6785610"/>
                  </a:lnTo>
                  <a:cubicBezTo>
                    <a:pt x="65659" y="6785610"/>
                    <a:pt x="0" y="6719951"/>
                    <a:pt x="0" y="663892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9669780" y="3909060"/>
            <a:ext cx="891540" cy="891540"/>
            <a:chOff x="0" y="0"/>
            <a:chExt cx="1188720" cy="11887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188720" cy="1188720"/>
            </a:xfrm>
            <a:custGeom>
              <a:avLst/>
              <a:gdLst/>
              <a:ahLst/>
              <a:cxnLst/>
              <a:rect l="l" t="t" r="r" b="b"/>
              <a:pathLst>
                <a:path w="1188720" h="1188720">
                  <a:moveTo>
                    <a:pt x="0" y="594360"/>
                  </a:moveTo>
                  <a:cubicBezTo>
                    <a:pt x="0" y="266065"/>
                    <a:pt x="266065" y="0"/>
                    <a:pt x="594360" y="0"/>
                  </a:cubicBezTo>
                  <a:cubicBezTo>
                    <a:pt x="922655" y="0"/>
                    <a:pt x="1188720" y="266065"/>
                    <a:pt x="1188720" y="594360"/>
                  </a:cubicBezTo>
                  <a:cubicBezTo>
                    <a:pt x="1188720" y="922655"/>
                    <a:pt x="922655" y="1188720"/>
                    <a:pt x="594360" y="1188720"/>
                  </a:cubicBezTo>
                  <a:cubicBezTo>
                    <a:pt x="266065" y="1188720"/>
                    <a:pt x="0" y="922655"/>
                    <a:pt x="0" y="594360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28" name="Group 28"/>
          <p:cNvGrpSpPr/>
          <p:nvPr/>
        </p:nvGrpSpPr>
        <p:grpSpPr>
          <a:xfrm>
            <a:off x="9865919" y="4105199"/>
            <a:ext cx="499262" cy="499262"/>
            <a:chOff x="0" y="0"/>
            <a:chExt cx="665683" cy="665683"/>
          </a:xfrm>
        </p:grpSpPr>
        <p:sp>
          <p:nvSpPr>
            <p:cNvPr id="29" name="Freeform 29" descr="/home/claude/m4_deck/img/icons/folder.png"/>
            <p:cNvSpPr/>
            <p:nvPr/>
          </p:nvSpPr>
          <p:spPr>
            <a:xfrm>
              <a:off x="0" y="0"/>
              <a:ext cx="665734" cy="665734"/>
            </a:xfrm>
            <a:custGeom>
              <a:avLst/>
              <a:gdLst/>
              <a:ahLst/>
              <a:cxnLst/>
              <a:rect l="l" t="t" r="r" b="b"/>
              <a:pathLst>
                <a:path w="665734" h="665734">
                  <a:moveTo>
                    <a:pt x="0" y="0"/>
                  </a:moveTo>
                  <a:lnTo>
                    <a:pt x="665734" y="0"/>
                  </a:lnTo>
                  <a:lnTo>
                    <a:pt x="665734" y="665734"/>
                  </a:lnTo>
                  <a:lnTo>
                    <a:pt x="0" y="6657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7" b="7"/>
              </a:stretch>
            </a:blipFill>
          </p:spPr>
        </p:sp>
      </p:grpSp>
      <p:grpSp>
        <p:nvGrpSpPr>
          <p:cNvPr id="30" name="Group 30"/>
          <p:cNvGrpSpPr/>
          <p:nvPr/>
        </p:nvGrpSpPr>
        <p:grpSpPr>
          <a:xfrm>
            <a:off x="10835640" y="3909060"/>
            <a:ext cx="6172200" cy="411480"/>
            <a:chOff x="0" y="0"/>
            <a:chExt cx="8229600" cy="54864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229600" cy="548640"/>
            </a:xfrm>
            <a:custGeom>
              <a:avLst/>
              <a:gdLst/>
              <a:ahLst/>
              <a:cxnLst/>
              <a:rect l="l" t="t" r="r" b="b"/>
              <a:pathLst>
                <a:path w="8229600" h="548640">
                  <a:moveTo>
                    <a:pt x="0" y="0"/>
                  </a:moveTo>
                  <a:lnTo>
                    <a:pt x="8229600" y="0"/>
                  </a:lnTo>
                  <a:lnTo>
                    <a:pt x="8229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2275" b="-242275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82296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70"/>
                </a:lnSpc>
              </a:pPr>
              <a:r>
                <a:rPr lang="en-US" sz="1725" b="1">
                  <a:solidFill>
                    <a:srgbClr val="0E6E7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8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0835640" y="4293108"/>
            <a:ext cx="6172200" cy="685800"/>
            <a:chOff x="0" y="0"/>
            <a:chExt cx="8229600" cy="9144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229600" cy="914400"/>
            </a:xfrm>
            <a:custGeom>
              <a:avLst/>
              <a:gdLst/>
              <a:ahLst/>
              <a:cxnLst/>
              <a:rect l="l" t="t" r="r" b="b"/>
              <a:pathLst>
                <a:path w="8229600" h="914400">
                  <a:moveTo>
                    <a:pt x="0" y="0"/>
                  </a:moveTo>
                  <a:lnTo>
                    <a:pt x="8229600" y="0"/>
                  </a:lnTo>
                  <a:lnTo>
                    <a:pt x="82296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5365" b="-125365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822960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Documentation &amp; Project Delivery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9761220" y="5288280"/>
            <a:ext cx="7155180" cy="2964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17222E"/>
                </a:solidFill>
                <a:latin typeface="Calibri (MS)"/>
                <a:ea typeface="Calibri (MS)"/>
                <a:cs typeface="Calibri (MS)"/>
                <a:sym typeface="Calibri (MS)"/>
              </a:rPr>
              <a:t>Prepare complete project documentation, organize the project structure, and deploy the finished project to GitHub. Delivers the GitHub Repository, Final Documentation, and the Tableau Workbook.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Introduction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16596360" cy="822960"/>
            <a:chOff x="0" y="0"/>
            <a:chExt cx="22128480" cy="1097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097280"/>
            </a:xfrm>
            <a:custGeom>
              <a:avLst/>
              <a:gdLst/>
              <a:ahLst/>
              <a:cxnLst/>
              <a:rect l="l" t="t" r="r" b="b"/>
              <a:pathLst>
                <a:path w="22128480" h="10972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948" b="-34294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The Four Dashboards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207008"/>
            <a:ext cx="16596360" cy="438912"/>
            <a:chOff x="0" y="0"/>
            <a:chExt cx="22128480" cy="5852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28480" cy="585216"/>
            </a:xfrm>
            <a:custGeom>
              <a:avLst/>
              <a:gdLst/>
              <a:ahLst/>
              <a:cxnLst/>
              <a:rect l="l" t="t" r="r" b="b"/>
              <a:pathLst>
                <a:path w="22128480" h="585216">
                  <a:moveTo>
                    <a:pt x="0" y="0"/>
                  </a:moveTo>
                  <a:lnTo>
                    <a:pt x="22128480" y="0"/>
                  </a:lnTo>
                  <a:lnTo>
                    <a:pt x="22128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6777" b="-68677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212848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Tested in Module 7 and delivered in Module 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79576" y="2002536"/>
            <a:ext cx="7516368" cy="3416265"/>
            <a:chOff x="0" y="0"/>
            <a:chExt cx="10021824" cy="45550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21824" cy="4554982"/>
            </a:xfrm>
            <a:custGeom>
              <a:avLst/>
              <a:gdLst/>
              <a:ahLst/>
              <a:cxnLst/>
              <a:rect l="l" t="t" r="r" b="b"/>
              <a:pathLst>
                <a:path w="10021824" h="4554982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9966960" y="0"/>
                  </a:lnTo>
                  <a:cubicBezTo>
                    <a:pt x="9997186" y="0"/>
                    <a:pt x="10021824" y="24511"/>
                    <a:pt x="10021824" y="54864"/>
                  </a:cubicBezTo>
                  <a:lnTo>
                    <a:pt x="10021824" y="4500118"/>
                  </a:lnTo>
                  <a:cubicBezTo>
                    <a:pt x="10021824" y="4530344"/>
                    <a:pt x="9997313" y="4554982"/>
                    <a:pt x="9966960" y="4554982"/>
                  </a:cubicBezTo>
                  <a:lnTo>
                    <a:pt x="54864" y="4554982"/>
                  </a:lnTo>
                  <a:cubicBezTo>
                    <a:pt x="24638" y="4554982"/>
                    <a:pt x="0" y="4530471"/>
                    <a:pt x="0" y="4500118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1234440" y="2057400"/>
            <a:ext cx="7406640" cy="3306537"/>
            <a:chOff x="0" y="0"/>
            <a:chExt cx="9875520" cy="4408716"/>
          </a:xfrm>
        </p:grpSpPr>
        <p:sp>
          <p:nvSpPr>
            <p:cNvPr id="11" name="Freeform 11" descr="/home/claude/m4_deck/img/hospital_overview.png"/>
            <p:cNvSpPr/>
            <p:nvPr/>
          </p:nvSpPr>
          <p:spPr>
            <a:xfrm>
              <a:off x="0" y="0"/>
              <a:ext cx="9875520" cy="4408678"/>
            </a:xfrm>
            <a:custGeom>
              <a:avLst/>
              <a:gdLst/>
              <a:ahLst/>
              <a:cxnLst/>
              <a:rect l="l" t="t" r="r" b="b"/>
              <a:pathLst>
                <a:path w="9875520" h="4408678">
                  <a:moveTo>
                    <a:pt x="0" y="0"/>
                  </a:moveTo>
                  <a:lnTo>
                    <a:pt x="9875520" y="0"/>
                  </a:lnTo>
                  <a:lnTo>
                    <a:pt x="9875520" y="4408678"/>
                  </a:lnTo>
                  <a:lnTo>
                    <a:pt x="0" y="4408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379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234440" y="5446233"/>
            <a:ext cx="7406640" cy="411480"/>
            <a:chOff x="0" y="0"/>
            <a:chExt cx="9875520" cy="54864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875520" cy="548640"/>
            </a:xfrm>
            <a:custGeom>
              <a:avLst/>
              <a:gdLst/>
              <a:ahLst/>
              <a:cxnLst/>
              <a:rect l="l" t="t" r="r" b="b"/>
              <a:pathLst>
                <a:path w="9875520" h="54864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30" b="-30073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23A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Hospital Overview Dashboard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409176" y="2002536"/>
            <a:ext cx="7516368" cy="3416265"/>
            <a:chOff x="0" y="0"/>
            <a:chExt cx="10021824" cy="45550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021824" cy="4554982"/>
            </a:xfrm>
            <a:custGeom>
              <a:avLst/>
              <a:gdLst/>
              <a:ahLst/>
              <a:cxnLst/>
              <a:rect l="l" t="t" r="r" b="b"/>
              <a:pathLst>
                <a:path w="10021824" h="4554982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9966960" y="0"/>
                  </a:lnTo>
                  <a:cubicBezTo>
                    <a:pt x="9997186" y="0"/>
                    <a:pt x="10021824" y="24511"/>
                    <a:pt x="10021824" y="54864"/>
                  </a:cubicBezTo>
                  <a:lnTo>
                    <a:pt x="10021824" y="4500118"/>
                  </a:lnTo>
                  <a:cubicBezTo>
                    <a:pt x="10021824" y="4530344"/>
                    <a:pt x="9997313" y="4554982"/>
                    <a:pt x="9966960" y="4554982"/>
                  </a:cubicBezTo>
                  <a:lnTo>
                    <a:pt x="54864" y="4554982"/>
                  </a:lnTo>
                  <a:cubicBezTo>
                    <a:pt x="24638" y="4554982"/>
                    <a:pt x="0" y="4530471"/>
                    <a:pt x="0" y="4500118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9464040" y="2057400"/>
            <a:ext cx="7406640" cy="3306537"/>
            <a:chOff x="0" y="0"/>
            <a:chExt cx="9875520" cy="4408716"/>
          </a:xfrm>
        </p:grpSpPr>
        <p:sp>
          <p:nvSpPr>
            <p:cNvPr id="18" name="Freeform 18" descr="/home/claude/m4_deck/img/patient_flow.png"/>
            <p:cNvSpPr/>
            <p:nvPr/>
          </p:nvSpPr>
          <p:spPr>
            <a:xfrm>
              <a:off x="0" y="0"/>
              <a:ext cx="9875520" cy="4408678"/>
            </a:xfrm>
            <a:custGeom>
              <a:avLst/>
              <a:gdLst/>
              <a:ahLst/>
              <a:cxnLst/>
              <a:rect l="l" t="t" r="r" b="b"/>
              <a:pathLst>
                <a:path w="9875520" h="4408678">
                  <a:moveTo>
                    <a:pt x="0" y="0"/>
                  </a:moveTo>
                  <a:lnTo>
                    <a:pt x="9875520" y="0"/>
                  </a:lnTo>
                  <a:lnTo>
                    <a:pt x="9875520" y="4408678"/>
                  </a:lnTo>
                  <a:lnTo>
                    <a:pt x="0" y="4408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290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9464040" y="5446233"/>
            <a:ext cx="7406640" cy="411480"/>
            <a:chOff x="0" y="0"/>
            <a:chExt cx="9875520" cy="54864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875520" cy="548640"/>
            </a:xfrm>
            <a:custGeom>
              <a:avLst/>
              <a:gdLst/>
              <a:ahLst/>
              <a:cxnLst/>
              <a:rect l="l" t="t" r="r" b="b"/>
              <a:pathLst>
                <a:path w="9875520" h="54864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30" b="-30073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23A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Patient Flow Dashboard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79576" y="5911596"/>
            <a:ext cx="7516368" cy="3416265"/>
            <a:chOff x="0" y="0"/>
            <a:chExt cx="10021824" cy="455502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021824" cy="4554982"/>
            </a:xfrm>
            <a:custGeom>
              <a:avLst/>
              <a:gdLst/>
              <a:ahLst/>
              <a:cxnLst/>
              <a:rect l="l" t="t" r="r" b="b"/>
              <a:pathLst>
                <a:path w="10021824" h="4554982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9966960" y="0"/>
                  </a:lnTo>
                  <a:cubicBezTo>
                    <a:pt x="9997186" y="0"/>
                    <a:pt x="10021824" y="24511"/>
                    <a:pt x="10021824" y="54864"/>
                  </a:cubicBezTo>
                  <a:lnTo>
                    <a:pt x="10021824" y="4500118"/>
                  </a:lnTo>
                  <a:cubicBezTo>
                    <a:pt x="10021824" y="4530344"/>
                    <a:pt x="9997313" y="4554982"/>
                    <a:pt x="9966960" y="4554982"/>
                  </a:cubicBezTo>
                  <a:lnTo>
                    <a:pt x="54864" y="4554982"/>
                  </a:lnTo>
                  <a:cubicBezTo>
                    <a:pt x="24638" y="4554982"/>
                    <a:pt x="0" y="4530471"/>
                    <a:pt x="0" y="4500118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234440" y="5966460"/>
            <a:ext cx="7406640" cy="3306537"/>
            <a:chOff x="0" y="0"/>
            <a:chExt cx="9875520" cy="4408716"/>
          </a:xfrm>
        </p:grpSpPr>
        <p:sp>
          <p:nvSpPr>
            <p:cNvPr id="25" name="Freeform 25" descr="/home/claude/m4_deck/img/department_analytics.png"/>
            <p:cNvSpPr/>
            <p:nvPr/>
          </p:nvSpPr>
          <p:spPr>
            <a:xfrm>
              <a:off x="0" y="0"/>
              <a:ext cx="9875520" cy="4408678"/>
            </a:xfrm>
            <a:custGeom>
              <a:avLst/>
              <a:gdLst/>
              <a:ahLst/>
              <a:cxnLst/>
              <a:rect l="l" t="t" r="r" b="b"/>
              <a:pathLst>
                <a:path w="9875520" h="4408678">
                  <a:moveTo>
                    <a:pt x="0" y="0"/>
                  </a:moveTo>
                  <a:lnTo>
                    <a:pt x="9875520" y="0"/>
                  </a:lnTo>
                  <a:lnTo>
                    <a:pt x="9875520" y="4408678"/>
                  </a:lnTo>
                  <a:lnTo>
                    <a:pt x="0" y="4408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70"/>
              </a:stretch>
            </a:blipFill>
          </p:spPr>
        </p:sp>
      </p:grpSp>
      <p:grpSp>
        <p:nvGrpSpPr>
          <p:cNvPr id="26" name="Group 26"/>
          <p:cNvGrpSpPr/>
          <p:nvPr/>
        </p:nvGrpSpPr>
        <p:grpSpPr>
          <a:xfrm>
            <a:off x="1234440" y="9355293"/>
            <a:ext cx="7406640" cy="411480"/>
            <a:chOff x="0" y="0"/>
            <a:chExt cx="9875520" cy="54864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9875520" cy="548640"/>
            </a:xfrm>
            <a:custGeom>
              <a:avLst/>
              <a:gdLst/>
              <a:ahLst/>
              <a:cxnLst/>
              <a:rect l="l" t="t" r="r" b="b"/>
              <a:pathLst>
                <a:path w="9875520" h="54864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30" b="-300730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23A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Department Analytics Dashboard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409176" y="5911596"/>
            <a:ext cx="7516368" cy="3416265"/>
            <a:chOff x="0" y="0"/>
            <a:chExt cx="10021824" cy="45550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0021824" cy="4554982"/>
            </a:xfrm>
            <a:custGeom>
              <a:avLst/>
              <a:gdLst/>
              <a:ahLst/>
              <a:cxnLst/>
              <a:rect l="l" t="t" r="r" b="b"/>
              <a:pathLst>
                <a:path w="10021824" h="4554982">
                  <a:moveTo>
                    <a:pt x="0" y="54864"/>
                  </a:moveTo>
                  <a:cubicBezTo>
                    <a:pt x="0" y="24511"/>
                    <a:pt x="24511" y="0"/>
                    <a:pt x="54864" y="0"/>
                  </a:cubicBezTo>
                  <a:lnTo>
                    <a:pt x="9966960" y="0"/>
                  </a:lnTo>
                  <a:cubicBezTo>
                    <a:pt x="9997186" y="0"/>
                    <a:pt x="10021824" y="24511"/>
                    <a:pt x="10021824" y="54864"/>
                  </a:cubicBezTo>
                  <a:lnTo>
                    <a:pt x="10021824" y="4500118"/>
                  </a:lnTo>
                  <a:cubicBezTo>
                    <a:pt x="10021824" y="4530344"/>
                    <a:pt x="9997313" y="4554982"/>
                    <a:pt x="9966960" y="4554982"/>
                  </a:cubicBezTo>
                  <a:lnTo>
                    <a:pt x="54864" y="4554982"/>
                  </a:lnTo>
                  <a:cubicBezTo>
                    <a:pt x="24638" y="4554982"/>
                    <a:pt x="0" y="4530471"/>
                    <a:pt x="0" y="4500118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464040" y="5966460"/>
            <a:ext cx="7406640" cy="3306537"/>
            <a:chOff x="0" y="0"/>
            <a:chExt cx="9875520" cy="4408716"/>
          </a:xfrm>
        </p:grpSpPr>
        <p:sp>
          <p:nvSpPr>
            <p:cNvPr id="32" name="Freeform 32" descr="/home/claude/m4_deck/img/resource_utilization.png"/>
            <p:cNvSpPr/>
            <p:nvPr/>
          </p:nvSpPr>
          <p:spPr>
            <a:xfrm>
              <a:off x="0" y="0"/>
              <a:ext cx="9875520" cy="4408678"/>
            </a:xfrm>
            <a:custGeom>
              <a:avLst/>
              <a:gdLst/>
              <a:ahLst/>
              <a:cxnLst/>
              <a:rect l="l" t="t" r="r" b="b"/>
              <a:pathLst>
                <a:path w="9875520" h="4408678">
                  <a:moveTo>
                    <a:pt x="0" y="0"/>
                  </a:moveTo>
                  <a:lnTo>
                    <a:pt x="9875520" y="0"/>
                  </a:lnTo>
                  <a:lnTo>
                    <a:pt x="9875520" y="4408678"/>
                  </a:lnTo>
                  <a:lnTo>
                    <a:pt x="0" y="44086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056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9464040" y="9355293"/>
            <a:ext cx="7406640" cy="411480"/>
            <a:chOff x="0" y="0"/>
            <a:chExt cx="9875520" cy="5486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9875520" cy="548640"/>
            </a:xfrm>
            <a:custGeom>
              <a:avLst/>
              <a:gdLst/>
              <a:ahLst/>
              <a:cxnLst/>
              <a:rect l="l" t="t" r="r" b="b"/>
              <a:pathLst>
                <a:path w="9875520" h="548640">
                  <a:moveTo>
                    <a:pt x="0" y="0"/>
                  </a:moveTo>
                  <a:lnTo>
                    <a:pt x="9875520" y="0"/>
                  </a:lnTo>
                  <a:lnTo>
                    <a:pt x="9875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0730" b="-30073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987552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 b="1">
                  <a:solidFill>
                    <a:srgbClr val="123A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Resource Utilization Dashboard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Introduction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328416" y="0"/>
                  </a:lnTo>
                  <a:cubicBezTo>
                    <a:pt x="3510280" y="0"/>
                    <a:pt x="3657600" y="147320"/>
                    <a:pt x="3657600" y="329184"/>
                  </a:cubicBezTo>
                  <a:cubicBezTo>
                    <a:pt x="3657600" y="511048"/>
                    <a:pt x="3510280" y="658368"/>
                    <a:pt x="332841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6576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3FC7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40480" y="384048"/>
            <a:ext cx="13578840" cy="685800"/>
            <a:chOff x="0" y="0"/>
            <a:chExt cx="1810512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05120" cy="914400"/>
            </a:xfrm>
            <a:custGeom>
              <a:avLst/>
              <a:gdLst/>
              <a:ahLst/>
              <a:cxnLst/>
              <a:rect l="l" t="t" r="r" b="b"/>
              <a:pathLst>
                <a:path w="18105120" h="91440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803" b="-3358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81051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Testing &amp; Validation – Objectives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40480" y="1042416"/>
            <a:ext cx="13578840" cy="480060"/>
            <a:chOff x="0" y="0"/>
            <a:chExt cx="1810512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05120" cy="640080"/>
            </a:xfrm>
            <a:custGeom>
              <a:avLst/>
              <a:gdLst/>
              <a:ahLst/>
              <a:cxnLst/>
              <a:rect l="l" t="t" r="r" b="b"/>
              <a:pathLst>
                <a:path w="18105120" h="640080">
                  <a:moveTo>
                    <a:pt x="0" y="0"/>
                  </a:moveTo>
                  <a:lnTo>
                    <a:pt x="18105120" y="0"/>
                  </a:lnTo>
                  <a:lnTo>
                    <a:pt x="18105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1148" b="-50114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1051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What this module set out to verify before the project could be marked complete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2960" y="2606040"/>
            <a:ext cx="630936" cy="630936"/>
            <a:chOff x="0" y="0"/>
            <a:chExt cx="841248" cy="8412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61768" y="2744848"/>
            <a:ext cx="353320" cy="353320"/>
            <a:chOff x="0" y="0"/>
            <a:chExt cx="471094" cy="471094"/>
          </a:xfrm>
        </p:grpSpPr>
        <p:sp>
          <p:nvSpPr>
            <p:cNvPr id="16" name="Freeform 16" descr="/home/claude/m4_deck/img/icons/barchart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0" b="-10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645920" y="2564892"/>
            <a:ext cx="8915400" cy="384048"/>
            <a:chOff x="0" y="0"/>
            <a:chExt cx="11887200" cy="5120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887200" cy="512064"/>
            </a:xfrm>
            <a:custGeom>
              <a:avLst/>
              <a:gdLst/>
              <a:ahLst/>
              <a:cxnLst/>
              <a:rect l="l" t="t" r="r" b="b"/>
              <a:pathLst>
                <a:path w="11887200" h="512064">
                  <a:moveTo>
                    <a:pt x="0" y="0"/>
                  </a:moveTo>
                  <a:lnTo>
                    <a:pt x="11887200" y="0"/>
                  </a:lnTo>
                  <a:lnTo>
                    <a:pt x="11887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331" b="-40233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188720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Validate KPI Calculations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37360" y="2961894"/>
            <a:ext cx="873252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Every one of the 19 KPIs recalculated independently and checked against the value shown on its Tableau dashboard.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22960" y="4183380"/>
            <a:ext cx="630936" cy="630936"/>
            <a:chOff x="0" y="0"/>
            <a:chExt cx="841248" cy="8412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61768" y="4322188"/>
            <a:ext cx="353320" cy="353320"/>
            <a:chOff x="0" y="0"/>
            <a:chExt cx="471094" cy="471094"/>
          </a:xfrm>
        </p:grpSpPr>
        <p:sp>
          <p:nvSpPr>
            <p:cNvPr id="24" name="Freeform 24" descr="/home/claude/m4_deck/img/icons/heart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0" b="-10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645920" y="4142232"/>
            <a:ext cx="8915400" cy="384048"/>
            <a:chOff x="0" y="0"/>
            <a:chExt cx="11887200" cy="51206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887200" cy="512064"/>
            </a:xfrm>
            <a:custGeom>
              <a:avLst/>
              <a:gdLst/>
              <a:ahLst/>
              <a:cxnLst/>
              <a:rect l="l" t="t" r="r" b="b"/>
              <a:pathLst>
                <a:path w="11887200" h="512064">
                  <a:moveTo>
                    <a:pt x="0" y="0"/>
                  </a:moveTo>
                  <a:lnTo>
                    <a:pt x="11887200" y="0"/>
                  </a:lnTo>
                  <a:lnTo>
                    <a:pt x="11887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331" b="-402331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188720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Verify Healthcare Metrics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37360" y="4539234"/>
            <a:ext cx="873252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Confirmed that hospital performance, patient flow, department, and resource metrics all reflect the underlying dataset accurately.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22960" y="5760720"/>
            <a:ext cx="630936" cy="630936"/>
            <a:chOff x="0" y="0"/>
            <a:chExt cx="841248" cy="8412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61768" y="5899528"/>
            <a:ext cx="353320" cy="353320"/>
            <a:chOff x="0" y="0"/>
            <a:chExt cx="471094" cy="471094"/>
          </a:xfrm>
        </p:grpSpPr>
        <p:sp>
          <p:nvSpPr>
            <p:cNvPr id="32" name="Freeform 32" descr="/home/claude/m4_deck/img/icons/monitor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0" b="-10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645920" y="5719572"/>
            <a:ext cx="8915400" cy="384048"/>
            <a:chOff x="0" y="0"/>
            <a:chExt cx="11887200" cy="51206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887200" cy="512064"/>
            </a:xfrm>
            <a:custGeom>
              <a:avLst/>
              <a:gdLst/>
              <a:ahLst/>
              <a:cxnLst/>
              <a:rect l="l" t="t" r="r" b="b"/>
              <a:pathLst>
                <a:path w="11887200" h="512064">
                  <a:moveTo>
                    <a:pt x="0" y="0"/>
                  </a:moveTo>
                  <a:lnTo>
                    <a:pt x="11887200" y="0"/>
                  </a:lnTo>
                  <a:lnTo>
                    <a:pt x="11887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331" b="-40233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188720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Dashboard Interactions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737360" y="6116574"/>
            <a:ext cx="873252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Every button, filter, and navigation control tested across all four dashboards.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822960" y="7338060"/>
            <a:ext cx="630936" cy="630936"/>
            <a:chOff x="0" y="0"/>
            <a:chExt cx="841248" cy="84124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61768" y="7476868"/>
            <a:ext cx="353320" cy="353320"/>
            <a:chOff x="0" y="0"/>
            <a:chExt cx="471094" cy="471094"/>
          </a:xfrm>
        </p:grpSpPr>
        <p:sp>
          <p:nvSpPr>
            <p:cNvPr id="40" name="Freeform 40" descr="/home/claude/m4_deck/img/icons/activity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0" b="-10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1645920" y="7296912"/>
            <a:ext cx="8915400" cy="384048"/>
            <a:chOff x="0" y="0"/>
            <a:chExt cx="11887200" cy="51206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1887200" cy="512064"/>
            </a:xfrm>
            <a:custGeom>
              <a:avLst/>
              <a:gdLst/>
              <a:ahLst/>
              <a:cxnLst/>
              <a:rect l="l" t="t" r="r" b="b"/>
              <a:pathLst>
                <a:path w="11887200" h="512064">
                  <a:moveTo>
                    <a:pt x="0" y="0"/>
                  </a:moveTo>
                  <a:lnTo>
                    <a:pt x="11887200" y="0"/>
                  </a:lnTo>
                  <a:lnTo>
                    <a:pt x="11887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331" b="-402331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1188720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Validate Patient Flow Analytics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737360" y="7693914"/>
            <a:ext cx="873252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Patient movement, admissions, severity, and discharge analytics checked for consistency across dashboards.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1041380" y="2606040"/>
            <a:ext cx="6377940" cy="6309360"/>
            <a:chOff x="0" y="0"/>
            <a:chExt cx="8503920" cy="841248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503920" cy="8412480"/>
            </a:xfrm>
            <a:custGeom>
              <a:avLst/>
              <a:gdLst/>
              <a:ahLst/>
              <a:cxnLst/>
              <a:rect l="l" t="t" r="r" b="b"/>
              <a:pathLst>
                <a:path w="8503920" h="841248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357616" y="0"/>
                  </a:lnTo>
                  <a:cubicBezTo>
                    <a:pt x="8438388" y="0"/>
                    <a:pt x="8503920" y="65532"/>
                    <a:pt x="8503920" y="146304"/>
                  </a:cubicBezTo>
                  <a:lnTo>
                    <a:pt x="8503920" y="8266176"/>
                  </a:lnTo>
                  <a:cubicBezTo>
                    <a:pt x="8503920" y="8346948"/>
                    <a:pt x="8438388" y="8412480"/>
                    <a:pt x="8357616" y="8412480"/>
                  </a:cubicBezTo>
                  <a:lnTo>
                    <a:pt x="146304" y="8412480"/>
                  </a:lnTo>
                  <a:cubicBezTo>
                    <a:pt x="65532" y="8412480"/>
                    <a:pt x="0" y="8346948"/>
                    <a:pt x="0" y="8266176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1384280" y="2880360"/>
            <a:ext cx="5692140" cy="548640"/>
            <a:chOff x="0" y="0"/>
            <a:chExt cx="7589520" cy="731520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589520" cy="731520"/>
            </a:xfrm>
            <a:custGeom>
              <a:avLst/>
              <a:gdLst/>
              <a:ahLst/>
              <a:cxnLst/>
              <a:rect l="l" t="t" r="r" b="b"/>
              <a:pathLst>
                <a:path w="7589520" h="731520">
                  <a:moveTo>
                    <a:pt x="0" y="0"/>
                  </a:moveTo>
                  <a:lnTo>
                    <a:pt x="7589520" y="0"/>
                  </a:lnTo>
                  <a:lnTo>
                    <a:pt x="758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2157" b="-152157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7589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3FC7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7 Deliverables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1384280" y="3634740"/>
            <a:ext cx="685800" cy="685800"/>
            <a:chOff x="0" y="0"/>
            <a:chExt cx="914400" cy="9144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1535156" y="3785616"/>
            <a:ext cx="384048" cy="384048"/>
            <a:chOff x="0" y="0"/>
            <a:chExt cx="512064" cy="512064"/>
          </a:xfrm>
        </p:grpSpPr>
        <p:sp>
          <p:nvSpPr>
            <p:cNvPr id="53" name="Freeform 53" descr="/home/claude/m4_deck/img/icons/checksquare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grpSp>
        <p:nvGrpSpPr>
          <p:cNvPr id="54" name="Group 54"/>
          <p:cNvGrpSpPr/>
          <p:nvPr/>
        </p:nvGrpSpPr>
        <p:grpSpPr>
          <a:xfrm>
            <a:off x="12275820" y="3703320"/>
            <a:ext cx="4800600" cy="548640"/>
            <a:chOff x="0" y="0"/>
            <a:chExt cx="6400800" cy="73152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QA Checklist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1384280" y="4457700"/>
            <a:ext cx="5692140" cy="960120"/>
            <a:chOff x="0" y="0"/>
            <a:chExt cx="7589520" cy="1280160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589520" cy="1280160"/>
            </a:xfrm>
            <a:custGeom>
              <a:avLst/>
              <a:gdLst/>
              <a:ahLst/>
              <a:cxnLst/>
              <a:rect l="l" t="t" r="r" b="b"/>
              <a:pathLst>
                <a:path w="7589520" h="1280160">
                  <a:moveTo>
                    <a:pt x="0" y="0"/>
                  </a:moveTo>
                  <a:lnTo>
                    <a:pt x="7589520" y="0"/>
                  </a:lnTo>
                  <a:lnTo>
                    <a:pt x="75895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518" b="-65518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758952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6E4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Test-case-level detail covering functional, KPI, filter, and navigation testing.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384280" y="5623560"/>
            <a:ext cx="685800" cy="685800"/>
            <a:chOff x="0" y="0"/>
            <a:chExt cx="914400" cy="91440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62" name="Group 62"/>
          <p:cNvGrpSpPr/>
          <p:nvPr/>
        </p:nvGrpSpPr>
        <p:grpSpPr>
          <a:xfrm>
            <a:off x="11535156" y="5774436"/>
            <a:ext cx="384048" cy="384048"/>
            <a:chOff x="0" y="0"/>
            <a:chExt cx="512064" cy="512064"/>
          </a:xfrm>
        </p:grpSpPr>
        <p:sp>
          <p:nvSpPr>
            <p:cNvPr id="63" name="Freeform 63" descr="/home/claude/m4_deck/img/icons/clipboard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grpSp>
        <p:nvGrpSpPr>
          <p:cNvPr id="64" name="Group 64"/>
          <p:cNvGrpSpPr/>
          <p:nvPr/>
        </p:nvGrpSpPr>
        <p:grpSpPr>
          <a:xfrm>
            <a:off x="12275820" y="5692140"/>
            <a:ext cx="4800600" cy="548640"/>
            <a:chOff x="0" y="0"/>
            <a:chExt cx="6400800" cy="73152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Testing Report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1384280" y="6446520"/>
            <a:ext cx="5692140" cy="960120"/>
            <a:chOff x="0" y="0"/>
            <a:chExt cx="7589520" cy="128016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589520" cy="1280160"/>
            </a:xfrm>
            <a:custGeom>
              <a:avLst/>
              <a:gdLst/>
              <a:ahLst/>
              <a:cxnLst/>
              <a:rect l="l" t="t" r="r" b="b"/>
              <a:pathLst>
                <a:path w="7589520" h="1280160">
                  <a:moveTo>
                    <a:pt x="0" y="0"/>
                  </a:moveTo>
                  <a:lnTo>
                    <a:pt x="7589520" y="0"/>
                  </a:lnTo>
                  <a:lnTo>
                    <a:pt x="758952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5518" b="-65518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19050"/>
              <a:ext cx="7589520" cy="12992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D6E4E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summary-level report of the full testing cycle, prepared for review.</a:t>
              </a:r>
            </a:p>
          </p:txBody>
        </p:sp>
      </p:grpSp>
      <p:sp>
        <p:nvSpPr>
          <p:cNvPr id="70" name="AutoShape 70"/>
          <p:cNvSpPr/>
          <p:nvPr/>
        </p:nvSpPr>
        <p:spPr>
          <a:xfrm rot="11460">
            <a:off x="11374736" y="7607618"/>
            <a:ext cx="5711219" cy="0"/>
          </a:xfrm>
          <a:prstGeom prst="line">
            <a:avLst/>
          </a:prstGeom>
          <a:ln w="9525" cap="rnd">
            <a:solidFill>
              <a:srgbClr val="35557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1" name="Group 71"/>
          <p:cNvGrpSpPr/>
          <p:nvPr/>
        </p:nvGrpSpPr>
        <p:grpSpPr>
          <a:xfrm>
            <a:off x="11384280" y="7818120"/>
            <a:ext cx="5692140" cy="822960"/>
            <a:chOff x="0" y="0"/>
            <a:chExt cx="7589520" cy="1097280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589520" cy="1097280"/>
            </a:xfrm>
            <a:custGeom>
              <a:avLst/>
              <a:gdLst/>
              <a:ahLst/>
              <a:cxnLst/>
              <a:rect l="l" t="t" r="r" b="b"/>
              <a:pathLst>
                <a:path w="7589520" h="1097280">
                  <a:moveTo>
                    <a:pt x="0" y="0"/>
                  </a:moveTo>
                  <a:lnTo>
                    <a:pt x="7589520" y="0"/>
                  </a:lnTo>
                  <a:lnTo>
                    <a:pt x="758952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4771" b="-84771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-38100"/>
              <a:ext cx="758952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i="1">
                  <a:solidFill>
                    <a:srgbClr val="3FC7C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Evaluation target: No major dashboard issues, KPI accuracy above 95%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7 – Testing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328416" y="0"/>
                  </a:lnTo>
                  <a:cubicBezTo>
                    <a:pt x="3510280" y="0"/>
                    <a:pt x="3657600" y="147320"/>
                    <a:pt x="3657600" y="329184"/>
                  </a:cubicBezTo>
                  <a:cubicBezTo>
                    <a:pt x="3657600" y="511048"/>
                    <a:pt x="3510280" y="658368"/>
                    <a:pt x="332841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6576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3FC7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40480" y="384048"/>
            <a:ext cx="13578840" cy="685800"/>
            <a:chOff x="0" y="0"/>
            <a:chExt cx="1810512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05120" cy="914400"/>
            </a:xfrm>
            <a:custGeom>
              <a:avLst/>
              <a:gdLst/>
              <a:ahLst/>
              <a:cxnLst/>
              <a:rect l="l" t="t" r="r" b="b"/>
              <a:pathLst>
                <a:path w="18105120" h="91440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803" b="-3358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81051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Testing Approach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40480" y="1042416"/>
            <a:ext cx="13578840" cy="480060"/>
            <a:chOff x="0" y="0"/>
            <a:chExt cx="1810512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05120" cy="640080"/>
            </a:xfrm>
            <a:custGeom>
              <a:avLst/>
              <a:gdLst/>
              <a:ahLst/>
              <a:cxnLst/>
              <a:rect l="l" t="t" r="r" b="b"/>
              <a:pathLst>
                <a:path w="18105120" h="640080">
                  <a:moveTo>
                    <a:pt x="0" y="0"/>
                  </a:moveTo>
                  <a:lnTo>
                    <a:pt x="18105120" y="0"/>
                  </a:lnTo>
                  <a:lnTo>
                    <a:pt x="18105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1148" b="-50114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1051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Six categories of testing were applied across all four dashboards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15816" y="2598896"/>
            <a:ext cx="5363528" cy="2688908"/>
            <a:chOff x="0" y="0"/>
            <a:chExt cx="7151370" cy="35852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151370" cy="3585210"/>
            </a:xfrm>
            <a:custGeom>
              <a:avLst/>
              <a:gdLst/>
              <a:ahLst/>
              <a:cxnLst/>
              <a:rect l="l" t="t" r="r" b="b"/>
              <a:pathLst>
                <a:path w="7151370" h="3585210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7022719" y="0"/>
                  </a:lnTo>
                  <a:cubicBezTo>
                    <a:pt x="7093838" y="0"/>
                    <a:pt x="7151370" y="57658"/>
                    <a:pt x="7151370" y="128651"/>
                  </a:cubicBezTo>
                  <a:lnTo>
                    <a:pt x="7151370" y="3456559"/>
                  </a:lnTo>
                  <a:cubicBezTo>
                    <a:pt x="7151370" y="3527679"/>
                    <a:pt x="7093712" y="3585210"/>
                    <a:pt x="7022719" y="3585210"/>
                  </a:cubicBezTo>
                  <a:lnTo>
                    <a:pt x="128651" y="3585210"/>
                  </a:lnTo>
                  <a:cubicBezTo>
                    <a:pt x="57658" y="3585210"/>
                    <a:pt x="0" y="3527552"/>
                    <a:pt x="0" y="345655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097280" y="2880360"/>
            <a:ext cx="754380" cy="754380"/>
            <a:chOff x="0" y="0"/>
            <a:chExt cx="1005840" cy="10058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263244" y="3046324"/>
            <a:ext cx="422453" cy="422453"/>
            <a:chOff x="0" y="0"/>
            <a:chExt cx="563270" cy="563270"/>
          </a:xfrm>
        </p:grpSpPr>
        <p:sp>
          <p:nvSpPr>
            <p:cNvPr id="18" name="Freeform 18" descr="/home/claude/m4_deck/img/icons/checkcircle.png"/>
            <p:cNvSpPr/>
            <p:nvPr/>
          </p:nvSpPr>
          <p:spPr>
            <a:xfrm>
              <a:off x="0" y="0"/>
              <a:ext cx="563245" cy="563245"/>
            </a:xfrm>
            <a:custGeom>
              <a:avLst/>
              <a:gdLst/>
              <a:ahLst/>
              <a:cxnLst/>
              <a:rect l="l" t="t" r="r" b="b"/>
              <a:pathLst>
                <a:path w="563245" h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4" b="-4"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097280" y="3840480"/>
            <a:ext cx="4800600" cy="548640"/>
            <a:chOff x="0" y="0"/>
            <a:chExt cx="640080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Functional Testing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97280" y="4361688"/>
            <a:ext cx="4800600" cy="822960"/>
            <a:chOff x="0" y="0"/>
            <a:chExt cx="6400800" cy="109728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80">
                  <a:moveTo>
                    <a:pt x="0" y="0"/>
                  </a:moveTo>
                  <a:lnTo>
                    <a:pt x="6400800" y="0"/>
                  </a:lnTo>
                  <a:lnTo>
                    <a:pt x="6400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640080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dashboard, button, and chart tested for correct load and behavior.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370796" y="2598896"/>
            <a:ext cx="5363528" cy="2688908"/>
            <a:chOff x="0" y="0"/>
            <a:chExt cx="7151370" cy="35852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7151370" cy="3585210"/>
            </a:xfrm>
            <a:custGeom>
              <a:avLst/>
              <a:gdLst/>
              <a:ahLst/>
              <a:cxnLst/>
              <a:rect l="l" t="t" r="r" b="b"/>
              <a:pathLst>
                <a:path w="7151370" h="3585210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7022719" y="0"/>
                  </a:lnTo>
                  <a:cubicBezTo>
                    <a:pt x="7093838" y="0"/>
                    <a:pt x="7151370" y="57658"/>
                    <a:pt x="7151370" y="128651"/>
                  </a:cubicBezTo>
                  <a:lnTo>
                    <a:pt x="7151370" y="3456559"/>
                  </a:lnTo>
                  <a:cubicBezTo>
                    <a:pt x="7151370" y="3527679"/>
                    <a:pt x="7093712" y="3585210"/>
                    <a:pt x="7022719" y="3585210"/>
                  </a:cubicBezTo>
                  <a:lnTo>
                    <a:pt x="128651" y="3585210"/>
                  </a:lnTo>
                  <a:cubicBezTo>
                    <a:pt x="57658" y="3585210"/>
                    <a:pt x="0" y="3527552"/>
                    <a:pt x="0" y="345655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6652260" y="2880360"/>
            <a:ext cx="754380" cy="754380"/>
            <a:chOff x="0" y="0"/>
            <a:chExt cx="1005840" cy="10058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6818224" y="3046324"/>
            <a:ext cx="422453" cy="422453"/>
            <a:chOff x="0" y="0"/>
            <a:chExt cx="563270" cy="563270"/>
          </a:xfrm>
        </p:grpSpPr>
        <p:sp>
          <p:nvSpPr>
            <p:cNvPr id="30" name="Freeform 30" descr="/home/claude/m4_deck/img/icons/barchart.png"/>
            <p:cNvSpPr/>
            <p:nvPr/>
          </p:nvSpPr>
          <p:spPr>
            <a:xfrm>
              <a:off x="0" y="0"/>
              <a:ext cx="563245" cy="563245"/>
            </a:xfrm>
            <a:custGeom>
              <a:avLst/>
              <a:gdLst/>
              <a:ahLst/>
              <a:cxnLst/>
              <a:rect l="l" t="t" r="r" b="b"/>
              <a:pathLst>
                <a:path w="563245" h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4" b="-4"/>
              </a:stretch>
            </a:blipFill>
          </p:spPr>
        </p:sp>
      </p:grpSp>
      <p:grpSp>
        <p:nvGrpSpPr>
          <p:cNvPr id="31" name="Group 31"/>
          <p:cNvGrpSpPr/>
          <p:nvPr/>
        </p:nvGrpSpPr>
        <p:grpSpPr>
          <a:xfrm>
            <a:off x="6652260" y="3840480"/>
            <a:ext cx="4800600" cy="548640"/>
            <a:chOff x="0" y="0"/>
            <a:chExt cx="6400800" cy="73152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 Validation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652260" y="4361688"/>
            <a:ext cx="4800600" cy="822960"/>
            <a:chOff x="0" y="0"/>
            <a:chExt cx="6400800" cy="109728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80">
                  <a:moveTo>
                    <a:pt x="0" y="0"/>
                  </a:moveTo>
                  <a:lnTo>
                    <a:pt x="6400800" y="0"/>
                  </a:lnTo>
                  <a:lnTo>
                    <a:pt x="6400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640080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19 KPIs recalculated independently and matched to dashboard values.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925776" y="2598896"/>
            <a:ext cx="5363528" cy="2688908"/>
            <a:chOff x="0" y="0"/>
            <a:chExt cx="7151370" cy="358521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151370" cy="3585210"/>
            </a:xfrm>
            <a:custGeom>
              <a:avLst/>
              <a:gdLst/>
              <a:ahLst/>
              <a:cxnLst/>
              <a:rect l="l" t="t" r="r" b="b"/>
              <a:pathLst>
                <a:path w="7151370" h="3585210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7022719" y="0"/>
                  </a:lnTo>
                  <a:cubicBezTo>
                    <a:pt x="7093838" y="0"/>
                    <a:pt x="7151370" y="57658"/>
                    <a:pt x="7151370" y="128651"/>
                  </a:cubicBezTo>
                  <a:lnTo>
                    <a:pt x="7151370" y="3456559"/>
                  </a:lnTo>
                  <a:cubicBezTo>
                    <a:pt x="7151370" y="3527679"/>
                    <a:pt x="7093712" y="3585210"/>
                    <a:pt x="7022719" y="3585210"/>
                  </a:cubicBezTo>
                  <a:lnTo>
                    <a:pt x="128651" y="3585210"/>
                  </a:lnTo>
                  <a:cubicBezTo>
                    <a:pt x="57658" y="3585210"/>
                    <a:pt x="0" y="3527552"/>
                    <a:pt x="0" y="345655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2207240" y="2880360"/>
            <a:ext cx="754380" cy="754380"/>
            <a:chOff x="0" y="0"/>
            <a:chExt cx="1005840" cy="10058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2373204" y="3046324"/>
            <a:ext cx="422453" cy="422453"/>
            <a:chOff x="0" y="0"/>
            <a:chExt cx="563270" cy="563270"/>
          </a:xfrm>
        </p:grpSpPr>
        <p:sp>
          <p:nvSpPr>
            <p:cNvPr id="42" name="Freeform 42" descr="/home/claude/m4_deck/img/icons/filter.png"/>
            <p:cNvSpPr/>
            <p:nvPr/>
          </p:nvSpPr>
          <p:spPr>
            <a:xfrm>
              <a:off x="0" y="0"/>
              <a:ext cx="563245" cy="563245"/>
            </a:xfrm>
            <a:custGeom>
              <a:avLst/>
              <a:gdLst/>
              <a:ahLst/>
              <a:cxnLst/>
              <a:rect l="l" t="t" r="r" b="b"/>
              <a:pathLst>
                <a:path w="563245" h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4" b="-4"/>
              </a:stretch>
            </a:blipFill>
          </p:spPr>
        </p:sp>
      </p:grpSp>
      <p:grpSp>
        <p:nvGrpSpPr>
          <p:cNvPr id="43" name="Group 43"/>
          <p:cNvGrpSpPr/>
          <p:nvPr/>
        </p:nvGrpSpPr>
        <p:grpSpPr>
          <a:xfrm>
            <a:off x="12207240" y="3840480"/>
            <a:ext cx="4800600" cy="548640"/>
            <a:chOff x="0" y="0"/>
            <a:chExt cx="6400800" cy="73152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Filter Testing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12207240" y="4361688"/>
            <a:ext cx="4800600" cy="822960"/>
            <a:chOff x="0" y="0"/>
            <a:chExt cx="6400800" cy="109728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80">
                  <a:moveTo>
                    <a:pt x="0" y="0"/>
                  </a:moveTo>
                  <a:lnTo>
                    <a:pt x="6400800" y="0"/>
                  </a:lnTo>
                  <a:lnTo>
                    <a:pt x="6400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640080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Every filter tested individually and in combination across all four dashboards.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15816" y="5547836"/>
            <a:ext cx="5363528" cy="2688908"/>
            <a:chOff x="0" y="0"/>
            <a:chExt cx="7151370" cy="358521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7151370" cy="3585210"/>
            </a:xfrm>
            <a:custGeom>
              <a:avLst/>
              <a:gdLst/>
              <a:ahLst/>
              <a:cxnLst/>
              <a:rect l="l" t="t" r="r" b="b"/>
              <a:pathLst>
                <a:path w="7151370" h="3585210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7022719" y="0"/>
                  </a:lnTo>
                  <a:cubicBezTo>
                    <a:pt x="7093838" y="0"/>
                    <a:pt x="7151370" y="57658"/>
                    <a:pt x="7151370" y="128651"/>
                  </a:cubicBezTo>
                  <a:lnTo>
                    <a:pt x="7151370" y="3456559"/>
                  </a:lnTo>
                  <a:cubicBezTo>
                    <a:pt x="7151370" y="3527679"/>
                    <a:pt x="7093712" y="3585210"/>
                    <a:pt x="7022719" y="3585210"/>
                  </a:cubicBezTo>
                  <a:lnTo>
                    <a:pt x="128651" y="3585210"/>
                  </a:lnTo>
                  <a:cubicBezTo>
                    <a:pt x="57658" y="3585210"/>
                    <a:pt x="0" y="3527552"/>
                    <a:pt x="0" y="345655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1097280" y="5829300"/>
            <a:ext cx="754380" cy="754380"/>
            <a:chOff x="0" y="0"/>
            <a:chExt cx="1005840" cy="10058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1263244" y="5995264"/>
            <a:ext cx="422453" cy="422453"/>
            <a:chOff x="0" y="0"/>
            <a:chExt cx="563270" cy="563270"/>
          </a:xfrm>
        </p:grpSpPr>
        <p:sp>
          <p:nvSpPr>
            <p:cNvPr id="54" name="Freeform 54" descr="/home/claude/m4_deck/img/icons/link.png"/>
            <p:cNvSpPr/>
            <p:nvPr/>
          </p:nvSpPr>
          <p:spPr>
            <a:xfrm>
              <a:off x="0" y="0"/>
              <a:ext cx="563245" cy="563245"/>
            </a:xfrm>
            <a:custGeom>
              <a:avLst/>
              <a:gdLst/>
              <a:ahLst/>
              <a:cxnLst/>
              <a:rect l="l" t="t" r="r" b="b"/>
              <a:pathLst>
                <a:path w="563245" h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4" b="-4"/>
              </a:stretch>
            </a:blipFill>
          </p:spPr>
        </p:sp>
      </p:grpSp>
      <p:grpSp>
        <p:nvGrpSpPr>
          <p:cNvPr id="55" name="Group 55"/>
          <p:cNvGrpSpPr/>
          <p:nvPr/>
        </p:nvGrpSpPr>
        <p:grpSpPr>
          <a:xfrm>
            <a:off x="1097280" y="6789420"/>
            <a:ext cx="4800600" cy="548640"/>
            <a:chOff x="0" y="0"/>
            <a:chExt cx="6400800" cy="73152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Navigation Testing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97280" y="7310628"/>
            <a:ext cx="4800600" cy="822960"/>
            <a:chOff x="0" y="0"/>
            <a:chExt cx="6400800" cy="109728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80">
                  <a:moveTo>
                    <a:pt x="0" y="0"/>
                  </a:moveTo>
                  <a:lnTo>
                    <a:pt x="6400800" y="0"/>
                  </a:lnTo>
                  <a:lnTo>
                    <a:pt x="6400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38100"/>
              <a:ext cx="640080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Home, Dashboards, and About buttons verified across every screen.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370796" y="5547836"/>
            <a:ext cx="5363528" cy="2688908"/>
            <a:chOff x="0" y="0"/>
            <a:chExt cx="7151370" cy="358521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7151370" cy="3585210"/>
            </a:xfrm>
            <a:custGeom>
              <a:avLst/>
              <a:gdLst/>
              <a:ahLst/>
              <a:cxnLst/>
              <a:rect l="l" t="t" r="r" b="b"/>
              <a:pathLst>
                <a:path w="7151370" h="3585210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7022719" y="0"/>
                  </a:lnTo>
                  <a:cubicBezTo>
                    <a:pt x="7093838" y="0"/>
                    <a:pt x="7151370" y="57658"/>
                    <a:pt x="7151370" y="128651"/>
                  </a:cubicBezTo>
                  <a:lnTo>
                    <a:pt x="7151370" y="3456559"/>
                  </a:lnTo>
                  <a:cubicBezTo>
                    <a:pt x="7151370" y="3527679"/>
                    <a:pt x="7093712" y="3585210"/>
                    <a:pt x="7022719" y="3585210"/>
                  </a:cubicBezTo>
                  <a:lnTo>
                    <a:pt x="128651" y="3585210"/>
                  </a:lnTo>
                  <a:cubicBezTo>
                    <a:pt x="57658" y="3585210"/>
                    <a:pt x="0" y="3527552"/>
                    <a:pt x="0" y="345655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63" name="Group 63"/>
          <p:cNvGrpSpPr/>
          <p:nvPr/>
        </p:nvGrpSpPr>
        <p:grpSpPr>
          <a:xfrm>
            <a:off x="6652260" y="5829300"/>
            <a:ext cx="754380" cy="754380"/>
            <a:chOff x="0" y="0"/>
            <a:chExt cx="1005840" cy="100584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65" name="Group 65"/>
          <p:cNvGrpSpPr/>
          <p:nvPr/>
        </p:nvGrpSpPr>
        <p:grpSpPr>
          <a:xfrm>
            <a:off x="6818224" y="5995264"/>
            <a:ext cx="422453" cy="422453"/>
            <a:chOff x="0" y="0"/>
            <a:chExt cx="563270" cy="563270"/>
          </a:xfrm>
        </p:grpSpPr>
        <p:sp>
          <p:nvSpPr>
            <p:cNvPr id="66" name="Freeform 66" descr="/home/claude/m4_deck/img/icons/pie.png"/>
            <p:cNvSpPr/>
            <p:nvPr/>
          </p:nvSpPr>
          <p:spPr>
            <a:xfrm>
              <a:off x="0" y="0"/>
              <a:ext cx="563245" cy="563245"/>
            </a:xfrm>
            <a:custGeom>
              <a:avLst/>
              <a:gdLst/>
              <a:ahLst/>
              <a:cxnLst/>
              <a:rect l="l" t="t" r="r" b="b"/>
              <a:pathLst>
                <a:path w="563245" h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-4" b="-4"/>
              </a:stretch>
            </a:blipFill>
          </p:spPr>
        </p:sp>
      </p:grpSp>
      <p:grpSp>
        <p:nvGrpSpPr>
          <p:cNvPr id="67" name="Group 67"/>
          <p:cNvGrpSpPr/>
          <p:nvPr/>
        </p:nvGrpSpPr>
        <p:grpSpPr>
          <a:xfrm>
            <a:off x="6652260" y="6789420"/>
            <a:ext cx="4800600" cy="548640"/>
            <a:chOff x="0" y="0"/>
            <a:chExt cx="6400800" cy="73152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Chart Validation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6652260" y="7310628"/>
            <a:ext cx="4800600" cy="822960"/>
            <a:chOff x="0" y="0"/>
            <a:chExt cx="6400800" cy="109728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80">
                  <a:moveTo>
                    <a:pt x="0" y="0"/>
                  </a:moveTo>
                  <a:lnTo>
                    <a:pt x="6400800" y="0"/>
                  </a:lnTo>
                  <a:lnTo>
                    <a:pt x="6400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38100"/>
              <a:ext cx="640080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Charts checked for accuracy, tooltips, titles, and formatting consistency.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1925776" y="5547836"/>
            <a:ext cx="5363528" cy="2688908"/>
            <a:chOff x="0" y="0"/>
            <a:chExt cx="7151370" cy="358521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151370" cy="3585210"/>
            </a:xfrm>
            <a:custGeom>
              <a:avLst/>
              <a:gdLst/>
              <a:ahLst/>
              <a:cxnLst/>
              <a:rect l="l" t="t" r="r" b="b"/>
              <a:pathLst>
                <a:path w="7151370" h="3585210">
                  <a:moveTo>
                    <a:pt x="0" y="128651"/>
                  </a:moveTo>
                  <a:cubicBezTo>
                    <a:pt x="0" y="57658"/>
                    <a:pt x="57658" y="0"/>
                    <a:pt x="128651" y="0"/>
                  </a:cubicBezTo>
                  <a:lnTo>
                    <a:pt x="7022719" y="0"/>
                  </a:lnTo>
                  <a:cubicBezTo>
                    <a:pt x="7093838" y="0"/>
                    <a:pt x="7151370" y="57658"/>
                    <a:pt x="7151370" y="128651"/>
                  </a:cubicBezTo>
                  <a:lnTo>
                    <a:pt x="7151370" y="3456559"/>
                  </a:lnTo>
                  <a:cubicBezTo>
                    <a:pt x="7151370" y="3527679"/>
                    <a:pt x="7093712" y="3585210"/>
                    <a:pt x="7022719" y="3585210"/>
                  </a:cubicBezTo>
                  <a:lnTo>
                    <a:pt x="128651" y="3585210"/>
                  </a:lnTo>
                  <a:cubicBezTo>
                    <a:pt x="57658" y="3585210"/>
                    <a:pt x="0" y="3527552"/>
                    <a:pt x="0" y="3456559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75" name="Group 75"/>
          <p:cNvGrpSpPr/>
          <p:nvPr/>
        </p:nvGrpSpPr>
        <p:grpSpPr>
          <a:xfrm>
            <a:off x="12207240" y="5829300"/>
            <a:ext cx="754380" cy="754380"/>
            <a:chOff x="0" y="0"/>
            <a:chExt cx="1005840" cy="1005840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05840" cy="1005840"/>
            </a:xfrm>
            <a:custGeom>
              <a:avLst/>
              <a:gdLst/>
              <a:ahLst/>
              <a:cxnLst/>
              <a:rect l="l" t="t" r="r" b="b"/>
              <a:pathLst>
                <a:path w="1005840" h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77" name="Group 77"/>
          <p:cNvGrpSpPr/>
          <p:nvPr/>
        </p:nvGrpSpPr>
        <p:grpSpPr>
          <a:xfrm>
            <a:off x="12373204" y="5995264"/>
            <a:ext cx="422453" cy="422453"/>
            <a:chOff x="0" y="0"/>
            <a:chExt cx="563270" cy="563270"/>
          </a:xfrm>
        </p:grpSpPr>
        <p:sp>
          <p:nvSpPr>
            <p:cNvPr id="78" name="Freeform 78" descr="/home/claude/m4_deck/img/icons/activity.png"/>
            <p:cNvSpPr/>
            <p:nvPr/>
          </p:nvSpPr>
          <p:spPr>
            <a:xfrm>
              <a:off x="0" y="0"/>
              <a:ext cx="563245" cy="563245"/>
            </a:xfrm>
            <a:custGeom>
              <a:avLst/>
              <a:gdLst/>
              <a:ahLst/>
              <a:cxnLst/>
              <a:rect l="l" t="t" r="r" b="b"/>
              <a:pathLst>
                <a:path w="563245" h="563245">
                  <a:moveTo>
                    <a:pt x="0" y="0"/>
                  </a:moveTo>
                  <a:lnTo>
                    <a:pt x="563245" y="0"/>
                  </a:lnTo>
                  <a:lnTo>
                    <a:pt x="563245" y="563245"/>
                  </a:lnTo>
                  <a:lnTo>
                    <a:pt x="0" y="563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-4" b="-4"/>
              </a:stretch>
            </a:blipFill>
          </p:spPr>
        </p:sp>
      </p:grpSp>
      <p:grpSp>
        <p:nvGrpSpPr>
          <p:cNvPr id="79" name="Group 79"/>
          <p:cNvGrpSpPr/>
          <p:nvPr/>
        </p:nvGrpSpPr>
        <p:grpSpPr>
          <a:xfrm>
            <a:off x="12207240" y="6789420"/>
            <a:ext cx="4800600" cy="548640"/>
            <a:chOff x="0" y="0"/>
            <a:chExt cx="6400800" cy="731520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Performance Testing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12207240" y="7310628"/>
            <a:ext cx="4800600" cy="822960"/>
            <a:chOff x="0" y="0"/>
            <a:chExt cx="6400800" cy="1097280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6400800" cy="1097280"/>
            </a:xfrm>
            <a:custGeom>
              <a:avLst/>
              <a:gdLst/>
              <a:ahLst/>
              <a:cxnLst/>
              <a:rect l="l" t="t" r="r" b="b"/>
              <a:pathLst>
                <a:path w="6400800" h="1097280">
                  <a:moveTo>
                    <a:pt x="0" y="0"/>
                  </a:moveTo>
                  <a:lnTo>
                    <a:pt x="6400800" y="0"/>
                  </a:lnTo>
                  <a:lnTo>
                    <a:pt x="6400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662" b="-63662"/>
              </a:stretch>
            </a:blipFill>
          </p:spPr>
        </p:sp>
        <p:sp>
          <p:nvSpPr>
            <p:cNvPr id="84" name="TextBox 84"/>
            <p:cNvSpPr txBox="1"/>
            <p:nvPr/>
          </p:nvSpPr>
          <p:spPr>
            <a:xfrm>
              <a:off x="0" y="-38100"/>
              <a:ext cx="6400800" cy="1135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Dashboards tested for smooth load and interaction with no lag.</a:t>
              </a:r>
            </a:p>
          </p:txBody>
        </p:sp>
      </p:grpSp>
      <p:grpSp>
        <p:nvGrpSpPr>
          <p:cNvPr id="85" name="Group 85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86" name="Freeform 86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87" name="TextBox 87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89" name="Freeform 89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90" name="TextBox 90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7 – Testing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328416" y="0"/>
                  </a:lnTo>
                  <a:cubicBezTo>
                    <a:pt x="3510280" y="0"/>
                    <a:pt x="3657600" y="147320"/>
                    <a:pt x="3657600" y="329184"/>
                  </a:cubicBezTo>
                  <a:cubicBezTo>
                    <a:pt x="3657600" y="511048"/>
                    <a:pt x="3510280" y="658368"/>
                    <a:pt x="332841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6576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3FC7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40480" y="384048"/>
            <a:ext cx="13578840" cy="685800"/>
            <a:chOff x="0" y="0"/>
            <a:chExt cx="1810512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05120" cy="914400"/>
            </a:xfrm>
            <a:custGeom>
              <a:avLst/>
              <a:gdLst/>
              <a:ahLst/>
              <a:cxnLst/>
              <a:rect l="l" t="t" r="r" b="b"/>
              <a:pathLst>
                <a:path w="18105120" h="91440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803" b="-3358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81051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KPI Validation Process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40480" y="1042416"/>
            <a:ext cx="13578840" cy="480060"/>
            <a:chOff x="0" y="0"/>
            <a:chExt cx="1810512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05120" cy="640080"/>
            </a:xfrm>
            <a:custGeom>
              <a:avLst/>
              <a:gdLst/>
              <a:ahLst/>
              <a:cxnLst/>
              <a:rect l="l" t="t" r="r" b="b"/>
              <a:pathLst>
                <a:path w="18105120" h="640080">
                  <a:moveTo>
                    <a:pt x="0" y="0"/>
                  </a:moveTo>
                  <a:lnTo>
                    <a:pt x="18105120" y="0"/>
                  </a:lnTo>
                  <a:lnTo>
                    <a:pt x="18105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1148" b="-50114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1051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every one of the 19 KPIs was independently verified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2960" y="2606040"/>
            <a:ext cx="2948940" cy="2057400"/>
            <a:chOff x="0" y="0"/>
            <a:chExt cx="3931920" cy="2743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931920" cy="2743200"/>
            </a:xfrm>
            <a:custGeom>
              <a:avLst/>
              <a:gdLst/>
              <a:ahLst/>
              <a:cxnLst/>
              <a:rect l="l" t="t" r="r" b="b"/>
              <a:pathLst>
                <a:path w="3931920" h="2743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785616" y="0"/>
                  </a:lnTo>
                  <a:cubicBezTo>
                    <a:pt x="3866388" y="0"/>
                    <a:pt x="3931920" y="65532"/>
                    <a:pt x="3931920" y="146304"/>
                  </a:cubicBezTo>
                  <a:lnTo>
                    <a:pt x="3931920" y="2596896"/>
                  </a:lnTo>
                  <a:cubicBezTo>
                    <a:pt x="3931920" y="2677668"/>
                    <a:pt x="3866388" y="2743200"/>
                    <a:pt x="37856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2009394" y="2811780"/>
            <a:ext cx="576072" cy="576072"/>
            <a:chOff x="0" y="0"/>
            <a:chExt cx="768096" cy="768096"/>
          </a:xfrm>
        </p:grpSpPr>
        <p:sp>
          <p:nvSpPr>
            <p:cNvPr id="16" name="Freeform 16" descr="/home/claude/m4_deck/img/icons/database.png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996696" y="3642360"/>
            <a:ext cx="260146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Source Data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778758" y="3497580"/>
            <a:ext cx="329184" cy="329184"/>
            <a:chOff x="0" y="0"/>
            <a:chExt cx="438912" cy="438912"/>
          </a:xfrm>
        </p:grpSpPr>
        <p:sp>
          <p:nvSpPr>
            <p:cNvPr id="19" name="Freeform 19" descr="/home/claude/m4_deck/img/icons/chevronright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0" name="Group 20"/>
          <p:cNvGrpSpPr/>
          <p:nvPr/>
        </p:nvGrpSpPr>
        <p:grpSpPr>
          <a:xfrm>
            <a:off x="3977640" y="2606040"/>
            <a:ext cx="2948940" cy="2057400"/>
            <a:chOff x="0" y="0"/>
            <a:chExt cx="3931920" cy="27432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931920" cy="2743200"/>
            </a:xfrm>
            <a:custGeom>
              <a:avLst/>
              <a:gdLst/>
              <a:ahLst/>
              <a:cxnLst/>
              <a:rect l="l" t="t" r="r" b="b"/>
              <a:pathLst>
                <a:path w="3931920" h="2743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785616" y="0"/>
                  </a:lnTo>
                  <a:cubicBezTo>
                    <a:pt x="3866388" y="0"/>
                    <a:pt x="3931920" y="65532"/>
                    <a:pt x="3931920" y="146304"/>
                  </a:cubicBezTo>
                  <a:lnTo>
                    <a:pt x="3931920" y="2596896"/>
                  </a:lnTo>
                  <a:cubicBezTo>
                    <a:pt x="3931920" y="2677668"/>
                    <a:pt x="3866388" y="2743200"/>
                    <a:pt x="37856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164074" y="2811780"/>
            <a:ext cx="576072" cy="576072"/>
            <a:chOff x="0" y="0"/>
            <a:chExt cx="768096" cy="768096"/>
          </a:xfrm>
        </p:grpSpPr>
        <p:sp>
          <p:nvSpPr>
            <p:cNvPr id="23" name="Freeform 23" descr="/home/claude/m4_deck/img/icons/code.png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4151376" y="3642360"/>
            <a:ext cx="260146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Independent Calculation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6933438" y="3497580"/>
            <a:ext cx="329184" cy="329184"/>
            <a:chOff x="0" y="0"/>
            <a:chExt cx="438912" cy="438912"/>
          </a:xfrm>
        </p:grpSpPr>
        <p:sp>
          <p:nvSpPr>
            <p:cNvPr id="26" name="Freeform 26" descr="/home/claude/m4_deck/img/icons/chevronright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7" name="Group 27"/>
          <p:cNvGrpSpPr/>
          <p:nvPr/>
        </p:nvGrpSpPr>
        <p:grpSpPr>
          <a:xfrm>
            <a:off x="7132320" y="2606040"/>
            <a:ext cx="2948940" cy="2057400"/>
            <a:chOff x="0" y="0"/>
            <a:chExt cx="3931920" cy="27432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931920" cy="2743200"/>
            </a:xfrm>
            <a:custGeom>
              <a:avLst/>
              <a:gdLst/>
              <a:ahLst/>
              <a:cxnLst/>
              <a:rect l="l" t="t" r="r" b="b"/>
              <a:pathLst>
                <a:path w="3931920" h="2743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785616" y="0"/>
                  </a:lnTo>
                  <a:cubicBezTo>
                    <a:pt x="3866388" y="0"/>
                    <a:pt x="3931920" y="65532"/>
                    <a:pt x="3931920" y="146304"/>
                  </a:cubicBezTo>
                  <a:lnTo>
                    <a:pt x="3931920" y="2596896"/>
                  </a:lnTo>
                  <a:cubicBezTo>
                    <a:pt x="3931920" y="2677668"/>
                    <a:pt x="3866388" y="2743200"/>
                    <a:pt x="37856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8318754" y="2811780"/>
            <a:ext cx="576072" cy="576072"/>
            <a:chOff x="0" y="0"/>
            <a:chExt cx="768096" cy="768096"/>
          </a:xfrm>
        </p:grpSpPr>
        <p:sp>
          <p:nvSpPr>
            <p:cNvPr id="30" name="Freeform 30" descr="/home/claude/m4_deck/img/icons/barchart.png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7306056" y="3642360"/>
            <a:ext cx="260146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Tableau KPI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0088118" y="3497580"/>
            <a:ext cx="329184" cy="329184"/>
            <a:chOff x="0" y="0"/>
            <a:chExt cx="438912" cy="438912"/>
          </a:xfrm>
        </p:grpSpPr>
        <p:sp>
          <p:nvSpPr>
            <p:cNvPr id="33" name="Freeform 33" descr="/home/claude/m4_deck/img/icons/chevronright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4" name="Group 34"/>
          <p:cNvGrpSpPr/>
          <p:nvPr/>
        </p:nvGrpSpPr>
        <p:grpSpPr>
          <a:xfrm>
            <a:off x="10287000" y="2606040"/>
            <a:ext cx="2948940" cy="2057400"/>
            <a:chOff x="0" y="0"/>
            <a:chExt cx="3931920" cy="27432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3931920" cy="2743200"/>
            </a:xfrm>
            <a:custGeom>
              <a:avLst/>
              <a:gdLst/>
              <a:ahLst/>
              <a:cxnLst/>
              <a:rect l="l" t="t" r="r" b="b"/>
              <a:pathLst>
                <a:path w="3931920" h="2743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785616" y="0"/>
                  </a:lnTo>
                  <a:cubicBezTo>
                    <a:pt x="3866388" y="0"/>
                    <a:pt x="3931920" y="65532"/>
                    <a:pt x="3931920" y="146304"/>
                  </a:cubicBezTo>
                  <a:lnTo>
                    <a:pt x="3931920" y="2596896"/>
                  </a:lnTo>
                  <a:cubicBezTo>
                    <a:pt x="3931920" y="2677668"/>
                    <a:pt x="3866388" y="2743200"/>
                    <a:pt x="37856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1473434" y="2811780"/>
            <a:ext cx="576072" cy="576072"/>
            <a:chOff x="0" y="0"/>
            <a:chExt cx="768096" cy="768096"/>
          </a:xfrm>
        </p:grpSpPr>
        <p:sp>
          <p:nvSpPr>
            <p:cNvPr id="37" name="Freeform 37" descr="/home/claude/m4_deck/img/icons/search.png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</p:grpSp>
      <p:sp>
        <p:nvSpPr>
          <p:cNvPr id="38" name="TextBox 38"/>
          <p:cNvSpPr txBox="1"/>
          <p:nvPr/>
        </p:nvSpPr>
        <p:spPr>
          <a:xfrm>
            <a:off x="10460736" y="3642360"/>
            <a:ext cx="260146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Comparison</a:t>
            </a:r>
          </a:p>
        </p:txBody>
      </p:sp>
      <p:grpSp>
        <p:nvGrpSpPr>
          <p:cNvPr id="39" name="Group 39"/>
          <p:cNvGrpSpPr/>
          <p:nvPr/>
        </p:nvGrpSpPr>
        <p:grpSpPr>
          <a:xfrm>
            <a:off x="13242798" y="3497580"/>
            <a:ext cx="329184" cy="329184"/>
            <a:chOff x="0" y="0"/>
            <a:chExt cx="438912" cy="438912"/>
          </a:xfrm>
        </p:grpSpPr>
        <p:sp>
          <p:nvSpPr>
            <p:cNvPr id="40" name="Freeform 40" descr="/home/claude/m4_deck/img/icons/chevronright.png"/>
            <p:cNvSpPr/>
            <p:nvPr/>
          </p:nvSpPr>
          <p:spPr>
            <a:xfrm>
              <a:off x="0" y="0"/>
              <a:ext cx="438912" cy="438912"/>
            </a:xfrm>
            <a:custGeom>
              <a:avLst/>
              <a:gdLst/>
              <a:ahLst/>
              <a:cxnLst/>
              <a:rect l="l" t="t" r="r" b="b"/>
              <a:pathLst>
                <a:path w="438912" h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13441680" y="2606040"/>
            <a:ext cx="2948940" cy="2057400"/>
            <a:chOff x="0" y="0"/>
            <a:chExt cx="3931920" cy="27432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931920" cy="2743200"/>
            </a:xfrm>
            <a:custGeom>
              <a:avLst/>
              <a:gdLst/>
              <a:ahLst/>
              <a:cxnLst/>
              <a:rect l="l" t="t" r="r" b="b"/>
              <a:pathLst>
                <a:path w="3931920" h="27432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3785616" y="0"/>
                  </a:lnTo>
                  <a:cubicBezTo>
                    <a:pt x="3866388" y="0"/>
                    <a:pt x="3931920" y="65532"/>
                    <a:pt x="3931920" y="146304"/>
                  </a:cubicBezTo>
                  <a:lnTo>
                    <a:pt x="3931920" y="2596896"/>
                  </a:lnTo>
                  <a:cubicBezTo>
                    <a:pt x="3931920" y="2677668"/>
                    <a:pt x="3866388" y="2743200"/>
                    <a:pt x="3785616" y="2743200"/>
                  </a:cubicBezTo>
                  <a:lnTo>
                    <a:pt x="146304" y="2743200"/>
                  </a:lnTo>
                  <a:cubicBezTo>
                    <a:pt x="65532" y="2743200"/>
                    <a:pt x="0" y="2677668"/>
                    <a:pt x="0" y="2596896"/>
                  </a:cubicBezTo>
                  <a:close/>
                </a:path>
              </a:pathLst>
            </a:custGeom>
            <a:solidFill>
              <a:srgbClr val="1E7B4D"/>
            </a:solidFill>
          </p:spPr>
        </p:sp>
      </p:grpSp>
      <p:grpSp>
        <p:nvGrpSpPr>
          <p:cNvPr id="43" name="Group 43"/>
          <p:cNvGrpSpPr/>
          <p:nvPr/>
        </p:nvGrpSpPr>
        <p:grpSpPr>
          <a:xfrm>
            <a:off x="14628114" y="2811780"/>
            <a:ext cx="576072" cy="576072"/>
            <a:chOff x="0" y="0"/>
            <a:chExt cx="768096" cy="768096"/>
          </a:xfrm>
        </p:grpSpPr>
        <p:sp>
          <p:nvSpPr>
            <p:cNvPr id="44" name="Freeform 44" descr="/home/claude/m4_deck/img/icons/checkcircle.png"/>
            <p:cNvSpPr/>
            <p:nvPr/>
          </p:nvSpPr>
          <p:spPr>
            <a:xfrm>
              <a:off x="0" y="0"/>
              <a:ext cx="768096" cy="768096"/>
            </a:xfrm>
            <a:custGeom>
              <a:avLst/>
              <a:gdLst/>
              <a:ahLst/>
              <a:cxnLst/>
              <a:rect l="l" t="t" r="r" b="b"/>
              <a:pathLst>
                <a:path w="768096" h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45" name="TextBox 45"/>
          <p:cNvSpPr txBox="1"/>
          <p:nvPr/>
        </p:nvSpPr>
        <p:spPr>
          <a:xfrm>
            <a:off x="13615416" y="3642360"/>
            <a:ext cx="2601468" cy="838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Validated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822960" y="5212080"/>
            <a:ext cx="16596360" cy="960120"/>
            <a:chOff x="0" y="0"/>
            <a:chExt cx="22128480" cy="128016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2128480" cy="1280160"/>
            </a:xfrm>
            <a:custGeom>
              <a:avLst/>
              <a:gdLst/>
              <a:ahLst/>
              <a:cxnLst/>
              <a:rect l="l" t="t" r="r" b="b"/>
              <a:pathLst>
                <a:path w="22128480" h="128016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6812" b="-286812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22128480" cy="13277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23A5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 practice: the raw dataset was used to independently calculate each KPI in Python, that value was compared against the Tableau dashboard's displayed KPI card, and a match confirmed the KPI as validated.</a:t>
              </a:r>
            </a:p>
          </p:txBody>
        </p:sp>
      </p:grpSp>
      <p:graphicFrame>
        <p:nvGraphicFramePr>
          <p:cNvPr id="49" name="Table 49"/>
          <p:cNvGraphicFramePr>
            <a:graphicFrameLocks noGrp="1"/>
          </p:cNvGraphicFramePr>
          <p:nvPr/>
        </p:nvGraphicFramePr>
        <p:xfrm>
          <a:off x="822960" y="6446520"/>
          <a:ext cx="16554450" cy="2857500"/>
        </p:xfrm>
        <a:graphic>
          <a:graphicData uri="http://schemas.openxmlformats.org/drawingml/2006/table">
            <a:tbl>
              <a:tblPr/>
              <a:tblGrid>
                <a:gridCol w="3697010"/>
                <a:gridCol w="4648154"/>
                <a:gridCol w="4376399"/>
                <a:gridCol w="3832887"/>
              </a:tblGrid>
              <a:tr h="57150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KPI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Independent Calculation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Tableau Dashboard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Status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 Patients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2,238 (independent calculation)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2,238 (dashboard)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 b="1">
                          <a:solidFill>
                            <a:srgbClr val="1E7B4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Validated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Total Billing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$56,610,270 (independent calculation)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$56,610,270 (dashboard)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 b="1">
                          <a:solidFill>
                            <a:srgbClr val="1E7B4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Validated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ICU Admissions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339 (independent calculation)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339 (dashboard)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 b="1">
                          <a:solidFill>
                            <a:srgbClr val="1E7B4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Validated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Bed Occupancy Rate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80.83% (independent calculation)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89"/>
                        </a:lnSpc>
                        <a:defRPr/>
                      </a:pPr>
                      <a:r>
                        <a:rPr lang="en-US" sz="15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80.8% (dashboard)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889"/>
                        </a:lnSpc>
                        <a:defRPr/>
                      </a:pPr>
                      <a:r>
                        <a:rPr lang="en-US" sz="1575" b="1">
                          <a:solidFill>
                            <a:srgbClr val="1E7B4D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Validated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</a:tbl>
          </a:graphicData>
        </a:graphic>
      </p:graphicFrame>
      <p:grpSp>
        <p:nvGrpSpPr>
          <p:cNvPr id="50" name="Group 50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7 – Testing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328416" y="0"/>
                  </a:lnTo>
                  <a:cubicBezTo>
                    <a:pt x="3510280" y="0"/>
                    <a:pt x="3657600" y="147320"/>
                    <a:pt x="3657600" y="329184"/>
                  </a:cubicBezTo>
                  <a:cubicBezTo>
                    <a:pt x="3657600" y="511048"/>
                    <a:pt x="3510280" y="658368"/>
                    <a:pt x="332841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6576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3FC7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40480" y="384048"/>
            <a:ext cx="13578840" cy="685800"/>
            <a:chOff x="0" y="0"/>
            <a:chExt cx="1810512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05120" cy="914400"/>
            </a:xfrm>
            <a:custGeom>
              <a:avLst/>
              <a:gdLst/>
              <a:ahLst/>
              <a:cxnLst/>
              <a:rect l="l" t="t" r="r" b="b"/>
              <a:pathLst>
                <a:path w="18105120" h="91440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803" b="-3358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81051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Testing Results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40480" y="1042416"/>
            <a:ext cx="13578840" cy="480060"/>
            <a:chOff x="0" y="0"/>
            <a:chExt cx="1810512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05120" cy="640080"/>
            </a:xfrm>
            <a:custGeom>
              <a:avLst/>
              <a:gdLst/>
              <a:ahLst/>
              <a:cxnLst/>
              <a:rect l="l" t="t" r="r" b="b"/>
              <a:pathLst>
                <a:path w="18105120" h="640080">
                  <a:moveTo>
                    <a:pt x="0" y="0"/>
                  </a:moveTo>
                  <a:lnTo>
                    <a:pt x="18105120" y="0"/>
                  </a:lnTo>
                  <a:lnTo>
                    <a:pt x="18105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1148" b="-50114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1051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Final results from the complete testing cycle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15816" y="2598896"/>
            <a:ext cx="2318576" cy="1797367"/>
            <a:chOff x="0" y="0"/>
            <a:chExt cx="3091434" cy="239649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91434" cy="2396490"/>
            </a:xfrm>
            <a:custGeom>
              <a:avLst/>
              <a:gdLst/>
              <a:ahLst/>
              <a:cxnLst/>
              <a:rect l="l" t="t" r="r" b="b"/>
              <a:pathLst>
                <a:path w="3091434" h="239649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2980817" y="0"/>
                  </a:lnTo>
                  <a:cubicBezTo>
                    <a:pt x="3041904" y="0"/>
                    <a:pt x="3091434" y="49530"/>
                    <a:pt x="3091434" y="110617"/>
                  </a:cubicBezTo>
                  <a:lnTo>
                    <a:pt x="3091434" y="2285873"/>
                  </a:lnTo>
                  <a:cubicBezTo>
                    <a:pt x="3091434" y="2346960"/>
                    <a:pt x="3041904" y="2396490"/>
                    <a:pt x="2980817" y="2396490"/>
                  </a:cubicBezTo>
                  <a:lnTo>
                    <a:pt x="110617" y="2396490"/>
                  </a:lnTo>
                  <a:cubicBezTo>
                    <a:pt x="49530" y="2396490"/>
                    <a:pt x="0" y="2346960"/>
                    <a:pt x="0" y="228587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822960" y="2715768"/>
            <a:ext cx="2304288" cy="980694"/>
            <a:chOff x="0" y="0"/>
            <a:chExt cx="3072384" cy="130759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072384" cy="1307592"/>
            </a:xfrm>
            <a:custGeom>
              <a:avLst/>
              <a:gdLst/>
              <a:ahLst/>
              <a:cxnLst/>
              <a:rect l="l" t="t" r="r" b="b"/>
              <a:pathLst>
                <a:path w="3072384" h="1307592">
                  <a:moveTo>
                    <a:pt x="0" y="0"/>
                  </a:moveTo>
                  <a:lnTo>
                    <a:pt x="3072384" y="0"/>
                  </a:lnTo>
                  <a:lnTo>
                    <a:pt x="3072384" y="1307592"/>
                  </a:lnTo>
                  <a:lnTo>
                    <a:pt x="0" y="1307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05" r="-460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3072384" cy="131711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860"/>
                </a:lnSpc>
              </a:pPr>
              <a:r>
                <a:rPr lang="en-US" sz="405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</a:t>
              </a:r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914400" y="3702558"/>
            <a:ext cx="2121408" cy="551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Dashboards Tested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3229832" y="2598896"/>
            <a:ext cx="2318576" cy="1797367"/>
            <a:chOff x="0" y="0"/>
            <a:chExt cx="3091434" cy="23964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091434" cy="2396490"/>
            </a:xfrm>
            <a:custGeom>
              <a:avLst/>
              <a:gdLst/>
              <a:ahLst/>
              <a:cxnLst/>
              <a:rect l="l" t="t" r="r" b="b"/>
              <a:pathLst>
                <a:path w="3091434" h="239649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2980817" y="0"/>
                  </a:lnTo>
                  <a:cubicBezTo>
                    <a:pt x="3041904" y="0"/>
                    <a:pt x="3091434" y="49530"/>
                    <a:pt x="3091434" y="110617"/>
                  </a:cubicBezTo>
                  <a:lnTo>
                    <a:pt x="3091434" y="2285873"/>
                  </a:lnTo>
                  <a:cubicBezTo>
                    <a:pt x="3091434" y="2346960"/>
                    <a:pt x="3041904" y="2396490"/>
                    <a:pt x="2980817" y="2396490"/>
                  </a:cubicBezTo>
                  <a:lnTo>
                    <a:pt x="110617" y="2396490"/>
                  </a:lnTo>
                  <a:cubicBezTo>
                    <a:pt x="49530" y="2396490"/>
                    <a:pt x="0" y="2346960"/>
                    <a:pt x="0" y="228587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3236976" y="2715768"/>
            <a:ext cx="2304288" cy="980694"/>
            <a:chOff x="0" y="0"/>
            <a:chExt cx="3072384" cy="130759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072384" cy="1307592"/>
            </a:xfrm>
            <a:custGeom>
              <a:avLst/>
              <a:gdLst/>
              <a:ahLst/>
              <a:cxnLst/>
              <a:rect l="l" t="t" r="r" b="b"/>
              <a:pathLst>
                <a:path w="3072384" h="1307592">
                  <a:moveTo>
                    <a:pt x="0" y="0"/>
                  </a:moveTo>
                  <a:lnTo>
                    <a:pt x="3072384" y="0"/>
                  </a:lnTo>
                  <a:lnTo>
                    <a:pt x="3072384" y="1307592"/>
                  </a:lnTo>
                  <a:lnTo>
                    <a:pt x="0" y="1307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05" r="-4605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3072384" cy="131711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860"/>
                </a:lnSpc>
              </a:pPr>
              <a:r>
                <a:rPr lang="en-US" sz="4050" b="1">
                  <a:solidFill>
                    <a:srgbClr val="0E6E7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26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3328416" y="3702558"/>
            <a:ext cx="2121408" cy="551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Test Cases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5643848" y="2598896"/>
            <a:ext cx="2318576" cy="1797367"/>
            <a:chOff x="0" y="0"/>
            <a:chExt cx="3091434" cy="239649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091434" cy="2396490"/>
            </a:xfrm>
            <a:custGeom>
              <a:avLst/>
              <a:gdLst/>
              <a:ahLst/>
              <a:cxnLst/>
              <a:rect l="l" t="t" r="r" b="b"/>
              <a:pathLst>
                <a:path w="3091434" h="239649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2980817" y="0"/>
                  </a:lnTo>
                  <a:cubicBezTo>
                    <a:pt x="3041904" y="0"/>
                    <a:pt x="3091434" y="49530"/>
                    <a:pt x="3091434" y="110617"/>
                  </a:cubicBezTo>
                  <a:lnTo>
                    <a:pt x="3091434" y="2285873"/>
                  </a:lnTo>
                  <a:cubicBezTo>
                    <a:pt x="3091434" y="2346960"/>
                    <a:pt x="3041904" y="2396490"/>
                    <a:pt x="2980817" y="2396490"/>
                  </a:cubicBezTo>
                  <a:lnTo>
                    <a:pt x="110617" y="2396490"/>
                  </a:lnTo>
                  <a:cubicBezTo>
                    <a:pt x="49530" y="2396490"/>
                    <a:pt x="0" y="2346960"/>
                    <a:pt x="0" y="228587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650992" y="2715768"/>
            <a:ext cx="2304288" cy="980694"/>
            <a:chOff x="0" y="0"/>
            <a:chExt cx="3072384" cy="130759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3072384" cy="1307592"/>
            </a:xfrm>
            <a:custGeom>
              <a:avLst/>
              <a:gdLst/>
              <a:ahLst/>
              <a:cxnLst/>
              <a:rect l="l" t="t" r="r" b="b"/>
              <a:pathLst>
                <a:path w="3072384" h="1307592">
                  <a:moveTo>
                    <a:pt x="0" y="0"/>
                  </a:moveTo>
                  <a:lnTo>
                    <a:pt x="3072384" y="0"/>
                  </a:lnTo>
                  <a:lnTo>
                    <a:pt x="3072384" y="1307592"/>
                  </a:lnTo>
                  <a:lnTo>
                    <a:pt x="0" y="1307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05" r="-4605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3072384" cy="131711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860"/>
                </a:lnSpc>
              </a:pPr>
              <a:r>
                <a:rPr lang="en-US" sz="4050" b="1">
                  <a:solidFill>
                    <a:srgbClr val="1E7B4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26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5742432" y="3702558"/>
            <a:ext cx="2121408" cy="551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Passed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8057864" y="2598896"/>
            <a:ext cx="2318576" cy="1797367"/>
            <a:chOff x="0" y="0"/>
            <a:chExt cx="3091434" cy="239649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3091434" cy="2396490"/>
            </a:xfrm>
            <a:custGeom>
              <a:avLst/>
              <a:gdLst/>
              <a:ahLst/>
              <a:cxnLst/>
              <a:rect l="l" t="t" r="r" b="b"/>
              <a:pathLst>
                <a:path w="3091434" h="239649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2980817" y="0"/>
                  </a:lnTo>
                  <a:cubicBezTo>
                    <a:pt x="3041904" y="0"/>
                    <a:pt x="3091434" y="49530"/>
                    <a:pt x="3091434" y="110617"/>
                  </a:cubicBezTo>
                  <a:lnTo>
                    <a:pt x="3091434" y="2285873"/>
                  </a:lnTo>
                  <a:cubicBezTo>
                    <a:pt x="3091434" y="2346960"/>
                    <a:pt x="3041904" y="2396490"/>
                    <a:pt x="2980817" y="2396490"/>
                  </a:cubicBezTo>
                  <a:lnTo>
                    <a:pt x="110617" y="2396490"/>
                  </a:lnTo>
                  <a:cubicBezTo>
                    <a:pt x="49530" y="2396490"/>
                    <a:pt x="0" y="2346960"/>
                    <a:pt x="0" y="228587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8065008" y="2715768"/>
            <a:ext cx="2304288" cy="980694"/>
            <a:chOff x="0" y="0"/>
            <a:chExt cx="3072384" cy="130759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072384" cy="1307592"/>
            </a:xfrm>
            <a:custGeom>
              <a:avLst/>
              <a:gdLst/>
              <a:ahLst/>
              <a:cxnLst/>
              <a:rect l="l" t="t" r="r" b="b"/>
              <a:pathLst>
                <a:path w="3072384" h="1307592">
                  <a:moveTo>
                    <a:pt x="0" y="0"/>
                  </a:moveTo>
                  <a:lnTo>
                    <a:pt x="3072384" y="0"/>
                  </a:lnTo>
                  <a:lnTo>
                    <a:pt x="3072384" y="1307592"/>
                  </a:lnTo>
                  <a:lnTo>
                    <a:pt x="0" y="1307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05" r="-4605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3072384" cy="131711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860"/>
                </a:lnSpc>
              </a:pPr>
              <a:r>
                <a:rPr lang="en-US" sz="405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8156448" y="3702558"/>
            <a:ext cx="2121408" cy="551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Failed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471880" y="2598896"/>
            <a:ext cx="2318576" cy="1797367"/>
            <a:chOff x="0" y="0"/>
            <a:chExt cx="3091434" cy="239649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091434" cy="2396490"/>
            </a:xfrm>
            <a:custGeom>
              <a:avLst/>
              <a:gdLst/>
              <a:ahLst/>
              <a:cxnLst/>
              <a:rect l="l" t="t" r="r" b="b"/>
              <a:pathLst>
                <a:path w="3091434" h="239649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2980817" y="0"/>
                  </a:lnTo>
                  <a:cubicBezTo>
                    <a:pt x="3041904" y="0"/>
                    <a:pt x="3091434" y="49530"/>
                    <a:pt x="3091434" y="110617"/>
                  </a:cubicBezTo>
                  <a:lnTo>
                    <a:pt x="3091434" y="2285873"/>
                  </a:lnTo>
                  <a:cubicBezTo>
                    <a:pt x="3091434" y="2346960"/>
                    <a:pt x="3041904" y="2396490"/>
                    <a:pt x="2980817" y="2396490"/>
                  </a:cubicBezTo>
                  <a:lnTo>
                    <a:pt x="110617" y="2396490"/>
                  </a:lnTo>
                  <a:cubicBezTo>
                    <a:pt x="49530" y="2396490"/>
                    <a:pt x="0" y="2346960"/>
                    <a:pt x="0" y="228587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0479024" y="2715768"/>
            <a:ext cx="2304288" cy="980694"/>
            <a:chOff x="0" y="0"/>
            <a:chExt cx="3072384" cy="130759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3072384" cy="1307592"/>
            </a:xfrm>
            <a:custGeom>
              <a:avLst/>
              <a:gdLst/>
              <a:ahLst/>
              <a:cxnLst/>
              <a:rect l="l" t="t" r="r" b="b"/>
              <a:pathLst>
                <a:path w="3072384" h="1307592">
                  <a:moveTo>
                    <a:pt x="0" y="0"/>
                  </a:moveTo>
                  <a:lnTo>
                    <a:pt x="3072384" y="0"/>
                  </a:lnTo>
                  <a:lnTo>
                    <a:pt x="3072384" y="1307592"/>
                  </a:lnTo>
                  <a:lnTo>
                    <a:pt x="0" y="1307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05" r="-4605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3072384" cy="131711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860"/>
                </a:lnSpc>
              </a:pPr>
              <a:r>
                <a:rPr lang="en-US" sz="4050" b="1">
                  <a:solidFill>
                    <a:srgbClr val="1E7B4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100%</a:t>
              </a:r>
            </a:p>
          </p:txBody>
        </p:sp>
      </p:grpSp>
      <p:sp>
        <p:nvSpPr>
          <p:cNvPr id="42" name="TextBox 42"/>
          <p:cNvSpPr txBox="1"/>
          <p:nvPr/>
        </p:nvSpPr>
        <p:spPr>
          <a:xfrm>
            <a:off x="10570464" y="3702558"/>
            <a:ext cx="2121408" cy="551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Pass Rate</a:t>
            </a:r>
          </a:p>
        </p:txBody>
      </p:sp>
      <p:grpSp>
        <p:nvGrpSpPr>
          <p:cNvPr id="43" name="Group 43"/>
          <p:cNvGrpSpPr/>
          <p:nvPr/>
        </p:nvGrpSpPr>
        <p:grpSpPr>
          <a:xfrm>
            <a:off x="12885896" y="2598896"/>
            <a:ext cx="2318576" cy="1797367"/>
            <a:chOff x="0" y="0"/>
            <a:chExt cx="3091434" cy="239649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3091434" cy="2396490"/>
            </a:xfrm>
            <a:custGeom>
              <a:avLst/>
              <a:gdLst/>
              <a:ahLst/>
              <a:cxnLst/>
              <a:rect l="l" t="t" r="r" b="b"/>
              <a:pathLst>
                <a:path w="3091434" h="239649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2980817" y="0"/>
                  </a:lnTo>
                  <a:cubicBezTo>
                    <a:pt x="3041904" y="0"/>
                    <a:pt x="3091434" y="49530"/>
                    <a:pt x="3091434" y="110617"/>
                  </a:cubicBezTo>
                  <a:lnTo>
                    <a:pt x="3091434" y="2285873"/>
                  </a:lnTo>
                  <a:cubicBezTo>
                    <a:pt x="3091434" y="2346960"/>
                    <a:pt x="3041904" y="2396490"/>
                    <a:pt x="2980817" y="2396490"/>
                  </a:cubicBezTo>
                  <a:lnTo>
                    <a:pt x="110617" y="2396490"/>
                  </a:lnTo>
                  <a:cubicBezTo>
                    <a:pt x="49530" y="2396490"/>
                    <a:pt x="0" y="2346960"/>
                    <a:pt x="0" y="228587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12893040" y="2715768"/>
            <a:ext cx="2304288" cy="980694"/>
            <a:chOff x="0" y="0"/>
            <a:chExt cx="3072384" cy="130759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072384" cy="1307592"/>
            </a:xfrm>
            <a:custGeom>
              <a:avLst/>
              <a:gdLst/>
              <a:ahLst/>
              <a:cxnLst/>
              <a:rect l="l" t="t" r="r" b="b"/>
              <a:pathLst>
                <a:path w="3072384" h="1307592">
                  <a:moveTo>
                    <a:pt x="0" y="0"/>
                  </a:moveTo>
                  <a:lnTo>
                    <a:pt x="3072384" y="0"/>
                  </a:lnTo>
                  <a:lnTo>
                    <a:pt x="3072384" y="1307592"/>
                  </a:lnTo>
                  <a:lnTo>
                    <a:pt x="0" y="1307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05" r="-460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3072384" cy="131711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860"/>
                </a:lnSpc>
              </a:pPr>
              <a:r>
                <a:rPr lang="en-US" sz="4050" b="1">
                  <a:solidFill>
                    <a:srgbClr val="0E6E76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19</a:t>
              </a:r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2984480" y="3702558"/>
            <a:ext cx="2121408" cy="551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KPIs Validated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5299912" y="2598896"/>
            <a:ext cx="2318576" cy="1797367"/>
            <a:chOff x="0" y="0"/>
            <a:chExt cx="3091434" cy="239649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3091434" cy="2396490"/>
            </a:xfrm>
            <a:custGeom>
              <a:avLst/>
              <a:gdLst/>
              <a:ahLst/>
              <a:cxnLst/>
              <a:rect l="l" t="t" r="r" b="b"/>
              <a:pathLst>
                <a:path w="3091434" h="2396490">
                  <a:moveTo>
                    <a:pt x="0" y="110617"/>
                  </a:moveTo>
                  <a:cubicBezTo>
                    <a:pt x="0" y="49530"/>
                    <a:pt x="49530" y="0"/>
                    <a:pt x="110617" y="0"/>
                  </a:cubicBezTo>
                  <a:lnTo>
                    <a:pt x="2980817" y="0"/>
                  </a:lnTo>
                  <a:cubicBezTo>
                    <a:pt x="3041904" y="0"/>
                    <a:pt x="3091434" y="49530"/>
                    <a:pt x="3091434" y="110617"/>
                  </a:cubicBezTo>
                  <a:lnTo>
                    <a:pt x="3091434" y="2285873"/>
                  </a:lnTo>
                  <a:cubicBezTo>
                    <a:pt x="3091434" y="2346960"/>
                    <a:pt x="3041904" y="2396490"/>
                    <a:pt x="2980817" y="2396490"/>
                  </a:cubicBezTo>
                  <a:lnTo>
                    <a:pt x="110617" y="2396490"/>
                  </a:lnTo>
                  <a:cubicBezTo>
                    <a:pt x="49530" y="2396490"/>
                    <a:pt x="0" y="2346960"/>
                    <a:pt x="0" y="2285873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15307056" y="2715768"/>
            <a:ext cx="2304288" cy="980694"/>
            <a:chOff x="0" y="0"/>
            <a:chExt cx="3072384" cy="130759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3072384" cy="1307592"/>
            </a:xfrm>
            <a:custGeom>
              <a:avLst/>
              <a:gdLst/>
              <a:ahLst/>
              <a:cxnLst/>
              <a:rect l="l" t="t" r="r" b="b"/>
              <a:pathLst>
                <a:path w="3072384" h="1307592">
                  <a:moveTo>
                    <a:pt x="0" y="0"/>
                  </a:moveTo>
                  <a:lnTo>
                    <a:pt x="3072384" y="0"/>
                  </a:lnTo>
                  <a:lnTo>
                    <a:pt x="3072384" y="1307592"/>
                  </a:lnTo>
                  <a:lnTo>
                    <a:pt x="0" y="1307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05" r="-4605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3072384" cy="1317117"/>
            </a:xfrm>
            <a:prstGeom prst="rect">
              <a:avLst/>
            </a:prstGeom>
          </p:spPr>
          <p:txBody>
            <a:bodyPr lIns="0" tIns="0" rIns="0" bIns="0" rtlCol="0" anchor="b"/>
            <a:lstStyle/>
            <a:p>
              <a:pPr algn="ctr">
                <a:lnSpc>
                  <a:spcPts val="4860"/>
                </a:lnSpc>
              </a:pPr>
              <a:r>
                <a:rPr lang="en-US" sz="4050" b="1">
                  <a:solidFill>
                    <a:srgbClr val="1E7B4D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</a:t>
              </a:r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15398496" y="3702558"/>
            <a:ext cx="2121408" cy="551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Critical Issues</a:t>
            </a:r>
          </a:p>
        </p:txBody>
      </p:sp>
      <p:graphicFrame>
        <p:nvGraphicFramePr>
          <p:cNvPr id="55" name="Table 55"/>
          <p:cNvGraphicFramePr>
            <a:graphicFrameLocks noGrp="1"/>
          </p:cNvGraphicFramePr>
          <p:nvPr/>
        </p:nvGraphicFramePr>
        <p:xfrm>
          <a:off x="822960" y="5006340"/>
          <a:ext cx="16573500" cy="3429000"/>
        </p:xfrm>
        <a:graphic>
          <a:graphicData uri="http://schemas.openxmlformats.org/drawingml/2006/table">
            <a:tbl>
              <a:tblPr/>
              <a:tblGrid>
                <a:gridCol w="10675518"/>
                <a:gridCol w="5897982"/>
              </a:tblGrid>
              <a:tr h="68580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Testing Category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Result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Functional Testing (dashboards, buttons, charts)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All passed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KPI Validation (all 19 KPIs)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All matched independent calculations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Filter &amp; Navigation Testing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Every filter and control passed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Chart &amp; Performance Validation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160"/>
                        </a:lnSpc>
                        <a:defRPr/>
                      </a:pPr>
                      <a:r>
                        <a:rPr lang="en-US" sz="1800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 formatting or lag issues found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</a:tbl>
          </a:graphicData>
        </a:graphic>
      </p:graphicFrame>
      <p:grpSp>
        <p:nvGrpSpPr>
          <p:cNvPr id="56" name="Group 56"/>
          <p:cNvGrpSpPr/>
          <p:nvPr/>
        </p:nvGrpSpPr>
        <p:grpSpPr>
          <a:xfrm>
            <a:off x="822960" y="8641080"/>
            <a:ext cx="16596360" cy="548640"/>
            <a:chOff x="0" y="0"/>
            <a:chExt cx="22128480" cy="73152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22128480" cy="731520"/>
            </a:xfrm>
            <a:custGeom>
              <a:avLst/>
              <a:gdLst/>
              <a:ahLst/>
              <a:cxnLst/>
              <a:rect l="l" t="t" r="r" b="b"/>
              <a:pathLst>
                <a:path w="22128480" h="731520">
                  <a:moveTo>
                    <a:pt x="0" y="0"/>
                  </a:moveTo>
                  <a:lnTo>
                    <a:pt x="22128480" y="0"/>
                  </a:lnTo>
                  <a:lnTo>
                    <a:pt x="221284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9422" b="-539422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38100"/>
              <a:ext cx="2212848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123A5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No critical or major defects were identified during this testing cycle.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7 – Testing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328416" y="0"/>
                  </a:lnTo>
                  <a:cubicBezTo>
                    <a:pt x="3510280" y="0"/>
                    <a:pt x="3657600" y="147320"/>
                    <a:pt x="3657600" y="329184"/>
                  </a:cubicBezTo>
                  <a:cubicBezTo>
                    <a:pt x="3657600" y="511048"/>
                    <a:pt x="3510280" y="658368"/>
                    <a:pt x="332841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6576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3FC7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40480" y="384048"/>
            <a:ext cx="13578840" cy="685800"/>
            <a:chOff x="0" y="0"/>
            <a:chExt cx="1810512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05120" cy="914400"/>
            </a:xfrm>
            <a:custGeom>
              <a:avLst/>
              <a:gdLst/>
              <a:ahLst/>
              <a:cxnLst/>
              <a:rect l="l" t="t" r="r" b="b"/>
              <a:pathLst>
                <a:path w="18105120" h="91440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803" b="-3358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81051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QA Checklist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40480" y="1042416"/>
            <a:ext cx="13578840" cy="480060"/>
            <a:chOff x="0" y="0"/>
            <a:chExt cx="1810512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05120" cy="640080"/>
            </a:xfrm>
            <a:custGeom>
              <a:avLst/>
              <a:gdLst/>
              <a:ahLst/>
              <a:cxnLst/>
              <a:rect l="l" t="t" r="r" b="b"/>
              <a:pathLst>
                <a:path w="18105120" h="640080">
                  <a:moveTo>
                    <a:pt x="0" y="0"/>
                  </a:moveTo>
                  <a:lnTo>
                    <a:pt x="18105120" y="0"/>
                  </a:lnTo>
                  <a:lnTo>
                    <a:pt x="18105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1148" b="-50114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1051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first of two formal testing deliverables produced in this module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2960" y="2606040"/>
            <a:ext cx="630936" cy="630936"/>
            <a:chOff x="0" y="0"/>
            <a:chExt cx="841248" cy="8412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61768" y="2744848"/>
            <a:ext cx="353320" cy="353320"/>
            <a:chOff x="0" y="0"/>
            <a:chExt cx="471094" cy="471094"/>
          </a:xfrm>
        </p:grpSpPr>
        <p:sp>
          <p:nvSpPr>
            <p:cNvPr id="16" name="Freeform 16" descr="/home/claude/m4_deck/img/icons/clipboard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0" b="-10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645920" y="2564892"/>
            <a:ext cx="15636240" cy="384048"/>
            <a:chOff x="0" y="0"/>
            <a:chExt cx="20848320" cy="5120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848320" cy="512064"/>
            </a:xfrm>
            <a:custGeom>
              <a:avLst/>
              <a:gdLst/>
              <a:ahLst/>
              <a:cxnLst/>
              <a:rect l="l" t="t" r="r" b="b"/>
              <a:pathLst>
                <a:path w="20848320" h="512064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3319" b="-743319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084832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Purpose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37360" y="2961894"/>
            <a:ext cx="1545336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A test-case-level QA checklist recording exactly what was tested, the expected result, the actual result, and a pass/fail status for each case.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22960" y="4114800"/>
            <a:ext cx="630936" cy="630936"/>
            <a:chOff x="0" y="0"/>
            <a:chExt cx="841248" cy="8412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61768" y="4253608"/>
            <a:ext cx="353320" cy="353320"/>
            <a:chOff x="0" y="0"/>
            <a:chExt cx="471094" cy="471094"/>
          </a:xfrm>
        </p:grpSpPr>
        <p:sp>
          <p:nvSpPr>
            <p:cNvPr id="24" name="Freeform 24" descr="/home/claude/m4_deck/img/icons/grid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0" b="-10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645920" y="4073652"/>
            <a:ext cx="15636240" cy="384048"/>
            <a:chOff x="0" y="0"/>
            <a:chExt cx="20848320" cy="51206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848320" cy="512064"/>
            </a:xfrm>
            <a:custGeom>
              <a:avLst/>
              <a:gdLst/>
              <a:ahLst/>
              <a:cxnLst/>
              <a:rect l="l" t="t" r="r" b="b"/>
              <a:pathLst>
                <a:path w="20848320" h="512064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3319" b="-743319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2084832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Scope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37360" y="4470654"/>
            <a:ext cx="1545336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22 functional test cases covering dashboard loading, KPIs, charts, tooltips, and formatting, plus 4 filter-specific test cases – one per dashboard – covering every documented filter by name.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22960" y="5623560"/>
            <a:ext cx="630936" cy="630936"/>
            <a:chOff x="0" y="0"/>
            <a:chExt cx="841248" cy="8412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61768" y="5762368"/>
            <a:ext cx="353320" cy="353320"/>
            <a:chOff x="0" y="0"/>
            <a:chExt cx="471094" cy="471094"/>
          </a:xfrm>
        </p:grpSpPr>
        <p:sp>
          <p:nvSpPr>
            <p:cNvPr id="32" name="Freeform 32" descr="/home/claude/m4_deck/img/icons/checksquare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0" b="-10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645920" y="5582412"/>
            <a:ext cx="15636240" cy="384048"/>
            <a:chOff x="0" y="0"/>
            <a:chExt cx="20848320" cy="51206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848320" cy="512064"/>
            </a:xfrm>
            <a:custGeom>
              <a:avLst/>
              <a:gdLst/>
              <a:ahLst/>
              <a:cxnLst/>
              <a:rect l="l" t="t" r="r" b="b"/>
              <a:pathLst>
                <a:path w="20848320" h="512064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3319" b="-743319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2084832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737360" y="5979414"/>
            <a:ext cx="1545336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Includes a cover page, document purpose, scope, test environment, the functional checklist, a KPI validation checklist, a dashboard validation summary, an issue log, and a final QA summary.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822960" y="7132320"/>
            <a:ext cx="630936" cy="630936"/>
            <a:chOff x="0" y="0"/>
            <a:chExt cx="841248" cy="84124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61768" y="7271128"/>
            <a:ext cx="353320" cy="353320"/>
            <a:chOff x="0" y="0"/>
            <a:chExt cx="471094" cy="471094"/>
          </a:xfrm>
        </p:grpSpPr>
        <p:sp>
          <p:nvSpPr>
            <p:cNvPr id="40" name="Freeform 40" descr="/home/claude/m4_deck/img/icons/award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0" b="-10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1645920" y="7091172"/>
            <a:ext cx="15636240" cy="384048"/>
            <a:chOff x="0" y="0"/>
            <a:chExt cx="20848320" cy="51206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848320" cy="512064"/>
            </a:xfrm>
            <a:custGeom>
              <a:avLst/>
              <a:gdLst/>
              <a:ahLst/>
              <a:cxnLst/>
              <a:rect l="l" t="t" r="r" b="b"/>
              <a:pathLst>
                <a:path w="20848320" h="512064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3319" b="-743319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2084832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Outcome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737360" y="7488174"/>
            <a:ext cx="1545336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All 26 test cases passed, with every result logged individually rather than summarized – giving a complete, auditable record of the testing cycle.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7 – Testing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328416" y="0"/>
                  </a:lnTo>
                  <a:cubicBezTo>
                    <a:pt x="3510280" y="0"/>
                    <a:pt x="3657600" y="147320"/>
                    <a:pt x="3657600" y="329184"/>
                  </a:cubicBezTo>
                  <a:cubicBezTo>
                    <a:pt x="3657600" y="511048"/>
                    <a:pt x="3510280" y="658368"/>
                    <a:pt x="332841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6576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3FC7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40480" y="384048"/>
            <a:ext cx="13578840" cy="685800"/>
            <a:chOff x="0" y="0"/>
            <a:chExt cx="1810512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05120" cy="914400"/>
            </a:xfrm>
            <a:custGeom>
              <a:avLst/>
              <a:gdLst/>
              <a:ahLst/>
              <a:cxnLst/>
              <a:rect l="l" t="t" r="r" b="b"/>
              <a:pathLst>
                <a:path w="18105120" h="91440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803" b="-3358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81051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Dashboard Testing Report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40480" y="1042416"/>
            <a:ext cx="13578840" cy="480060"/>
            <a:chOff x="0" y="0"/>
            <a:chExt cx="1810512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05120" cy="640080"/>
            </a:xfrm>
            <a:custGeom>
              <a:avLst/>
              <a:gdLst/>
              <a:ahLst/>
              <a:cxnLst/>
              <a:rect l="l" t="t" r="r" b="b"/>
              <a:pathLst>
                <a:path w="18105120" h="640080">
                  <a:moveTo>
                    <a:pt x="0" y="0"/>
                  </a:moveTo>
                  <a:lnTo>
                    <a:pt x="18105120" y="0"/>
                  </a:lnTo>
                  <a:lnTo>
                    <a:pt x="18105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1148" b="-50114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1051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The second formal testing deliverable – a summary report for review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2960" y="2606040"/>
            <a:ext cx="630936" cy="630936"/>
            <a:chOff x="0" y="0"/>
            <a:chExt cx="841248" cy="8412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61768" y="2744848"/>
            <a:ext cx="353320" cy="353320"/>
            <a:chOff x="0" y="0"/>
            <a:chExt cx="471094" cy="471094"/>
          </a:xfrm>
        </p:grpSpPr>
        <p:sp>
          <p:nvSpPr>
            <p:cNvPr id="16" name="Freeform 16" descr="/home/claude/m4_deck/img/icons/clipboard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0" b="-10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645920" y="2564892"/>
            <a:ext cx="15636240" cy="384048"/>
            <a:chOff x="0" y="0"/>
            <a:chExt cx="20848320" cy="5120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848320" cy="512064"/>
            </a:xfrm>
            <a:custGeom>
              <a:avLst/>
              <a:gdLst/>
              <a:ahLst/>
              <a:cxnLst/>
              <a:rect l="l" t="t" r="r" b="b"/>
              <a:pathLst>
                <a:path w="20848320" h="512064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3319" b="-743319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084832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Purpose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37360" y="2961894"/>
            <a:ext cx="1545336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A Business-Intelligence-style testing report that summarizes the QA Checklist's results for a reviewer, rather than repeating every individual test case.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22960" y="4114800"/>
            <a:ext cx="630936" cy="630936"/>
            <a:chOff x="0" y="0"/>
            <a:chExt cx="841248" cy="8412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61768" y="4253608"/>
            <a:ext cx="353320" cy="353320"/>
            <a:chOff x="0" y="0"/>
            <a:chExt cx="471094" cy="471094"/>
          </a:xfrm>
        </p:grpSpPr>
        <p:sp>
          <p:nvSpPr>
            <p:cNvPr id="24" name="Freeform 24" descr="/home/claude/m4_deck/img/icons/grid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0" b="-10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645920" y="4073652"/>
            <a:ext cx="15636240" cy="384048"/>
            <a:chOff x="0" y="0"/>
            <a:chExt cx="20848320" cy="51206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848320" cy="512064"/>
            </a:xfrm>
            <a:custGeom>
              <a:avLst/>
              <a:gdLst/>
              <a:ahLst/>
              <a:cxnLst/>
              <a:rect l="l" t="t" r="r" b="b"/>
              <a:pathLst>
                <a:path w="20848320" h="512064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3319" b="-743319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2084832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Contents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37360" y="4470654"/>
            <a:ext cx="1545336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Executive summary, project overview, testing objectives, a dashboards-tested table, a testing summary, a full KPI validation summary, and dashboard-by-dashboard validation results.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22960" y="5623560"/>
            <a:ext cx="630936" cy="630936"/>
            <a:chOff x="0" y="0"/>
            <a:chExt cx="841248" cy="8412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61768" y="5762368"/>
            <a:ext cx="353320" cy="353320"/>
            <a:chOff x="0" y="0"/>
            <a:chExt cx="471094" cy="471094"/>
          </a:xfrm>
        </p:grpSpPr>
        <p:sp>
          <p:nvSpPr>
            <p:cNvPr id="32" name="Freeform 32" descr="/home/claude/m4_deck/img/icons/alertoctagon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0" b="-10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645920" y="5582412"/>
            <a:ext cx="15636240" cy="384048"/>
            <a:chOff x="0" y="0"/>
            <a:chExt cx="20848320" cy="51206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848320" cy="512064"/>
            </a:xfrm>
            <a:custGeom>
              <a:avLst/>
              <a:gdLst/>
              <a:ahLst/>
              <a:cxnLst/>
              <a:rect l="l" t="t" r="r" b="b"/>
              <a:pathLst>
                <a:path w="20848320" h="512064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3319" b="-743319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2084832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Defects Log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737360" y="5979414"/>
            <a:ext cx="1545336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A formal issues log confirming no KPI mismatches, broken calculations, navigation issues, filter issues, or visualization issues were found.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822960" y="7132320"/>
            <a:ext cx="630936" cy="630936"/>
            <a:chOff x="0" y="0"/>
            <a:chExt cx="841248" cy="84124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961768" y="7271128"/>
            <a:ext cx="353320" cy="353320"/>
            <a:chOff x="0" y="0"/>
            <a:chExt cx="471094" cy="471094"/>
          </a:xfrm>
        </p:grpSpPr>
        <p:sp>
          <p:nvSpPr>
            <p:cNvPr id="40" name="Freeform 40" descr="/home/claude/m4_deck/img/icons/checksquare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0" b="-10"/>
              </a:stretch>
            </a:blipFill>
          </p:spPr>
        </p:sp>
      </p:grpSp>
      <p:grpSp>
        <p:nvGrpSpPr>
          <p:cNvPr id="41" name="Group 41"/>
          <p:cNvGrpSpPr/>
          <p:nvPr/>
        </p:nvGrpSpPr>
        <p:grpSpPr>
          <a:xfrm>
            <a:off x="1645920" y="7091172"/>
            <a:ext cx="15636240" cy="384048"/>
            <a:chOff x="0" y="0"/>
            <a:chExt cx="20848320" cy="512064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20848320" cy="512064"/>
            </a:xfrm>
            <a:custGeom>
              <a:avLst/>
              <a:gdLst/>
              <a:ahLst/>
              <a:cxnLst/>
              <a:rect l="l" t="t" r="r" b="b"/>
              <a:pathLst>
                <a:path w="20848320" h="512064">
                  <a:moveTo>
                    <a:pt x="0" y="0"/>
                  </a:moveTo>
                  <a:lnTo>
                    <a:pt x="20848320" y="0"/>
                  </a:lnTo>
                  <a:lnTo>
                    <a:pt x="2084832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3319" b="-743319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47625"/>
              <a:ext cx="2084832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Conclusion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1737360" y="7488174"/>
            <a:ext cx="1545336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States plainly that all dashboards passed testing, all KPIs were validated, and the project is approved for final submission.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7 – Testing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9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328416" y="0"/>
                  </a:lnTo>
                  <a:cubicBezTo>
                    <a:pt x="3510280" y="0"/>
                    <a:pt x="3657600" y="147320"/>
                    <a:pt x="3657600" y="329184"/>
                  </a:cubicBezTo>
                  <a:cubicBezTo>
                    <a:pt x="3657600" y="511048"/>
                    <a:pt x="3510280" y="658368"/>
                    <a:pt x="332841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6576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3FC7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40480" y="384048"/>
            <a:ext cx="13578840" cy="685800"/>
            <a:chOff x="0" y="0"/>
            <a:chExt cx="1810512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05120" cy="914400"/>
            </a:xfrm>
            <a:custGeom>
              <a:avLst/>
              <a:gdLst/>
              <a:ahLst/>
              <a:cxnLst/>
              <a:rect l="l" t="t" r="r" b="b"/>
              <a:pathLst>
                <a:path w="18105120" h="91440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803" b="-3358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810512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Module 7 – Evaluation Against Target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5816" y="2736056"/>
            <a:ext cx="16610648" cy="2346008"/>
            <a:chOff x="0" y="0"/>
            <a:chExt cx="22147530" cy="31280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147530" cy="3128010"/>
            </a:xfrm>
            <a:custGeom>
              <a:avLst/>
              <a:gdLst/>
              <a:ahLst/>
              <a:cxnLst/>
              <a:rect l="l" t="t" r="r" b="b"/>
              <a:pathLst>
                <a:path w="22147530" h="312801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2000338" y="0"/>
                  </a:lnTo>
                  <a:cubicBezTo>
                    <a:pt x="22081618" y="0"/>
                    <a:pt x="22147530" y="65913"/>
                    <a:pt x="22147530" y="147193"/>
                  </a:cubicBezTo>
                  <a:lnTo>
                    <a:pt x="22147530" y="2980817"/>
                  </a:lnTo>
                  <a:cubicBezTo>
                    <a:pt x="22147530" y="3062097"/>
                    <a:pt x="22081618" y="3128010"/>
                    <a:pt x="22000338" y="3128010"/>
                  </a:cubicBezTo>
                  <a:lnTo>
                    <a:pt x="147193" y="3128010"/>
                  </a:lnTo>
                  <a:cubicBezTo>
                    <a:pt x="65913" y="3128010"/>
                    <a:pt x="0" y="3062097"/>
                    <a:pt x="0" y="29808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34440" y="3223260"/>
            <a:ext cx="1371600" cy="1371600"/>
            <a:chOff x="0" y="0"/>
            <a:chExt cx="1828800" cy="1828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E4F3E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577340" y="3566160"/>
            <a:ext cx="685800" cy="685800"/>
            <a:chOff x="0" y="0"/>
            <a:chExt cx="914400" cy="914400"/>
          </a:xfrm>
        </p:grpSpPr>
        <p:sp>
          <p:nvSpPr>
            <p:cNvPr id="15" name="Freeform 15" descr="/home/claude/m4_deck/img/icons/checksquar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948940" y="3044952"/>
            <a:ext cx="5486400" cy="411480"/>
            <a:chOff x="0" y="0"/>
            <a:chExt cx="7315200" cy="5486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15200" cy="548640"/>
            </a:xfrm>
            <a:custGeom>
              <a:avLst/>
              <a:gdLst/>
              <a:ahLst/>
              <a:cxnLst/>
              <a:rect l="l" t="t" r="r" b="b"/>
              <a:pathLst>
                <a:path w="7315200" h="54864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3152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20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948940" y="3401568"/>
            <a:ext cx="6035040" cy="1234440"/>
            <a:chOff x="0" y="0"/>
            <a:chExt cx="8046720" cy="16459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046720" cy="1645920"/>
            </a:xfrm>
            <a:custGeom>
              <a:avLst/>
              <a:gdLst/>
              <a:ahLst/>
              <a:cxnLst/>
              <a:rect l="l" t="t" r="r" b="b"/>
              <a:pathLst>
                <a:path w="8046720" h="1645920">
                  <a:moveTo>
                    <a:pt x="0" y="0"/>
                  </a:moveTo>
                  <a:lnTo>
                    <a:pt x="8046720" y="0"/>
                  </a:lnTo>
                  <a:lnTo>
                    <a:pt x="8046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046720" cy="1693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 major dashboard issues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rot="5360640">
            <a:off x="8425758" y="3904297"/>
            <a:ext cx="1665075" cy="0"/>
          </a:xfrm>
          <a:prstGeom prst="line">
            <a:avLst/>
          </a:prstGeom>
          <a:ln w="9525" cap="rnd">
            <a:solidFill>
              <a:srgbClr val="D8E0E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9669780" y="3044952"/>
            <a:ext cx="6583680" cy="411480"/>
            <a:chOff x="0" y="0"/>
            <a:chExt cx="8778240" cy="5486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778240" cy="548640"/>
            </a:xfrm>
            <a:custGeom>
              <a:avLst/>
              <a:gdLst/>
              <a:ahLst/>
              <a:cxnLst/>
              <a:rect l="l" t="t" r="r" b="b"/>
              <a:pathLst>
                <a:path w="8778240" h="5486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877824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200">
                  <a:solidFill>
                    <a:srgbClr val="1E7B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ACTUAL RESULT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669780" y="3401568"/>
            <a:ext cx="6720840" cy="1234440"/>
            <a:chOff x="0" y="0"/>
            <a:chExt cx="8961120" cy="16459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961120" cy="1645920"/>
            </a:xfrm>
            <a:custGeom>
              <a:avLst/>
              <a:gdLst/>
              <a:ahLst/>
              <a:cxnLst/>
              <a:rect l="l" t="t" r="r" b="b"/>
              <a:pathLst>
                <a:path w="8961120" h="1645920">
                  <a:moveTo>
                    <a:pt x="0" y="0"/>
                  </a:moveTo>
                  <a:lnTo>
                    <a:pt x="8961120" y="0"/>
                  </a:lnTo>
                  <a:lnTo>
                    <a:pt x="89611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85" b="-56085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961120" cy="1693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722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 critical issues; 0 defects logged across 26 test cases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5816" y="5479256"/>
            <a:ext cx="16610648" cy="2346008"/>
            <a:chOff x="0" y="0"/>
            <a:chExt cx="22147530" cy="312801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147530" cy="3128010"/>
            </a:xfrm>
            <a:custGeom>
              <a:avLst/>
              <a:gdLst/>
              <a:ahLst/>
              <a:cxnLst/>
              <a:rect l="l" t="t" r="r" b="b"/>
              <a:pathLst>
                <a:path w="22147530" h="312801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2000338" y="0"/>
                  </a:lnTo>
                  <a:cubicBezTo>
                    <a:pt x="22081618" y="0"/>
                    <a:pt x="22147530" y="65913"/>
                    <a:pt x="22147530" y="147193"/>
                  </a:cubicBezTo>
                  <a:lnTo>
                    <a:pt x="22147530" y="2980817"/>
                  </a:lnTo>
                  <a:cubicBezTo>
                    <a:pt x="22147530" y="3062097"/>
                    <a:pt x="22081618" y="3128010"/>
                    <a:pt x="22000338" y="3128010"/>
                  </a:cubicBezTo>
                  <a:lnTo>
                    <a:pt x="147193" y="3128010"/>
                  </a:lnTo>
                  <a:cubicBezTo>
                    <a:pt x="65913" y="3128010"/>
                    <a:pt x="0" y="3062097"/>
                    <a:pt x="0" y="29808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234440" y="5966460"/>
            <a:ext cx="1371600" cy="1371600"/>
            <a:chOff x="0" y="0"/>
            <a:chExt cx="1828800" cy="1828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E4F3EA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577340" y="6309360"/>
            <a:ext cx="685800" cy="685800"/>
            <a:chOff x="0" y="0"/>
            <a:chExt cx="914400" cy="914400"/>
          </a:xfrm>
        </p:grpSpPr>
        <p:sp>
          <p:nvSpPr>
            <p:cNvPr id="34" name="Freeform 34" descr="/home/claude/m4_deck/img/icons/barchart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2948940" y="5788152"/>
            <a:ext cx="5486400" cy="411480"/>
            <a:chOff x="0" y="0"/>
            <a:chExt cx="7315200" cy="5486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15200" cy="548640"/>
            </a:xfrm>
            <a:custGeom>
              <a:avLst/>
              <a:gdLst/>
              <a:ahLst/>
              <a:cxnLst/>
              <a:rect l="l" t="t" r="r" b="b"/>
              <a:pathLst>
                <a:path w="7315200" h="54864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3152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20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948940" y="6144768"/>
            <a:ext cx="6035040" cy="1234440"/>
            <a:chOff x="0" y="0"/>
            <a:chExt cx="8046720" cy="16459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046720" cy="1645920"/>
            </a:xfrm>
            <a:custGeom>
              <a:avLst/>
              <a:gdLst/>
              <a:ahLst/>
              <a:cxnLst/>
              <a:rect l="l" t="t" r="r" b="b"/>
              <a:pathLst>
                <a:path w="8046720" h="1645920">
                  <a:moveTo>
                    <a:pt x="0" y="0"/>
                  </a:moveTo>
                  <a:lnTo>
                    <a:pt x="8046720" y="0"/>
                  </a:lnTo>
                  <a:lnTo>
                    <a:pt x="8046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8046720" cy="1693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KPI accuracy above 95%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 rot="5360640">
            <a:off x="8425758" y="6647497"/>
            <a:ext cx="1665075" cy="0"/>
          </a:xfrm>
          <a:prstGeom prst="line">
            <a:avLst/>
          </a:prstGeom>
          <a:ln w="9525" cap="rnd">
            <a:solidFill>
              <a:srgbClr val="D8E0E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2" name="Group 42"/>
          <p:cNvGrpSpPr/>
          <p:nvPr/>
        </p:nvGrpSpPr>
        <p:grpSpPr>
          <a:xfrm>
            <a:off x="9669780" y="5788152"/>
            <a:ext cx="6583680" cy="411480"/>
            <a:chOff x="0" y="0"/>
            <a:chExt cx="8778240" cy="5486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778240" cy="548640"/>
            </a:xfrm>
            <a:custGeom>
              <a:avLst/>
              <a:gdLst/>
              <a:ahLst/>
              <a:cxnLst/>
              <a:rect l="l" t="t" r="r" b="b"/>
              <a:pathLst>
                <a:path w="8778240" h="5486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877824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200">
                  <a:solidFill>
                    <a:srgbClr val="1E7B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ACTUAL RESULT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669780" y="6144768"/>
            <a:ext cx="6720840" cy="1234440"/>
            <a:chOff x="0" y="0"/>
            <a:chExt cx="8961120" cy="16459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961120" cy="1645920"/>
            </a:xfrm>
            <a:custGeom>
              <a:avLst/>
              <a:gdLst/>
              <a:ahLst/>
              <a:cxnLst/>
              <a:rect l="l" t="t" r="r" b="b"/>
              <a:pathLst>
                <a:path w="8961120" h="1645920">
                  <a:moveTo>
                    <a:pt x="0" y="0"/>
                  </a:moveTo>
                  <a:lnTo>
                    <a:pt x="8961120" y="0"/>
                  </a:lnTo>
                  <a:lnTo>
                    <a:pt x="89611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85" b="-5608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8961120" cy="1693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722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100% match rate – all 19 KPIs matched their independent calculation exactly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7 – Testing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10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328416" y="0"/>
                  </a:lnTo>
                  <a:cubicBezTo>
                    <a:pt x="3510280" y="0"/>
                    <a:pt x="3657600" y="147320"/>
                    <a:pt x="3657600" y="329184"/>
                  </a:cubicBezTo>
                  <a:cubicBezTo>
                    <a:pt x="3657600" y="511048"/>
                    <a:pt x="3510280" y="658368"/>
                    <a:pt x="332841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6576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3FC7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40480" y="384048"/>
            <a:ext cx="13578840" cy="685800"/>
            <a:chOff x="0" y="0"/>
            <a:chExt cx="1810512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05120" cy="914400"/>
            </a:xfrm>
            <a:custGeom>
              <a:avLst/>
              <a:gdLst/>
              <a:ahLst/>
              <a:cxnLst/>
              <a:rect l="l" t="t" r="r" b="b"/>
              <a:pathLst>
                <a:path w="18105120" h="91440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803" b="-3358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81051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60"/>
                </a:lnSpc>
              </a:pPr>
              <a:r>
                <a:rPr lang="en-US" sz="330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Documentation &amp; Project Delivery – Objectives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40480" y="1042416"/>
            <a:ext cx="13578840" cy="480060"/>
            <a:chOff x="0" y="0"/>
            <a:chExt cx="1810512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05120" cy="640080"/>
            </a:xfrm>
            <a:custGeom>
              <a:avLst/>
              <a:gdLst/>
              <a:ahLst/>
              <a:cxnLst/>
              <a:rect l="l" t="t" r="r" b="b"/>
              <a:pathLst>
                <a:path w="18105120" h="640080">
                  <a:moveTo>
                    <a:pt x="0" y="0"/>
                  </a:moveTo>
                  <a:lnTo>
                    <a:pt x="18105120" y="0"/>
                  </a:lnTo>
                  <a:lnTo>
                    <a:pt x="18105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1148" b="-50114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1051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Packaging the tested project for final delivery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2960" y="2606040"/>
            <a:ext cx="630936" cy="630936"/>
            <a:chOff x="0" y="0"/>
            <a:chExt cx="841248" cy="8412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61768" y="2744848"/>
            <a:ext cx="353320" cy="353320"/>
            <a:chOff x="0" y="0"/>
            <a:chExt cx="471094" cy="471094"/>
          </a:xfrm>
        </p:grpSpPr>
        <p:sp>
          <p:nvSpPr>
            <p:cNvPr id="16" name="Freeform 16" descr="/home/claude/m4_deck/img/icons/file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0" b="-10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645920" y="2564892"/>
            <a:ext cx="8915400" cy="384048"/>
            <a:chOff x="0" y="0"/>
            <a:chExt cx="11887200" cy="5120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887200" cy="512064"/>
            </a:xfrm>
            <a:custGeom>
              <a:avLst/>
              <a:gdLst/>
              <a:ahLst/>
              <a:cxnLst/>
              <a:rect l="l" t="t" r="r" b="b"/>
              <a:pathLst>
                <a:path w="11887200" h="512064">
                  <a:moveTo>
                    <a:pt x="0" y="0"/>
                  </a:moveTo>
                  <a:lnTo>
                    <a:pt x="11887200" y="0"/>
                  </a:lnTo>
                  <a:lnTo>
                    <a:pt x="11887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331" b="-402331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1188720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Prepare Project Documentation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37360" y="2961894"/>
            <a:ext cx="873252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Four documentation files covering dataset sources, KPI definitions, the dashboard guide, and the healthcare operations methodology.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22960" y="4457700"/>
            <a:ext cx="630936" cy="630936"/>
            <a:chOff x="0" y="0"/>
            <a:chExt cx="841248" cy="8412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61768" y="4596508"/>
            <a:ext cx="353320" cy="353320"/>
            <a:chOff x="0" y="0"/>
            <a:chExt cx="471094" cy="471094"/>
          </a:xfrm>
        </p:grpSpPr>
        <p:sp>
          <p:nvSpPr>
            <p:cNvPr id="24" name="Freeform 24" descr="/home/claude/m4_deck/img/icons/folder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0" b="-10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645920" y="4416552"/>
            <a:ext cx="8915400" cy="384048"/>
            <a:chOff x="0" y="0"/>
            <a:chExt cx="11887200" cy="51206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887200" cy="512064"/>
            </a:xfrm>
            <a:custGeom>
              <a:avLst/>
              <a:gdLst/>
              <a:ahLst/>
              <a:cxnLst/>
              <a:rect l="l" t="t" r="r" b="b"/>
              <a:pathLst>
                <a:path w="11887200" h="512064">
                  <a:moveTo>
                    <a:pt x="0" y="0"/>
                  </a:moveTo>
                  <a:lnTo>
                    <a:pt x="11887200" y="0"/>
                  </a:lnTo>
                  <a:lnTo>
                    <a:pt x="11887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331" b="-402331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1188720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Organize Project Structure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37360" y="4813554"/>
            <a:ext cx="873252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Separated the project into clear folders – scripts, data, dashboard assets, and documentation – so anything can be found without guesswork.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22960" y="6309360"/>
            <a:ext cx="630936" cy="630936"/>
            <a:chOff x="0" y="0"/>
            <a:chExt cx="841248" cy="8412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61768" y="6448168"/>
            <a:ext cx="353320" cy="353320"/>
            <a:chOff x="0" y="0"/>
            <a:chExt cx="471094" cy="471094"/>
          </a:xfrm>
        </p:grpSpPr>
        <p:sp>
          <p:nvSpPr>
            <p:cNvPr id="32" name="Freeform 32" descr="/home/claude/m4_deck/img/icons/github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0" b="-10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645920" y="6268212"/>
            <a:ext cx="8915400" cy="384048"/>
            <a:chOff x="0" y="0"/>
            <a:chExt cx="11887200" cy="51206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887200" cy="512064"/>
            </a:xfrm>
            <a:custGeom>
              <a:avLst/>
              <a:gdLst/>
              <a:ahLst/>
              <a:cxnLst/>
              <a:rect l="l" t="t" r="r" b="b"/>
              <a:pathLst>
                <a:path w="11887200" h="512064">
                  <a:moveTo>
                    <a:pt x="0" y="0"/>
                  </a:moveTo>
                  <a:lnTo>
                    <a:pt x="11887200" y="0"/>
                  </a:lnTo>
                  <a:lnTo>
                    <a:pt x="118872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2331" b="-402331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1188720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Deploy the Project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737360" y="6665214"/>
            <a:ext cx="873252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Published the completed project to a GitHub repository, with the Tableau workbook available via Tableau Public.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1041380" y="2606040"/>
            <a:ext cx="6377940" cy="6515100"/>
            <a:chOff x="0" y="0"/>
            <a:chExt cx="8503920" cy="8686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503920" cy="8686800"/>
            </a:xfrm>
            <a:custGeom>
              <a:avLst/>
              <a:gdLst/>
              <a:ahLst/>
              <a:cxnLst/>
              <a:rect l="l" t="t" r="r" b="b"/>
              <a:pathLst>
                <a:path w="8503920" h="868680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8357616" y="0"/>
                  </a:lnTo>
                  <a:cubicBezTo>
                    <a:pt x="8438388" y="0"/>
                    <a:pt x="8503920" y="65532"/>
                    <a:pt x="8503920" y="146304"/>
                  </a:cubicBezTo>
                  <a:lnTo>
                    <a:pt x="8503920" y="8540496"/>
                  </a:lnTo>
                  <a:cubicBezTo>
                    <a:pt x="8503920" y="8621268"/>
                    <a:pt x="8438388" y="8686800"/>
                    <a:pt x="8357616" y="8686800"/>
                  </a:cubicBezTo>
                  <a:lnTo>
                    <a:pt x="146304" y="8686800"/>
                  </a:lnTo>
                  <a:cubicBezTo>
                    <a:pt x="65532" y="8686800"/>
                    <a:pt x="0" y="8621268"/>
                    <a:pt x="0" y="8540496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1384280" y="2880360"/>
            <a:ext cx="5692140" cy="548640"/>
            <a:chOff x="0" y="0"/>
            <a:chExt cx="7589520" cy="7315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589520" cy="731520"/>
            </a:xfrm>
            <a:custGeom>
              <a:avLst/>
              <a:gdLst/>
              <a:ahLst/>
              <a:cxnLst/>
              <a:rect l="l" t="t" r="r" b="b"/>
              <a:pathLst>
                <a:path w="7589520" h="731520">
                  <a:moveTo>
                    <a:pt x="0" y="0"/>
                  </a:moveTo>
                  <a:lnTo>
                    <a:pt x="7589520" y="0"/>
                  </a:lnTo>
                  <a:lnTo>
                    <a:pt x="7589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2157" b="-15215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38100"/>
              <a:ext cx="758952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30"/>
                </a:lnSpc>
              </a:pPr>
              <a:r>
                <a:rPr lang="en-US" sz="2025" b="1">
                  <a:solidFill>
                    <a:srgbClr val="3FC7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8 Deliverables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1384280" y="3634740"/>
            <a:ext cx="685800" cy="685800"/>
            <a:chOff x="0" y="0"/>
            <a:chExt cx="914400" cy="9144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1535156" y="3785616"/>
            <a:ext cx="384048" cy="384048"/>
            <a:chOff x="0" y="0"/>
            <a:chExt cx="512064" cy="512064"/>
          </a:xfrm>
        </p:grpSpPr>
        <p:sp>
          <p:nvSpPr>
            <p:cNvPr id="45" name="Freeform 45" descr="/home/claude/m4_deck/img/icons/github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</p:grpSp>
      <p:grpSp>
        <p:nvGrpSpPr>
          <p:cNvPr id="46" name="Group 46"/>
          <p:cNvGrpSpPr/>
          <p:nvPr/>
        </p:nvGrpSpPr>
        <p:grpSpPr>
          <a:xfrm>
            <a:off x="12275820" y="3703320"/>
            <a:ext cx="4800600" cy="548640"/>
            <a:chOff x="0" y="0"/>
            <a:chExt cx="6400800" cy="73152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Repository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1384280" y="5143500"/>
            <a:ext cx="685800" cy="685800"/>
            <a:chOff x="0" y="0"/>
            <a:chExt cx="914400" cy="91440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1535156" y="5294376"/>
            <a:ext cx="384048" cy="384048"/>
            <a:chOff x="0" y="0"/>
            <a:chExt cx="512064" cy="512064"/>
          </a:xfrm>
        </p:grpSpPr>
        <p:sp>
          <p:nvSpPr>
            <p:cNvPr id="52" name="Freeform 52" descr="/home/claude/m4_deck/img/icons/file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53" name="Group 53"/>
          <p:cNvGrpSpPr/>
          <p:nvPr/>
        </p:nvGrpSpPr>
        <p:grpSpPr>
          <a:xfrm>
            <a:off x="12275820" y="5212080"/>
            <a:ext cx="4800600" cy="548640"/>
            <a:chOff x="0" y="0"/>
            <a:chExt cx="6400800" cy="7315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Final Documentation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1384280" y="6652260"/>
            <a:ext cx="685800" cy="685800"/>
            <a:chOff x="0" y="0"/>
            <a:chExt cx="914400" cy="9144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58" name="Group 58"/>
          <p:cNvGrpSpPr/>
          <p:nvPr/>
        </p:nvGrpSpPr>
        <p:grpSpPr>
          <a:xfrm>
            <a:off x="11535156" y="6803136"/>
            <a:ext cx="384048" cy="384048"/>
            <a:chOff x="0" y="0"/>
            <a:chExt cx="512064" cy="512064"/>
          </a:xfrm>
        </p:grpSpPr>
        <p:sp>
          <p:nvSpPr>
            <p:cNvPr id="59" name="Freeform 59" descr="/home/claude/m4_deck/img/icons/monitor.png"/>
            <p:cNvSpPr/>
            <p:nvPr/>
          </p:nvSpPr>
          <p:spPr>
            <a:xfrm>
              <a:off x="0" y="0"/>
              <a:ext cx="512064" cy="512064"/>
            </a:xfrm>
            <a:custGeom>
              <a:avLst/>
              <a:gdLst/>
              <a:ahLst/>
              <a:cxn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60" name="Group 60"/>
          <p:cNvGrpSpPr/>
          <p:nvPr/>
        </p:nvGrpSpPr>
        <p:grpSpPr>
          <a:xfrm>
            <a:off x="12275820" y="6720840"/>
            <a:ext cx="4800600" cy="548640"/>
            <a:chOff x="0" y="0"/>
            <a:chExt cx="6400800" cy="73152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6400800" cy="731520"/>
            </a:xfrm>
            <a:custGeom>
              <a:avLst/>
              <a:gdLst/>
              <a:ahLst/>
              <a:cxnLst/>
              <a:rect l="l" t="t" r="r" b="b"/>
              <a:pathLst>
                <a:path w="6400800" h="731520">
                  <a:moveTo>
                    <a:pt x="0" y="0"/>
                  </a:moveTo>
                  <a:lnTo>
                    <a:pt x="6400800" y="0"/>
                  </a:lnTo>
                  <a:lnTo>
                    <a:pt x="6400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494" b="-120494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47625"/>
              <a:ext cx="640080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b="1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Tableau Workbook</a:t>
              </a:r>
            </a:p>
          </p:txBody>
        </p:sp>
      </p:grpSp>
      <p:sp>
        <p:nvSpPr>
          <p:cNvPr id="63" name="AutoShape 63"/>
          <p:cNvSpPr/>
          <p:nvPr/>
        </p:nvSpPr>
        <p:spPr>
          <a:xfrm rot="11460">
            <a:off x="11374736" y="8156257"/>
            <a:ext cx="5711219" cy="0"/>
          </a:xfrm>
          <a:prstGeom prst="line">
            <a:avLst/>
          </a:prstGeom>
          <a:ln w="9525" cap="rnd">
            <a:solidFill>
              <a:srgbClr val="35557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4" name="Group 64"/>
          <p:cNvGrpSpPr/>
          <p:nvPr/>
        </p:nvGrpSpPr>
        <p:grpSpPr>
          <a:xfrm>
            <a:off x="11384280" y="8366760"/>
            <a:ext cx="5692140" cy="685800"/>
            <a:chOff x="0" y="0"/>
            <a:chExt cx="7589520" cy="9144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7589520" cy="914400"/>
            </a:xfrm>
            <a:custGeom>
              <a:avLst/>
              <a:gdLst/>
              <a:ahLst/>
              <a:cxnLst/>
              <a:rect l="l" t="t" r="r" b="b"/>
              <a:pathLst>
                <a:path w="7589520" h="914400">
                  <a:moveTo>
                    <a:pt x="0" y="0"/>
                  </a:moveTo>
                  <a:lnTo>
                    <a:pt x="7589520" y="0"/>
                  </a:lnTo>
                  <a:lnTo>
                    <a:pt x="75895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1725" b="-111725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38100"/>
              <a:ext cx="758952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09"/>
                </a:lnSpc>
              </a:pPr>
              <a:r>
                <a:rPr lang="en-US" sz="1425" i="1">
                  <a:solidFill>
                    <a:srgbClr val="3FC7C0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Evaluation target: Fully documented project, portfolio-ready dashboard suite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8 – Delivery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11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328416" y="0"/>
                  </a:lnTo>
                  <a:cubicBezTo>
                    <a:pt x="3510280" y="0"/>
                    <a:pt x="3657600" y="147320"/>
                    <a:pt x="3657600" y="329184"/>
                  </a:cubicBezTo>
                  <a:cubicBezTo>
                    <a:pt x="3657600" y="511048"/>
                    <a:pt x="3510280" y="658368"/>
                    <a:pt x="332841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6576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3FC7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40480" y="384048"/>
            <a:ext cx="13578840" cy="685800"/>
            <a:chOff x="0" y="0"/>
            <a:chExt cx="1810512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05120" cy="914400"/>
            </a:xfrm>
            <a:custGeom>
              <a:avLst/>
              <a:gdLst/>
              <a:ahLst/>
              <a:cxnLst/>
              <a:rect l="l" t="t" r="r" b="b"/>
              <a:pathLst>
                <a:path w="18105120" h="91440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803" b="-3358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810512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Project Documentation Delivered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40480" y="1042416"/>
            <a:ext cx="13578840" cy="480060"/>
            <a:chOff x="0" y="0"/>
            <a:chExt cx="1810512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05120" cy="640080"/>
            </a:xfrm>
            <a:custGeom>
              <a:avLst/>
              <a:gdLst/>
              <a:ahLst/>
              <a:cxnLst/>
              <a:rect l="l" t="t" r="r" b="b"/>
              <a:pathLst>
                <a:path w="18105120" h="640080">
                  <a:moveTo>
                    <a:pt x="0" y="0"/>
                  </a:moveTo>
                  <a:lnTo>
                    <a:pt x="18105120" y="0"/>
                  </a:lnTo>
                  <a:lnTo>
                    <a:pt x="18105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1148" b="-50114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1051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Five documents accompany the finished dashboard suite</a:t>
              </a:r>
            </a:p>
          </p:txBody>
        </p:sp>
      </p:grp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822960" y="2606040"/>
          <a:ext cx="16592550" cy="5257800"/>
        </p:xfrm>
        <a:graphic>
          <a:graphicData uri="http://schemas.openxmlformats.org/drawingml/2006/table">
            <a:tbl>
              <a:tblPr/>
              <a:tblGrid>
                <a:gridCol w="4948156"/>
                <a:gridCol w="11644394"/>
              </a:tblGrid>
              <a:tr h="876300"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Document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80"/>
                        </a:lnSpc>
                        <a:defRPr/>
                      </a:pPr>
                      <a:r>
                        <a:rPr lang="en-US" sz="1650" b="1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Covers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A5C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README.md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Overall project overview, objectives, tech stack, and structure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dataset_sources.md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 source, structure, and field-level documentation for all 37 fields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kpi_definitions.md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Definitions, formulas, and business meaning for all 19 KPIs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dashboard_guide.md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Purpose, KPI cards, and usage guidance for each of the four dashboards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3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healthcare_operations_methodology.md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2250"/>
                        </a:lnSpc>
                        <a:defRPr/>
                      </a:pPr>
                      <a:r>
                        <a:rPr lang="en-US" sz="1875">
                          <a:solidFill>
                            <a:srgbClr val="17222E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The end-to-end methodology used for the healthcare operations analysis</a:t>
                      </a:r>
                      <a:endParaRPr lang="en-US" sz="1100"/>
                    </a:p>
                  </a:txBody>
                  <a:tcPr marT="91440" marB="91440" anchor="ctr">
                    <a:lnL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14" name="Group 14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8 – Delivery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12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328416" y="0"/>
                  </a:lnTo>
                  <a:cubicBezTo>
                    <a:pt x="3510280" y="0"/>
                    <a:pt x="3657600" y="147320"/>
                    <a:pt x="3657600" y="329184"/>
                  </a:cubicBezTo>
                  <a:cubicBezTo>
                    <a:pt x="3657600" y="511048"/>
                    <a:pt x="3510280" y="658368"/>
                    <a:pt x="332841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6576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3FC7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40480" y="384048"/>
            <a:ext cx="13578840" cy="685800"/>
            <a:chOff x="0" y="0"/>
            <a:chExt cx="1810512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05120" cy="914400"/>
            </a:xfrm>
            <a:custGeom>
              <a:avLst/>
              <a:gdLst/>
              <a:ahLst/>
              <a:cxnLst/>
              <a:rect l="l" t="t" r="r" b="b"/>
              <a:pathLst>
                <a:path w="18105120" h="91440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803" b="-3358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81051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Project Structure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40480" y="1042416"/>
            <a:ext cx="13578840" cy="480060"/>
            <a:chOff x="0" y="0"/>
            <a:chExt cx="1810512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05120" cy="640080"/>
            </a:xfrm>
            <a:custGeom>
              <a:avLst/>
              <a:gdLst/>
              <a:ahLst/>
              <a:cxnLst/>
              <a:rect l="l" t="t" r="r" b="b"/>
              <a:pathLst>
                <a:path w="18105120" h="640080">
                  <a:moveTo>
                    <a:pt x="0" y="0"/>
                  </a:moveTo>
                  <a:lnTo>
                    <a:pt x="18105120" y="0"/>
                  </a:lnTo>
                  <a:lnTo>
                    <a:pt x="18105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1148" b="-50114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1051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How the finished project is organized for delivery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22960" y="2606040"/>
            <a:ext cx="7269480" cy="6035040"/>
            <a:chOff x="0" y="0"/>
            <a:chExt cx="9692640" cy="804672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9692640" cy="8046720"/>
            </a:xfrm>
            <a:custGeom>
              <a:avLst/>
              <a:gdLst/>
              <a:ahLst/>
              <a:cxnLst/>
              <a:rect l="l" t="t" r="r" b="b"/>
              <a:pathLst>
                <a:path w="9692640" h="8046720">
                  <a:moveTo>
                    <a:pt x="0" y="146304"/>
                  </a:moveTo>
                  <a:cubicBezTo>
                    <a:pt x="0" y="65532"/>
                    <a:pt x="65532" y="0"/>
                    <a:pt x="146304" y="0"/>
                  </a:cubicBezTo>
                  <a:lnTo>
                    <a:pt x="9546336" y="0"/>
                  </a:lnTo>
                  <a:cubicBezTo>
                    <a:pt x="9627108" y="0"/>
                    <a:pt x="9692640" y="65532"/>
                    <a:pt x="9692640" y="146304"/>
                  </a:cubicBezTo>
                  <a:lnTo>
                    <a:pt x="9692640" y="7900416"/>
                  </a:lnTo>
                  <a:cubicBezTo>
                    <a:pt x="9692640" y="7981188"/>
                    <a:pt x="9627108" y="8046720"/>
                    <a:pt x="9546336" y="8046720"/>
                  </a:cubicBezTo>
                  <a:lnTo>
                    <a:pt x="146304" y="8046720"/>
                  </a:lnTo>
                  <a:cubicBezTo>
                    <a:pt x="65532" y="8046720"/>
                    <a:pt x="0" y="7981188"/>
                    <a:pt x="0" y="7900416"/>
                  </a:cubicBezTo>
                  <a:close/>
                </a:path>
              </a:pathLst>
            </a:custGeom>
            <a:solidFill>
              <a:srgbClr val="0A254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234440" y="2880360"/>
            <a:ext cx="6446520" cy="521208"/>
            <a:chOff x="0" y="0"/>
            <a:chExt cx="8595360" cy="69494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595360" cy="694944"/>
            </a:xfrm>
            <a:custGeom>
              <a:avLst/>
              <a:gdLst/>
              <a:ahLst/>
              <a:cxnLst/>
              <a:rect l="l" t="t" r="r" b="b"/>
              <a:pathLst>
                <a:path w="8595360" h="694944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99" b="-190999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859536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b="1">
                  <a:solidFill>
                    <a:srgbClr val="3FC7C0"/>
                  </a:solidFill>
                  <a:latin typeface="Consolas Bold"/>
                  <a:ea typeface="Consolas Bold"/>
                  <a:cs typeface="Consolas Bold"/>
                  <a:sym typeface="Consolas Bold"/>
                </a:rPr>
                <a:t>MedTrack_DV/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34440" y="3429000"/>
            <a:ext cx="6446520" cy="521208"/>
            <a:chOff x="0" y="0"/>
            <a:chExt cx="8595360" cy="69494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595360" cy="694944"/>
            </a:xfrm>
            <a:custGeom>
              <a:avLst/>
              <a:gdLst/>
              <a:ahLst/>
              <a:cxnLst/>
              <a:rect l="l" t="t" r="r" b="b"/>
              <a:pathLst>
                <a:path w="8595360" h="694944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99" b="-190999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859536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E4EC"/>
                  </a:solidFill>
                  <a:latin typeface="Consolas"/>
                  <a:ea typeface="Consolas"/>
                  <a:cs typeface="Consolas"/>
                  <a:sym typeface="Consolas"/>
                </a:rPr>
                <a:t>├─ /scripts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234440" y="3977640"/>
            <a:ext cx="6446520" cy="521208"/>
            <a:chOff x="0" y="0"/>
            <a:chExt cx="8595360" cy="69494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595360" cy="694944"/>
            </a:xfrm>
            <a:custGeom>
              <a:avLst/>
              <a:gdLst/>
              <a:ahLst/>
              <a:cxnLst/>
              <a:rect l="l" t="t" r="r" b="b"/>
              <a:pathLst>
                <a:path w="8595360" h="694944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99" b="-19099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47625"/>
              <a:ext cx="859536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E4EC"/>
                  </a:solidFill>
                  <a:latin typeface="Consolas"/>
                  <a:ea typeface="Consolas"/>
                  <a:cs typeface="Consolas"/>
                  <a:sym typeface="Consolas"/>
                </a:rPr>
                <a:t>│   (data collection, cleaning,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34440" y="4526280"/>
            <a:ext cx="6446520" cy="521208"/>
            <a:chOff x="0" y="0"/>
            <a:chExt cx="8595360" cy="69494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8595360" cy="694944"/>
            </a:xfrm>
            <a:custGeom>
              <a:avLst/>
              <a:gdLst/>
              <a:ahLst/>
              <a:cxnLst/>
              <a:rect l="l" t="t" r="r" b="b"/>
              <a:pathLst>
                <a:path w="8595360" h="694944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99" b="-190999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47625"/>
              <a:ext cx="859536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E4EC"/>
                  </a:solidFill>
                  <a:latin typeface="Consolas"/>
                  <a:ea typeface="Consolas"/>
                  <a:cs typeface="Consolas"/>
                  <a:sym typeface="Consolas"/>
                </a:rPr>
                <a:t>│    KPI generation)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234440" y="5074920"/>
            <a:ext cx="6446520" cy="521208"/>
            <a:chOff x="0" y="0"/>
            <a:chExt cx="8595360" cy="69494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595360" cy="694944"/>
            </a:xfrm>
            <a:custGeom>
              <a:avLst/>
              <a:gdLst/>
              <a:ahLst/>
              <a:cxnLst/>
              <a:rect l="l" t="t" r="r" b="b"/>
              <a:pathLst>
                <a:path w="8595360" h="694944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99" b="-190999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47625"/>
              <a:ext cx="859536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E4EC"/>
                  </a:solidFill>
                  <a:latin typeface="Consolas"/>
                  <a:ea typeface="Consolas"/>
                  <a:cs typeface="Consolas"/>
                  <a:sym typeface="Consolas"/>
                </a:rPr>
                <a:t>├─ /data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34440" y="5623560"/>
            <a:ext cx="6446520" cy="521208"/>
            <a:chOff x="0" y="0"/>
            <a:chExt cx="8595360" cy="69494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595360" cy="694944"/>
            </a:xfrm>
            <a:custGeom>
              <a:avLst/>
              <a:gdLst/>
              <a:ahLst/>
              <a:cxnLst/>
              <a:rect l="l" t="t" r="r" b="b"/>
              <a:pathLst>
                <a:path w="8595360" h="694944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99" b="-190999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47625"/>
              <a:ext cx="859536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E4EC"/>
                  </a:solidFill>
                  <a:latin typeface="Consolas"/>
                  <a:ea typeface="Consolas"/>
                  <a:cs typeface="Consolas"/>
                  <a:sym typeface="Consolas"/>
                </a:rPr>
                <a:t>│   (raw and cleaned datasets)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1234440" y="6172200"/>
            <a:ext cx="6446520" cy="521208"/>
            <a:chOff x="0" y="0"/>
            <a:chExt cx="8595360" cy="69494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595360" cy="694944"/>
            </a:xfrm>
            <a:custGeom>
              <a:avLst/>
              <a:gdLst/>
              <a:ahLst/>
              <a:cxnLst/>
              <a:rect l="l" t="t" r="r" b="b"/>
              <a:pathLst>
                <a:path w="8595360" h="694944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99" b="-190999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859536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E4EC"/>
                  </a:solidFill>
                  <a:latin typeface="Consolas"/>
                  <a:ea typeface="Consolas"/>
                  <a:cs typeface="Consolas"/>
                  <a:sym typeface="Consolas"/>
                </a:rPr>
                <a:t>├─ /dashboard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34440" y="6720840"/>
            <a:ext cx="6446520" cy="521208"/>
            <a:chOff x="0" y="0"/>
            <a:chExt cx="8595360" cy="694944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8595360" cy="694944"/>
            </a:xfrm>
            <a:custGeom>
              <a:avLst/>
              <a:gdLst/>
              <a:ahLst/>
              <a:cxnLst/>
              <a:rect l="l" t="t" r="r" b="b"/>
              <a:pathLst>
                <a:path w="8595360" h="694944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99" b="-190999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47625"/>
              <a:ext cx="859536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E4EC"/>
                  </a:solidFill>
                  <a:latin typeface="Consolas"/>
                  <a:ea typeface="Consolas"/>
                  <a:cs typeface="Consolas"/>
                  <a:sym typeface="Consolas"/>
                </a:rPr>
                <a:t>│   (Tableau workbook &amp; screenshots)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234440" y="7269480"/>
            <a:ext cx="6446520" cy="521208"/>
            <a:chOff x="0" y="0"/>
            <a:chExt cx="8595360" cy="694944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8595360" cy="694944"/>
            </a:xfrm>
            <a:custGeom>
              <a:avLst/>
              <a:gdLst/>
              <a:ahLst/>
              <a:cxnLst/>
              <a:rect l="l" t="t" r="r" b="b"/>
              <a:pathLst>
                <a:path w="8595360" h="694944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99" b="-190999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47625"/>
              <a:ext cx="859536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E4EC"/>
                  </a:solidFill>
                  <a:latin typeface="Consolas"/>
                  <a:ea typeface="Consolas"/>
                  <a:cs typeface="Consolas"/>
                  <a:sym typeface="Consolas"/>
                </a:rPr>
                <a:t>└─ /docs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34440" y="7818120"/>
            <a:ext cx="6446520" cy="521208"/>
            <a:chOff x="0" y="0"/>
            <a:chExt cx="8595360" cy="694944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595360" cy="694944"/>
            </a:xfrm>
            <a:custGeom>
              <a:avLst/>
              <a:gdLst/>
              <a:ahLst/>
              <a:cxnLst/>
              <a:rect l="l" t="t" r="r" b="b"/>
              <a:pathLst>
                <a:path w="8595360" h="694944">
                  <a:moveTo>
                    <a:pt x="0" y="0"/>
                  </a:moveTo>
                  <a:lnTo>
                    <a:pt x="8595360" y="0"/>
                  </a:lnTo>
                  <a:lnTo>
                    <a:pt x="859536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0999" b="-190999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47625"/>
              <a:ext cx="8595360" cy="7425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D6E4EC"/>
                  </a:solidFill>
                  <a:latin typeface="Consolas"/>
                  <a:ea typeface="Consolas"/>
                  <a:cs typeface="Consolas"/>
                  <a:sym typeface="Consolas"/>
                </a:rPr>
                <a:t>    (all project documentation)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8641080" y="2606040"/>
            <a:ext cx="630936" cy="630936"/>
            <a:chOff x="0" y="0"/>
            <a:chExt cx="841248" cy="841248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8779888" y="2744848"/>
            <a:ext cx="353320" cy="353320"/>
            <a:chOff x="0" y="0"/>
            <a:chExt cx="471094" cy="471094"/>
          </a:xfrm>
        </p:grpSpPr>
        <p:sp>
          <p:nvSpPr>
            <p:cNvPr id="48" name="Freeform 48" descr="/home/claude/m4_deck/img/icons/folder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0" b="-10"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9464040" y="2564892"/>
            <a:ext cx="7955280" cy="384048"/>
            <a:chOff x="0" y="0"/>
            <a:chExt cx="10607040" cy="512064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10607040" cy="512064"/>
            </a:xfrm>
            <a:custGeom>
              <a:avLst/>
              <a:gdLst/>
              <a:ahLst/>
              <a:cxnLst/>
              <a:rect l="l" t="t" r="r" b="b"/>
              <a:pathLst>
                <a:path w="10607040" h="512064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3618" b="-353618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47625"/>
              <a:ext cx="1060704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Four Clear Folders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9555480" y="2961894"/>
            <a:ext cx="777240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Scripts, data, dashboard, and docs are kept fully separate, so anyone opening the repository can find what they need immediately.</a:t>
            </a:r>
          </a:p>
        </p:txBody>
      </p:sp>
      <p:grpSp>
        <p:nvGrpSpPr>
          <p:cNvPr id="53" name="Group 53"/>
          <p:cNvGrpSpPr/>
          <p:nvPr/>
        </p:nvGrpSpPr>
        <p:grpSpPr>
          <a:xfrm>
            <a:off x="8641080" y="4114800"/>
            <a:ext cx="630936" cy="630936"/>
            <a:chOff x="0" y="0"/>
            <a:chExt cx="841248" cy="841248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55" name="Group 55"/>
          <p:cNvGrpSpPr/>
          <p:nvPr/>
        </p:nvGrpSpPr>
        <p:grpSpPr>
          <a:xfrm>
            <a:off x="8779888" y="4253608"/>
            <a:ext cx="353320" cy="353320"/>
            <a:chOff x="0" y="0"/>
            <a:chExt cx="471094" cy="471094"/>
          </a:xfrm>
        </p:grpSpPr>
        <p:sp>
          <p:nvSpPr>
            <p:cNvPr id="56" name="Freeform 56" descr="/home/claude/m4_deck/img/icons/code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0" b="-10"/>
              </a:stretch>
            </a:blipFill>
          </p:spPr>
        </p:sp>
      </p:grpSp>
      <p:grpSp>
        <p:nvGrpSpPr>
          <p:cNvPr id="57" name="Group 57"/>
          <p:cNvGrpSpPr/>
          <p:nvPr/>
        </p:nvGrpSpPr>
        <p:grpSpPr>
          <a:xfrm>
            <a:off x="9464040" y="4073652"/>
            <a:ext cx="7955280" cy="384048"/>
            <a:chOff x="0" y="0"/>
            <a:chExt cx="10607040" cy="51206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0607040" cy="512064"/>
            </a:xfrm>
            <a:custGeom>
              <a:avLst/>
              <a:gdLst/>
              <a:ahLst/>
              <a:cxnLst/>
              <a:rect l="l" t="t" r="r" b="b"/>
              <a:pathLst>
                <a:path w="10607040" h="512064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3618" b="-353618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47625"/>
              <a:ext cx="1060704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Scripts Kept Reusable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9555480" y="4470654"/>
            <a:ext cx="777240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Data collection, cleaning, and KPI generation each live in their own script, rather than one large file.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8641080" y="5623560"/>
            <a:ext cx="630936" cy="630936"/>
            <a:chOff x="0" y="0"/>
            <a:chExt cx="841248" cy="841248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8779888" y="5762368"/>
            <a:ext cx="353320" cy="353320"/>
            <a:chOff x="0" y="0"/>
            <a:chExt cx="471094" cy="471094"/>
          </a:xfrm>
        </p:grpSpPr>
        <p:sp>
          <p:nvSpPr>
            <p:cNvPr id="64" name="Freeform 64" descr="/home/claude/m4_deck/img/icons/monitor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0" b="-10"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9464040" y="5582412"/>
            <a:ext cx="7955280" cy="384048"/>
            <a:chOff x="0" y="0"/>
            <a:chExt cx="10607040" cy="512064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10607040" cy="512064"/>
            </a:xfrm>
            <a:custGeom>
              <a:avLst/>
              <a:gdLst/>
              <a:ahLst/>
              <a:cxnLst/>
              <a:rect l="l" t="t" r="r" b="b"/>
              <a:pathLst>
                <a:path w="10607040" h="512064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3618" b="-353618"/>
              </a:stretch>
            </a:blipFill>
          </p:spPr>
        </p:sp>
        <p:sp>
          <p:nvSpPr>
            <p:cNvPr id="67" name="TextBox 67"/>
            <p:cNvSpPr txBox="1"/>
            <p:nvPr/>
          </p:nvSpPr>
          <p:spPr>
            <a:xfrm>
              <a:off x="0" y="-47625"/>
              <a:ext cx="1060704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 Assets Included</a:t>
              </a:r>
            </a:p>
          </p:txBody>
        </p:sp>
      </p:grpSp>
      <p:sp>
        <p:nvSpPr>
          <p:cNvPr id="68" name="TextBox 68"/>
          <p:cNvSpPr txBox="1"/>
          <p:nvPr/>
        </p:nvSpPr>
        <p:spPr>
          <a:xfrm>
            <a:off x="9555480" y="5979414"/>
            <a:ext cx="777240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Screenshots of all four dashboards are included alongside the Tableau workbook itself.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8641080" y="7132320"/>
            <a:ext cx="630936" cy="630936"/>
            <a:chOff x="0" y="0"/>
            <a:chExt cx="841248" cy="841248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71" name="Group 71"/>
          <p:cNvGrpSpPr/>
          <p:nvPr/>
        </p:nvGrpSpPr>
        <p:grpSpPr>
          <a:xfrm>
            <a:off x="8779888" y="7271128"/>
            <a:ext cx="353320" cy="353320"/>
            <a:chOff x="0" y="0"/>
            <a:chExt cx="471094" cy="471094"/>
          </a:xfrm>
        </p:grpSpPr>
        <p:sp>
          <p:nvSpPr>
            <p:cNvPr id="72" name="Freeform 72" descr="/home/claude/m4_deck/img/icons/file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0" b="-10"/>
              </a:stretch>
            </a:blipFill>
          </p:spPr>
        </p:sp>
      </p:grpSp>
      <p:grpSp>
        <p:nvGrpSpPr>
          <p:cNvPr id="73" name="Group 73"/>
          <p:cNvGrpSpPr/>
          <p:nvPr/>
        </p:nvGrpSpPr>
        <p:grpSpPr>
          <a:xfrm>
            <a:off x="9464040" y="7091172"/>
            <a:ext cx="7955280" cy="384048"/>
            <a:chOff x="0" y="0"/>
            <a:chExt cx="10607040" cy="512064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0607040" cy="512064"/>
            </a:xfrm>
            <a:custGeom>
              <a:avLst/>
              <a:gdLst/>
              <a:ahLst/>
              <a:cxnLst/>
              <a:rect l="l" t="t" r="r" b="b"/>
              <a:pathLst>
                <a:path w="10607040" h="512064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3618" b="-353618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47625"/>
              <a:ext cx="1060704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Documentation Centralized</a:t>
              </a: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9555480" y="7488174"/>
            <a:ext cx="777240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All five documentation files live in a single /docs folder for easy reference.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8 – Delivery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13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328416" y="0"/>
                  </a:lnTo>
                  <a:cubicBezTo>
                    <a:pt x="3510280" y="0"/>
                    <a:pt x="3657600" y="147320"/>
                    <a:pt x="3657600" y="329184"/>
                  </a:cubicBezTo>
                  <a:cubicBezTo>
                    <a:pt x="3657600" y="511048"/>
                    <a:pt x="3510280" y="658368"/>
                    <a:pt x="332841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6576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3FC7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40480" y="384048"/>
            <a:ext cx="13578840" cy="685800"/>
            <a:chOff x="0" y="0"/>
            <a:chExt cx="1810512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05120" cy="914400"/>
            </a:xfrm>
            <a:custGeom>
              <a:avLst/>
              <a:gdLst/>
              <a:ahLst/>
              <a:cxnLst/>
              <a:rect l="l" t="t" r="r" b="b"/>
              <a:pathLst>
                <a:path w="18105120" h="91440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803" b="-3358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9525"/>
              <a:ext cx="18105120" cy="92392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00"/>
                </a:lnSpc>
              </a:pPr>
              <a:r>
                <a:rPr lang="en-US" sz="375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Deployment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3840480" y="1042416"/>
            <a:ext cx="13578840" cy="480060"/>
            <a:chOff x="0" y="0"/>
            <a:chExt cx="18105120" cy="64008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8105120" cy="640080"/>
            </a:xfrm>
            <a:custGeom>
              <a:avLst/>
              <a:gdLst/>
              <a:ahLst/>
              <a:cxnLst/>
              <a:rect l="l" t="t" r="r" b="b"/>
              <a:pathLst>
                <a:path w="18105120" h="640080">
                  <a:moveTo>
                    <a:pt x="0" y="0"/>
                  </a:moveTo>
                  <a:lnTo>
                    <a:pt x="18105120" y="0"/>
                  </a:lnTo>
                  <a:lnTo>
                    <a:pt x="1810512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1148" b="-501148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8105120" cy="6781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0"/>
                </a:lnSpc>
              </a:pPr>
              <a:r>
                <a:rPr lang="en-US" sz="1875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Where the finished project is published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815816" y="2598896"/>
            <a:ext cx="8175307" cy="4952047"/>
            <a:chOff x="0" y="0"/>
            <a:chExt cx="10900410" cy="660273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900410" cy="6602730"/>
            </a:xfrm>
            <a:custGeom>
              <a:avLst/>
              <a:gdLst/>
              <a:ahLst/>
              <a:cxnLst/>
              <a:rect l="l" t="t" r="r" b="b"/>
              <a:pathLst>
                <a:path w="10900410" h="660273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753725" y="0"/>
                  </a:lnTo>
                  <a:cubicBezTo>
                    <a:pt x="10834751" y="0"/>
                    <a:pt x="10900410" y="65659"/>
                    <a:pt x="10900410" y="146685"/>
                  </a:cubicBezTo>
                  <a:lnTo>
                    <a:pt x="10900410" y="6456045"/>
                  </a:lnTo>
                  <a:cubicBezTo>
                    <a:pt x="10900410" y="6537071"/>
                    <a:pt x="10834751" y="6602730"/>
                    <a:pt x="10753725" y="6602730"/>
                  </a:cubicBezTo>
                  <a:lnTo>
                    <a:pt x="146685" y="6602730"/>
                  </a:lnTo>
                  <a:cubicBezTo>
                    <a:pt x="65659" y="6602730"/>
                    <a:pt x="0" y="6537071"/>
                    <a:pt x="0" y="645604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234440" y="3017520"/>
            <a:ext cx="1028700" cy="1028700"/>
            <a:chOff x="0" y="0"/>
            <a:chExt cx="1371600" cy="1371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465898" y="3248978"/>
            <a:ext cx="565785" cy="565785"/>
            <a:chOff x="0" y="0"/>
            <a:chExt cx="754380" cy="754380"/>
          </a:xfrm>
        </p:grpSpPr>
        <p:sp>
          <p:nvSpPr>
            <p:cNvPr id="18" name="Freeform 18" descr="/home/claude/m4_deck/img/icons/github.png"/>
            <p:cNvSpPr/>
            <p:nvPr/>
          </p:nvSpPr>
          <p:spPr>
            <a:xfrm>
              <a:off x="0" y="0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80" h="754380">
                  <a:moveTo>
                    <a:pt x="0" y="0"/>
                  </a:moveTo>
                  <a:lnTo>
                    <a:pt x="754380" y="0"/>
                  </a:lnTo>
                  <a:lnTo>
                    <a:pt x="754380" y="754380"/>
                  </a:lnTo>
                  <a:lnTo>
                    <a:pt x="0" y="754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9" name="Group 19"/>
          <p:cNvGrpSpPr/>
          <p:nvPr/>
        </p:nvGrpSpPr>
        <p:grpSpPr>
          <a:xfrm>
            <a:off x="1234440" y="4320540"/>
            <a:ext cx="7338060" cy="548640"/>
            <a:chOff x="0" y="0"/>
            <a:chExt cx="978408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9784080" cy="731520"/>
            </a:xfrm>
            <a:custGeom>
              <a:avLst/>
              <a:gdLst/>
              <a:ahLst/>
              <a:cxnLst/>
              <a:rect l="l" t="t" r="r" b="b"/>
              <a:pathLst>
                <a:path w="9784080" h="731520">
                  <a:moveTo>
                    <a:pt x="0" y="0"/>
                  </a:moveTo>
                  <a:lnTo>
                    <a:pt x="9784080" y="0"/>
                  </a:lnTo>
                  <a:lnTo>
                    <a:pt x="978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612" b="-210612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9525"/>
              <a:ext cx="978408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GitHub Repository</a:t>
              </a:r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325880" y="5013960"/>
            <a:ext cx="7155180" cy="2278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7222E"/>
                </a:solidFill>
                <a:latin typeface="Calibri (MS)"/>
                <a:ea typeface="Calibri (MS)"/>
                <a:cs typeface="Calibri (MS)"/>
                <a:sym typeface="Calibri (MS)"/>
              </a:rPr>
              <a:t>The full project – scripts, data, dashboard assets, and documentation – is published to a GitHub repository as the primary delivery channel.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9251156" y="2598896"/>
            <a:ext cx="8175307" cy="4952047"/>
            <a:chOff x="0" y="0"/>
            <a:chExt cx="10900410" cy="660273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900410" cy="6602730"/>
            </a:xfrm>
            <a:custGeom>
              <a:avLst/>
              <a:gdLst/>
              <a:ahLst/>
              <a:cxnLst/>
              <a:rect l="l" t="t" r="r" b="b"/>
              <a:pathLst>
                <a:path w="10900410" h="660273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0753725" y="0"/>
                  </a:lnTo>
                  <a:cubicBezTo>
                    <a:pt x="10834751" y="0"/>
                    <a:pt x="10900410" y="65659"/>
                    <a:pt x="10900410" y="146685"/>
                  </a:cubicBezTo>
                  <a:lnTo>
                    <a:pt x="10900410" y="6456045"/>
                  </a:lnTo>
                  <a:cubicBezTo>
                    <a:pt x="10900410" y="6537071"/>
                    <a:pt x="10834751" y="6602730"/>
                    <a:pt x="10753725" y="6602730"/>
                  </a:cubicBezTo>
                  <a:lnTo>
                    <a:pt x="146685" y="6602730"/>
                  </a:lnTo>
                  <a:cubicBezTo>
                    <a:pt x="65659" y="6602730"/>
                    <a:pt x="0" y="6537071"/>
                    <a:pt x="0" y="6456045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25" name="Group 25"/>
          <p:cNvGrpSpPr/>
          <p:nvPr/>
        </p:nvGrpSpPr>
        <p:grpSpPr>
          <a:xfrm>
            <a:off x="9669780" y="3017520"/>
            <a:ext cx="1028700" cy="1028700"/>
            <a:chOff x="0" y="0"/>
            <a:chExt cx="1371600" cy="13716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371600" cy="1371600"/>
            </a:xfrm>
            <a:custGeom>
              <a:avLst/>
              <a:gdLst/>
              <a:ahLst/>
              <a:cxnLst/>
              <a:rect l="l" t="t" r="r" b="b"/>
              <a:pathLst>
                <a:path w="1371600" h="1371600">
                  <a:moveTo>
                    <a:pt x="0" y="685800"/>
                  </a:moveTo>
                  <a:cubicBezTo>
                    <a:pt x="0" y="307086"/>
                    <a:pt x="307086" y="0"/>
                    <a:pt x="685800" y="0"/>
                  </a:cubicBezTo>
                  <a:cubicBezTo>
                    <a:pt x="1064514" y="0"/>
                    <a:pt x="1371600" y="307086"/>
                    <a:pt x="1371600" y="685800"/>
                  </a:cubicBezTo>
                  <a:cubicBezTo>
                    <a:pt x="1371600" y="1064514"/>
                    <a:pt x="1064514" y="1371600"/>
                    <a:pt x="685800" y="1371600"/>
                  </a:cubicBezTo>
                  <a:cubicBezTo>
                    <a:pt x="307086" y="1371600"/>
                    <a:pt x="0" y="1064514"/>
                    <a:pt x="0" y="685800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9901238" y="3248978"/>
            <a:ext cx="565785" cy="565785"/>
            <a:chOff x="0" y="0"/>
            <a:chExt cx="754380" cy="754380"/>
          </a:xfrm>
        </p:grpSpPr>
        <p:sp>
          <p:nvSpPr>
            <p:cNvPr id="28" name="Freeform 28" descr="/home/claude/m4_deck/img/icons/monitor.png"/>
            <p:cNvSpPr/>
            <p:nvPr/>
          </p:nvSpPr>
          <p:spPr>
            <a:xfrm>
              <a:off x="0" y="0"/>
              <a:ext cx="754380" cy="754380"/>
            </a:xfrm>
            <a:custGeom>
              <a:avLst/>
              <a:gdLst/>
              <a:ahLst/>
              <a:cxnLst/>
              <a:rect l="l" t="t" r="r" b="b"/>
              <a:pathLst>
                <a:path w="754380" h="754380">
                  <a:moveTo>
                    <a:pt x="0" y="0"/>
                  </a:moveTo>
                  <a:lnTo>
                    <a:pt x="754380" y="0"/>
                  </a:lnTo>
                  <a:lnTo>
                    <a:pt x="754380" y="754380"/>
                  </a:lnTo>
                  <a:lnTo>
                    <a:pt x="0" y="7543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9" name="Group 29"/>
          <p:cNvGrpSpPr/>
          <p:nvPr/>
        </p:nvGrpSpPr>
        <p:grpSpPr>
          <a:xfrm>
            <a:off x="9669780" y="4320540"/>
            <a:ext cx="7338060" cy="548640"/>
            <a:chOff x="0" y="0"/>
            <a:chExt cx="9784080" cy="73152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84080" cy="731520"/>
            </a:xfrm>
            <a:custGeom>
              <a:avLst/>
              <a:gdLst/>
              <a:ahLst/>
              <a:cxnLst/>
              <a:rect l="l" t="t" r="r" b="b"/>
              <a:pathLst>
                <a:path w="9784080" h="731520">
                  <a:moveTo>
                    <a:pt x="0" y="0"/>
                  </a:moveTo>
                  <a:lnTo>
                    <a:pt x="9784080" y="0"/>
                  </a:lnTo>
                  <a:lnTo>
                    <a:pt x="97840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0612" b="-210612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978408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Tableau Public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9761220" y="5013960"/>
            <a:ext cx="7155180" cy="2278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7222E"/>
                </a:solidFill>
                <a:latin typeface="Calibri (MS)"/>
                <a:ea typeface="Calibri (MS)"/>
                <a:cs typeface="Calibri (MS)"/>
                <a:sym typeface="Calibri (MS)"/>
              </a:rPr>
              <a:t>The Tableau workbook is made available through Tableau Public, allowing the dashboard suite to be viewed and explored directly in a browser.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8 – Delivery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328416" y="0"/>
                  </a:lnTo>
                  <a:cubicBezTo>
                    <a:pt x="3510280" y="0"/>
                    <a:pt x="3657600" y="147320"/>
                    <a:pt x="3657600" y="329184"/>
                  </a:cubicBezTo>
                  <a:cubicBezTo>
                    <a:pt x="3657600" y="511048"/>
                    <a:pt x="3510280" y="658368"/>
                    <a:pt x="332841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822960" y="438912"/>
            <a:ext cx="2743200" cy="493776"/>
            <a:chOff x="0" y="0"/>
            <a:chExt cx="3657600" cy="65836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57600" cy="658368"/>
            </a:xfrm>
            <a:custGeom>
              <a:avLst/>
              <a:gdLst/>
              <a:ahLst/>
              <a:cxnLst/>
              <a:rect l="l" t="t" r="r" b="b"/>
              <a:pathLst>
                <a:path w="3657600" h="658368">
                  <a:moveTo>
                    <a:pt x="0" y="0"/>
                  </a:moveTo>
                  <a:lnTo>
                    <a:pt x="3657600" y="0"/>
                  </a:lnTo>
                  <a:lnTo>
                    <a:pt x="3657600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8250" b="-5825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657600" cy="6774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89"/>
                </a:lnSpc>
              </a:pPr>
              <a:r>
                <a:rPr lang="en-US" sz="1575" b="1">
                  <a:solidFill>
                    <a:srgbClr val="3FC7C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MODULE 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3840480" y="384048"/>
            <a:ext cx="13578840" cy="685800"/>
            <a:chOff x="0" y="0"/>
            <a:chExt cx="18105120" cy="9144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105120" cy="914400"/>
            </a:xfrm>
            <a:custGeom>
              <a:avLst/>
              <a:gdLst/>
              <a:ahLst/>
              <a:cxnLst/>
              <a:rect l="l" t="t" r="r" b="b"/>
              <a:pathLst>
                <a:path w="18105120" h="914400">
                  <a:moveTo>
                    <a:pt x="0" y="0"/>
                  </a:moveTo>
                  <a:lnTo>
                    <a:pt x="18105120" y="0"/>
                  </a:lnTo>
                  <a:lnTo>
                    <a:pt x="181051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35803" b="-33580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18105120" cy="9334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20"/>
                </a:lnSpc>
              </a:pPr>
              <a:r>
                <a:rPr lang="en-US" sz="360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Module 8 – Evaluation Against Target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15816" y="2736056"/>
            <a:ext cx="16610648" cy="2346008"/>
            <a:chOff x="0" y="0"/>
            <a:chExt cx="22147530" cy="312801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2147530" cy="3128010"/>
            </a:xfrm>
            <a:custGeom>
              <a:avLst/>
              <a:gdLst/>
              <a:ahLst/>
              <a:cxnLst/>
              <a:rect l="l" t="t" r="r" b="b"/>
              <a:pathLst>
                <a:path w="22147530" h="312801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2000338" y="0"/>
                  </a:lnTo>
                  <a:cubicBezTo>
                    <a:pt x="22081618" y="0"/>
                    <a:pt x="22147530" y="65913"/>
                    <a:pt x="22147530" y="147193"/>
                  </a:cubicBezTo>
                  <a:lnTo>
                    <a:pt x="22147530" y="2980817"/>
                  </a:lnTo>
                  <a:cubicBezTo>
                    <a:pt x="22147530" y="3062097"/>
                    <a:pt x="22081618" y="3128010"/>
                    <a:pt x="22000338" y="3128010"/>
                  </a:cubicBezTo>
                  <a:lnTo>
                    <a:pt x="147193" y="3128010"/>
                  </a:lnTo>
                  <a:cubicBezTo>
                    <a:pt x="65913" y="3128010"/>
                    <a:pt x="0" y="3062097"/>
                    <a:pt x="0" y="29808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1234440" y="3223260"/>
            <a:ext cx="1371600" cy="1371600"/>
            <a:chOff x="0" y="0"/>
            <a:chExt cx="1828800" cy="1828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E4F3EA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577340" y="3566160"/>
            <a:ext cx="685800" cy="685800"/>
            <a:chOff x="0" y="0"/>
            <a:chExt cx="914400" cy="914400"/>
          </a:xfrm>
        </p:grpSpPr>
        <p:sp>
          <p:nvSpPr>
            <p:cNvPr id="15" name="Freeform 15" descr="/home/claude/m4_deck/img/icons/file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2948940" y="3044952"/>
            <a:ext cx="5486400" cy="411480"/>
            <a:chOff x="0" y="0"/>
            <a:chExt cx="7315200" cy="54864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15200" cy="548640"/>
            </a:xfrm>
            <a:custGeom>
              <a:avLst/>
              <a:gdLst/>
              <a:ahLst/>
              <a:cxnLst/>
              <a:rect l="l" t="t" r="r" b="b"/>
              <a:pathLst>
                <a:path w="7315200" h="54864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73152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20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948940" y="3401568"/>
            <a:ext cx="6035040" cy="1234440"/>
            <a:chOff x="0" y="0"/>
            <a:chExt cx="8046720" cy="16459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046720" cy="1645920"/>
            </a:xfrm>
            <a:custGeom>
              <a:avLst/>
              <a:gdLst/>
              <a:ahLst/>
              <a:cxnLst/>
              <a:rect l="l" t="t" r="r" b="b"/>
              <a:pathLst>
                <a:path w="8046720" h="1645920">
                  <a:moveTo>
                    <a:pt x="0" y="0"/>
                  </a:moveTo>
                  <a:lnTo>
                    <a:pt x="8046720" y="0"/>
                  </a:lnTo>
                  <a:lnTo>
                    <a:pt x="8046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8046720" cy="1693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Fully documented project</a:t>
              </a:r>
            </a:p>
          </p:txBody>
        </p:sp>
      </p:grpSp>
      <p:sp>
        <p:nvSpPr>
          <p:cNvPr id="22" name="AutoShape 22"/>
          <p:cNvSpPr/>
          <p:nvPr/>
        </p:nvSpPr>
        <p:spPr>
          <a:xfrm rot="5360640">
            <a:off x="8425758" y="3904297"/>
            <a:ext cx="1665075" cy="0"/>
          </a:xfrm>
          <a:prstGeom prst="line">
            <a:avLst/>
          </a:prstGeom>
          <a:ln w="9525" cap="rnd">
            <a:solidFill>
              <a:srgbClr val="D8E0E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9669780" y="3044952"/>
            <a:ext cx="6583680" cy="411480"/>
            <a:chOff x="0" y="0"/>
            <a:chExt cx="8778240" cy="54864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778240" cy="548640"/>
            </a:xfrm>
            <a:custGeom>
              <a:avLst/>
              <a:gdLst/>
              <a:ahLst/>
              <a:cxnLst/>
              <a:rect l="l" t="t" r="r" b="b"/>
              <a:pathLst>
                <a:path w="8778240" h="5486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877824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200">
                  <a:solidFill>
                    <a:srgbClr val="1E7B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ACTUAL RESULT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669780" y="3401568"/>
            <a:ext cx="6720840" cy="1234440"/>
            <a:chOff x="0" y="0"/>
            <a:chExt cx="8961120" cy="164592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961120" cy="1645920"/>
            </a:xfrm>
            <a:custGeom>
              <a:avLst/>
              <a:gdLst/>
              <a:ahLst/>
              <a:cxnLst/>
              <a:rect l="l" t="t" r="r" b="b"/>
              <a:pathLst>
                <a:path w="8961120" h="1645920">
                  <a:moveTo>
                    <a:pt x="0" y="0"/>
                  </a:moveTo>
                  <a:lnTo>
                    <a:pt x="8961120" y="0"/>
                  </a:lnTo>
                  <a:lnTo>
                    <a:pt x="89611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85" b="-56085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47625"/>
              <a:ext cx="8961120" cy="1693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722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 documentation files delivered, covering dataset, KPIs, dashboards, and methodology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815816" y="5479256"/>
            <a:ext cx="16610648" cy="2346008"/>
            <a:chOff x="0" y="0"/>
            <a:chExt cx="22147530" cy="312801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2147530" cy="3128010"/>
            </a:xfrm>
            <a:custGeom>
              <a:avLst/>
              <a:gdLst/>
              <a:ahLst/>
              <a:cxnLst/>
              <a:rect l="l" t="t" r="r" b="b"/>
              <a:pathLst>
                <a:path w="22147530" h="312801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22000338" y="0"/>
                  </a:lnTo>
                  <a:cubicBezTo>
                    <a:pt x="22081618" y="0"/>
                    <a:pt x="22147530" y="65913"/>
                    <a:pt x="22147530" y="147193"/>
                  </a:cubicBezTo>
                  <a:lnTo>
                    <a:pt x="22147530" y="2980817"/>
                  </a:lnTo>
                  <a:cubicBezTo>
                    <a:pt x="22147530" y="3062097"/>
                    <a:pt x="22081618" y="3128010"/>
                    <a:pt x="22000338" y="3128010"/>
                  </a:cubicBezTo>
                  <a:lnTo>
                    <a:pt x="147193" y="3128010"/>
                  </a:lnTo>
                  <a:cubicBezTo>
                    <a:pt x="65913" y="3128010"/>
                    <a:pt x="0" y="3062097"/>
                    <a:pt x="0" y="2980817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234440" y="5966460"/>
            <a:ext cx="1371600" cy="1371600"/>
            <a:chOff x="0" y="0"/>
            <a:chExt cx="1828800" cy="1828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828800" cy="1828800"/>
            </a:xfrm>
            <a:custGeom>
              <a:avLst/>
              <a:gdLst/>
              <a:ahLst/>
              <a:cxnLst/>
              <a:rect l="l" t="t" r="r" b="b"/>
              <a:pathLst>
                <a:path w="1828800" h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E4F3EA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1577340" y="6309360"/>
            <a:ext cx="685800" cy="685800"/>
            <a:chOff x="0" y="0"/>
            <a:chExt cx="914400" cy="914400"/>
          </a:xfrm>
        </p:grpSpPr>
        <p:sp>
          <p:nvSpPr>
            <p:cNvPr id="34" name="Freeform 34" descr="/home/claude/m4_deck/img/icons/award.png"/>
            <p:cNvSpPr/>
            <p:nvPr/>
          </p:nvSpPr>
          <p:spPr>
            <a:xfrm>
              <a:off x="0" y="0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2948940" y="5788152"/>
            <a:ext cx="5486400" cy="411480"/>
            <a:chOff x="0" y="0"/>
            <a:chExt cx="7315200" cy="5486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7315200" cy="548640"/>
            </a:xfrm>
            <a:custGeom>
              <a:avLst/>
              <a:gdLst/>
              <a:ahLst/>
              <a:cxnLst/>
              <a:rect l="l" t="t" r="r" b="b"/>
              <a:pathLst>
                <a:path w="7315200" h="548640">
                  <a:moveTo>
                    <a:pt x="0" y="0"/>
                  </a:moveTo>
                  <a:lnTo>
                    <a:pt x="7315200" y="0"/>
                  </a:lnTo>
                  <a:lnTo>
                    <a:pt x="73152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9800" b="-209800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731520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200">
                  <a:solidFill>
                    <a:srgbClr val="5B6B7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TARGET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2948940" y="6144768"/>
            <a:ext cx="6035040" cy="1234440"/>
            <a:chOff x="0" y="0"/>
            <a:chExt cx="8046720" cy="164592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046720" cy="1645920"/>
            </a:xfrm>
            <a:custGeom>
              <a:avLst/>
              <a:gdLst/>
              <a:ahLst/>
              <a:cxnLst/>
              <a:rect l="l" t="t" r="r" b="b"/>
              <a:pathLst>
                <a:path w="8046720" h="1645920">
                  <a:moveTo>
                    <a:pt x="0" y="0"/>
                  </a:moveTo>
                  <a:lnTo>
                    <a:pt x="8046720" y="0"/>
                  </a:lnTo>
                  <a:lnTo>
                    <a:pt x="80467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5260" b="-45260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-47625"/>
              <a:ext cx="8046720" cy="1693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Portfolio-ready dashboard suite</a:t>
              </a:r>
            </a:p>
          </p:txBody>
        </p:sp>
      </p:grpSp>
      <p:sp>
        <p:nvSpPr>
          <p:cNvPr id="41" name="AutoShape 41"/>
          <p:cNvSpPr/>
          <p:nvPr/>
        </p:nvSpPr>
        <p:spPr>
          <a:xfrm rot="5360640">
            <a:off x="8425758" y="6647497"/>
            <a:ext cx="1665075" cy="0"/>
          </a:xfrm>
          <a:prstGeom prst="line">
            <a:avLst/>
          </a:prstGeom>
          <a:ln w="9525" cap="rnd">
            <a:solidFill>
              <a:srgbClr val="D8E0E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2" name="Group 42"/>
          <p:cNvGrpSpPr/>
          <p:nvPr/>
        </p:nvGrpSpPr>
        <p:grpSpPr>
          <a:xfrm>
            <a:off x="9669780" y="5788152"/>
            <a:ext cx="6583680" cy="411480"/>
            <a:chOff x="0" y="0"/>
            <a:chExt cx="8778240" cy="54864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778240" cy="548640"/>
            </a:xfrm>
            <a:custGeom>
              <a:avLst/>
              <a:gdLst/>
              <a:ahLst/>
              <a:cxnLst/>
              <a:rect l="l" t="t" r="r" b="b"/>
              <a:pathLst>
                <a:path w="8778240" h="548640">
                  <a:moveTo>
                    <a:pt x="0" y="0"/>
                  </a:moveTo>
                  <a:lnTo>
                    <a:pt x="8778240" y="0"/>
                  </a:lnTo>
                  <a:lnTo>
                    <a:pt x="877824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38100"/>
              <a:ext cx="877824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0"/>
                </a:lnSpc>
              </a:pPr>
              <a:r>
                <a:rPr lang="en-US" sz="1500" b="1" spc="1200">
                  <a:solidFill>
                    <a:srgbClr val="1E7B4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ACTUAL RESULT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669780" y="6144768"/>
            <a:ext cx="6720840" cy="1234440"/>
            <a:chOff x="0" y="0"/>
            <a:chExt cx="8961120" cy="16459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8961120" cy="1645920"/>
            </a:xfrm>
            <a:custGeom>
              <a:avLst/>
              <a:gdLst/>
              <a:ahLst/>
              <a:cxnLst/>
              <a:rect l="l" t="t" r="r" b="b"/>
              <a:pathLst>
                <a:path w="8961120" h="1645920">
                  <a:moveTo>
                    <a:pt x="0" y="0"/>
                  </a:moveTo>
                  <a:lnTo>
                    <a:pt x="8961120" y="0"/>
                  </a:lnTo>
                  <a:lnTo>
                    <a:pt x="896112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085" b="-5608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47625"/>
              <a:ext cx="8961120" cy="16935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>
                  <a:solidFill>
                    <a:srgbClr val="17222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 tested dashboards, 19 validated KPIs, and formal QA records, all published to GitHub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8 – Delivery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16596360" cy="822960"/>
            <a:chOff x="0" y="0"/>
            <a:chExt cx="22128480" cy="1097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097280"/>
            </a:xfrm>
            <a:custGeom>
              <a:avLst/>
              <a:gdLst/>
              <a:ahLst/>
              <a:cxnLst/>
              <a:rect l="l" t="t" r="r" b="b"/>
              <a:pathLst>
                <a:path w="22128480" h="10972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948" b="-34294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Milestone 4 – Final Deliverables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207008"/>
            <a:ext cx="16596360" cy="438912"/>
            <a:chOff x="0" y="0"/>
            <a:chExt cx="22128480" cy="5852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28480" cy="585216"/>
            </a:xfrm>
            <a:custGeom>
              <a:avLst/>
              <a:gdLst/>
              <a:ahLst/>
              <a:cxnLst/>
              <a:rect l="l" t="t" r="r" b="b"/>
              <a:pathLst>
                <a:path w="22128480" h="585216">
                  <a:moveTo>
                    <a:pt x="0" y="0"/>
                  </a:moveTo>
                  <a:lnTo>
                    <a:pt x="22128480" y="0"/>
                  </a:lnTo>
                  <a:lnTo>
                    <a:pt x="221284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6777" b="-68677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2128480" cy="63284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5B6B79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Everything produced across Module 7 and Module 8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15816" y="2598896"/>
            <a:ext cx="3168967" cy="3031808"/>
            <a:chOff x="0" y="0"/>
            <a:chExt cx="4225290" cy="40424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225290" cy="4042410"/>
            </a:xfrm>
            <a:custGeom>
              <a:avLst/>
              <a:gdLst/>
              <a:ahLst/>
              <a:cxnLst/>
              <a:rect l="l" t="t" r="r" b="b"/>
              <a:pathLst>
                <a:path w="4225290" h="404241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4078351" y="0"/>
                  </a:lnTo>
                  <a:cubicBezTo>
                    <a:pt x="4159504" y="0"/>
                    <a:pt x="4225290" y="65786"/>
                    <a:pt x="4225290" y="146939"/>
                  </a:cubicBezTo>
                  <a:lnTo>
                    <a:pt x="4225290" y="3895471"/>
                  </a:lnTo>
                  <a:cubicBezTo>
                    <a:pt x="4225290" y="3976624"/>
                    <a:pt x="4159504" y="4042410"/>
                    <a:pt x="4078351" y="4042410"/>
                  </a:cubicBezTo>
                  <a:lnTo>
                    <a:pt x="146939" y="4042410"/>
                  </a:lnTo>
                  <a:cubicBezTo>
                    <a:pt x="65786" y="4042410"/>
                    <a:pt x="0" y="3976624"/>
                    <a:pt x="0" y="389547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2016252" y="2948940"/>
            <a:ext cx="768096" cy="768096"/>
            <a:chOff x="0" y="0"/>
            <a:chExt cx="1024128" cy="102412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185235" y="3117923"/>
            <a:ext cx="430130" cy="430130"/>
            <a:chOff x="0" y="0"/>
            <a:chExt cx="573507" cy="573507"/>
          </a:xfrm>
        </p:grpSpPr>
        <p:sp>
          <p:nvSpPr>
            <p:cNvPr id="13" name="Freeform 13" descr="/home/claude/m4_deck/img/icons/checksquare.png"/>
            <p:cNvSpPr/>
            <p:nvPr/>
          </p:nvSpPr>
          <p:spPr>
            <a:xfrm>
              <a:off x="0" y="0"/>
              <a:ext cx="573532" cy="573532"/>
            </a:xfrm>
            <a:custGeom>
              <a:avLst/>
              <a:gdLst/>
              <a:ahLst/>
              <a:cxnLst/>
              <a:rect l="l" t="t" r="r" b="b"/>
              <a:pathLst>
                <a:path w="573532" h="573532">
                  <a:moveTo>
                    <a:pt x="0" y="0"/>
                  </a:moveTo>
                  <a:lnTo>
                    <a:pt x="573532" y="0"/>
                  </a:lnTo>
                  <a:lnTo>
                    <a:pt x="573532" y="573532"/>
                  </a:lnTo>
                  <a:lnTo>
                    <a:pt x="0" y="573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4" b="4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51560" y="3926205"/>
            <a:ext cx="2697480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17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QA Checklist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60120" y="5006340"/>
            <a:ext cx="2880360" cy="411480"/>
            <a:chOff x="0" y="0"/>
            <a:chExt cx="3840480" cy="54864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0480" cy="548640"/>
            </a:xfrm>
            <a:custGeom>
              <a:avLst/>
              <a:gdLst/>
              <a:ahLst/>
              <a:cxnLst/>
              <a:rect l="l" t="t" r="r" b="b"/>
              <a:pathLst>
                <a:path w="3840480" h="548640">
                  <a:moveTo>
                    <a:pt x="0" y="0"/>
                  </a:moveTo>
                  <a:lnTo>
                    <a:pt x="3840480" y="0"/>
                  </a:lnTo>
                  <a:lnTo>
                    <a:pt x="3840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38404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0E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7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176236" y="2598896"/>
            <a:ext cx="3168967" cy="3031808"/>
            <a:chOff x="0" y="0"/>
            <a:chExt cx="4225290" cy="40424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225290" cy="4042410"/>
            </a:xfrm>
            <a:custGeom>
              <a:avLst/>
              <a:gdLst/>
              <a:ahLst/>
              <a:cxnLst/>
              <a:rect l="l" t="t" r="r" b="b"/>
              <a:pathLst>
                <a:path w="4225290" h="404241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4078351" y="0"/>
                  </a:lnTo>
                  <a:cubicBezTo>
                    <a:pt x="4159504" y="0"/>
                    <a:pt x="4225290" y="65786"/>
                    <a:pt x="4225290" y="146939"/>
                  </a:cubicBezTo>
                  <a:lnTo>
                    <a:pt x="4225290" y="3895471"/>
                  </a:lnTo>
                  <a:cubicBezTo>
                    <a:pt x="4225290" y="3976624"/>
                    <a:pt x="4159504" y="4042410"/>
                    <a:pt x="4078351" y="4042410"/>
                  </a:cubicBezTo>
                  <a:lnTo>
                    <a:pt x="146939" y="4042410"/>
                  </a:lnTo>
                  <a:cubicBezTo>
                    <a:pt x="65786" y="4042410"/>
                    <a:pt x="0" y="3976624"/>
                    <a:pt x="0" y="389547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5376672" y="2948940"/>
            <a:ext cx="768096" cy="768096"/>
            <a:chOff x="0" y="0"/>
            <a:chExt cx="1024128" cy="1024128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5545655" y="3117923"/>
            <a:ext cx="430130" cy="430130"/>
            <a:chOff x="0" y="0"/>
            <a:chExt cx="573507" cy="573507"/>
          </a:xfrm>
        </p:grpSpPr>
        <p:sp>
          <p:nvSpPr>
            <p:cNvPr id="23" name="Freeform 23" descr="/home/claude/m4_deck/img/icons/clipboard.png"/>
            <p:cNvSpPr/>
            <p:nvPr/>
          </p:nvSpPr>
          <p:spPr>
            <a:xfrm>
              <a:off x="0" y="0"/>
              <a:ext cx="573532" cy="573532"/>
            </a:xfrm>
            <a:custGeom>
              <a:avLst/>
              <a:gdLst/>
              <a:ahLst/>
              <a:cxnLst/>
              <a:rect l="l" t="t" r="r" b="b"/>
              <a:pathLst>
                <a:path w="573532" h="573532">
                  <a:moveTo>
                    <a:pt x="0" y="0"/>
                  </a:moveTo>
                  <a:lnTo>
                    <a:pt x="573532" y="0"/>
                  </a:lnTo>
                  <a:lnTo>
                    <a:pt x="573532" y="573532"/>
                  </a:lnTo>
                  <a:lnTo>
                    <a:pt x="0" y="573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4" b="4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4411980" y="3926205"/>
            <a:ext cx="2697480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17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Dashboard Testing Report</a:t>
            </a:r>
          </a:p>
        </p:txBody>
      </p:sp>
      <p:grpSp>
        <p:nvGrpSpPr>
          <p:cNvPr id="25" name="Group 25"/>
          <p:cNvGrpSpPr/>
          <p:nvPr/>
        </p:nvGrpSpPr>
        <p:grpSpPr>
          <a:xfrm>
            <a:off x="4320540" y="5006340"/>
            <a:ext cx="2880360" cy="411480"/>
            <a:chOff x="0" y="0"/>
            <a:chExt cx="3840480" cy="548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840480" cy="548640"/>
            </a:xfrm>
            <a:custGeom>
              <a:avLst/>
              <a:gdLst/>
              <a:ahLst/>
              <a:cxnLst/>
              <a:rect l="l" t="t" r="r" b="b"/>
              <a:pathLst>
                <a:path w="3840480" h="548640">
                  <a:moveTo>
                    <a:pt x="0" y="0"/>
                  </a:moveTo>
                  <a:lnTo>
                    <a:pt x="3840480" y="0"/>
                  </a:lnTo>
                  <a:lnTo>
                    <a:pt x="3840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38404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0E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7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7536656" y="2598896"/>
            <a:ext cx="3168967" cy="3031808"/>
            <a:chOff x="0" y="0"/>
            <a:chExt cx="4225290" cy="404241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225290" cy="4042410"/>
            </a:xfrm>
            <a:custGeom>
              <a:avLst/>
              <a:gdLst/>
              <a:ahLst/>
              <a:cxnLst/>
              <a:rect l="l" t="t" r="r" b="b"/>
              <a:pathLst>
                <a:path w="4225290" h="404241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4078351" y="0"/>
                  </a:lnTo>
                  <a:cubicBezTo>
                    <a:pt x="4159504" y="0"/>
                    <a:pt x="4225290" y="65786"/>
                    <a:pt x="4225290" y="146939"/>
                  </a:cubicBezTo>
                  <a:lnTo>
                    <a:pt x="4225290" y="3895471"/>
                  </a:lnTo>
                  <a:cubicBezTo>
                    <a:pt x="4225290" y="3976624"/>
                    <a:pt x="4159504" y="4042410"/>
                    <a:pt x="4078351" y="4042410"/>
                  </a:cubicBezTo>
                  <a:lnTo>
                    <a:pt x="146939" y="4042410"/>
                  </a:lnTo>
                  <a:cubicBezTo>
                    <a:pt x="65786" y="4042410"/>
                    <a:pt x="0" y="3976624"/>
                    <a:pt x="0" y="389547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8737092" y="2948940"/>
            <a:ext cx="768096" cy="768096"/>
            <a:chOff x="0" y="0"/>
            <a:chExt cx="1024128" cy="102412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8906075" y="3117923"/>
            <a:ext cx="430130" cy="430130"/>
            <a:chOff x="0" y="0"/>
            <a:chExt cx="573507" cy="573507"/>
          </a:xfrm>
        </p:grpSpPr>
        <p:sp>
          <p:nvSpPr>
            <p:cNvPr id="33" name="Freeform 33" descr="/home/claude/m4_deck/img/icons/github.png"/>
            <p:cNvSpPr/>
            <p:nvPr/>
          </p:nvSpPr>
          <p:spPr>
            <a:xfrm>
              <a:off x="0" y="0"/>
              <a:ext cx="573532" cy="573532"/>
            </a:xfrm>
            <a:custGeom>
              <a:avLst/>
              <a:gdLst/>
              <a:ahLst/>
              <a:cxnLst/>
              <a:rect l="l" t="t" r="r" b="b"/>
              <a:pathLst>
                <a:path w="573532" h="573532">
                  <a:moveTo>
                    <a:pt x="0" y="0"/>
                  </a:moveTo>
                  <a:lnTo>
                    <a:pt x="573532" y="0"/>
                  </a:lnTo>
                  <a:lnTo>
                    <a:pt x="573532" y="573532"/>
                  </a:lnTo>
                  <a:lnTo>
                    <a:pt x="0" y="573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4" b="4"/>
              </a:stretch>
            </a:blipFill>
          </p:spPr>
        </p:sp>
      </p:grpSp>
      <p:sp>
        <p:nvSpPr>
          <p:cNvPr id="34" name="TextBox 34"/>
          <p:cNvSpPr txBox="1"/>
          <p:nvPr/>
        </p:nvSpPr>
        <p:spPr>
          <a:xfrm>
            <a:off x="7772400" y="3926205"/>
            <a:ext cx="2697480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17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GitHub Repository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7680960" y="5006340"/>
            <a:ext cx="2880360" cy="411480"/>
            <a:chOff x="0" y="0"/>
            <a:chExt cx="3840480" cy="54864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840480" cy="548640"/>
            </a:xfrm>
            <a:custGeom>
              <a:avLst/>
              <a:gdLst/>
              <a:ahLst/>
              <a:cxnLst/>
              <a:rect l="l" t="t" r="r" b="b"/>
              <a:pathLst>
                <a:path w="3840480" h="548640">
                  <a:moveTo>
                    <a:pt x="0" y="0"/>
                  </a:moveTo>
                  <a:lnTo>
                    <a:pt x="3840480" y="0"/>
                  </a:lnTo>
                  <a:lnTo>
                    <a:pt x="3840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38404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0E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8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897076" y="2598896"/>
            <a:ext cx="3168967" cy="3031808"/>
            <a:chOff x="0" y="0"/>
            <a:chExt cx="4225290" cy="404241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225290" cy="4042410"/>
            </a:xfrm>
            <a:custGeom>
              <a:avLst/>
              <a:gdLst/>
              <a:ahLst/>
              <a:cxnLst/>
              <a:rect l="l" t="t" r="r" b="b"/>
              <a:pathLst>
                <a:path w="4225290" h="404241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4078351" y="0"/>
                  </a:lnTo>
                  <a:cubicBezTo>
                    <a:pt x="4159504" y="0"/>
                    <a:pt x="4225290" y="65786"/>
                    <a:pt x="4225290" y="146939"/>
                  </a:cubicBezTo>
                  <a:lnTo>
                    <a:pt x="4225290" y="3895471"/>
                  </a:lnTo>
                  <a:cubicBezTo>
                    <a:pt x="4225290" y="3976624"/>
                    <a:pt x="4159504" y="4042410"/>
                    <a:pt x="4078351" y="4042410"/>
                  </a:cubicBezTo>
                  <a:lnTo>
                    <a:pt x="146939" y="4042410"/>
                  </a:lnTo>
                  <a:cubicBezTo>
                    <a:pt x="65786" y="4042410"/>
                    <a:pt x="0" y="3976624"/>
                    <a:pt x="0" y="389547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12097512" y="2948940"/>
            <a:ext cx="768096" cy="768096"/>
            <a:chOff x="0" y="0"/>
            <a:chExt cx="1024128" cy="102412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42" name="Group 42"/>
          <p:cNvGrpSpPr/>
          <p:nvPr/>
        </p:nvGrpSpPr>
        <p:grpSpPr>
          <a:xfrm>
            <a:off x="12266495" y="3117923"/>
            <a:ext cx="430130" cy="430130"/>
            <a:chOff x="0" y="0"/>
            <a:chExt cx="573507" cy="573507"/>
          </a:xfrm>
        </p:grpSpPr>
        <p:sp>
          <p:nvSpPr>
            <p:cNvPr id="43" name="Freeform 43" descr="/home/claude/m4_deck/img/icons/file.png"/>
            <p:cNvSpPr/>
            <p:nvPr/>
          </p:nvSpPr>
          <p:spPr>
            <a:xfrm>
              <a:off x="0" y="0"/>
              <a:ext cx="573532" cy="573532"/>
            </a:xfrm>
            <a:custGeom>
              <a:avLst/>
              <a:gdLst/>
              <a:ahLst/>
              <a:cxnLst/>
              <a:rect l="l" t="t" r="r" b="b"/>
              <a:pathLst>
                <a:path w="573532" h="573532">
                  <a:moveTo>
                    <a:pt x="0" y="0"/>
                  </a:moveTo>
                  <a:lnTo>
                    <a:pt x="573532" y="0"/>
                  </a:lnTo>
                  <a:lnTo>
                    <a:pt x="573532" y="573532"/>
                  </a:lnTo>
                  <a:lnTo>
                    <a:pt x="0" y="573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4" b="4"/>
              </a:stretch>
            </a:blipFill>
          </p:spPr>
        </p:sp>
      </p:grpSp>
      <p:sp>
        <p:nvSpPr>
          <p:cNvPr id="44" name="TextBox 44"/>
          <p:cNvSpPr txBox="1"/>
          <p:nvPr/>
        </p:nvSpPr>
        <p:spPr>
          <a:xfrm>
            <a:off x="11132820" y="3926205"/>
            <a:ext cx="2697480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17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Final Documentation (5 files)</a:t>
            </a:r>
          </a:p>
        </p:txBody>
      </p:sp>
      <p:grpSp>
        <p:nvGrpSpPr>
          <p:cNvPr id="45" name="Group 45"/>
          <p:cNvGrpSpPr/>
          <p:nvPr/>
        </p:nvGrpSpPr>
        <p:grpSpPr>
          <a:xfrm>
            <a:off x="11041380" y="5006340"/>
            <a:ext cx="2880360" cy="411480"/>
            <a:chOff x="0" y="0"/>
            <a:chExt cx="3840480" cy="54864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840480" cy="548640"/>
            </a:xfrm>
            <a:custGeom>
              <a:avLst/>
              <a:gdLst/>
              <a:ahLst/>
              <a:cxnLst/>
              <a:rect l="l" t="t" r="r" b="b"/>
              <a:pathLst>
                <a:path w="3840480" h="548640">
                  <a:moveTo>
                    <a:pt x="0" y="0"/>
                  </a:moveTo>
                  <a:lnTo>
                    <a:pt x="3840480" y="0"/>
                  </a:lnTo>
                  <a:lnTo>
                    <a:pt x="3840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38404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0E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8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4257496" y="2598896"/>
            <a:ext cx="3168967" cy="3031808"/>
            <a:chOff x="0" y="0"/>
            <a:chExt cx="4225290" cy="404241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225290" cy="4042410"/>
            </a:xfrm>
            <a:custGeom>
              <a:avLst/>
              <a:gdLst/>
              <a:ahLst/>
              <a:cxnLst/>
              <a:rect l="l" t="t" r="r" b="b"/>
              <a:pathLst>
                <a:path w="4225290" h="404241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4078351" y="0"/>
                  </a:lnTo>
                  <a:cubicBezTo>
                    <a:pt x="4159504" y="0"/>
                    <a:pt x="4225290" y="65786"/>
                    <a:pt x="4225290" y="146939"/>
                  </a:cubicBezTo>
                  <a:lnTo>
                    <a:pt x="4225290" y="3895471"/>
                  </a:lnTo>
                  <a:cubicBezTo>
                    <a:pt x="4225290" y="3976624"/>
                    <a:pt x="4159504" y="4042410"/>
                    <a:pt x="4078351" y="4042410"/>
                  </a:cubicBezTo>
                  <a:lnTo>
                    <a:pt x="146939" y="4042410"/>
                  </a:lnTo>
                  <a:cubicBezTo>
                    <a:pt x="65786" y="4042410"/>
                    <a:pt x="0" y="3976624"/>
                    <a:pt x="0" y="3895471"/>
                  </a:cubicBezTo>
                  <a:close/>
                </a:path>
              </a:pathLst>
            </a:custGeom>
            <a:solidFill>
              <a:srgbClr val="FFFFFF"/>
            </a:solidFill>
            <a:ln w="14288" cap="sq">
              <a:solidFill>
                <a:srgbClr val="D8E0E6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5457932" y="2948940"/>
            <a:ext cx="768096" cy="768096"/>
            <a:chOff x="0" y="0"/>
            <a:chExt cx="1024128" cy="1024128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24128" cy="1024128"/>
            </a:xfrm>
            <a:custGeom>
              <a:avLst/>
              <a:gdLst/>
              <a:ahLst/>
              <a:cxn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52" name="Group 52"/>
          <p:cNvGrpSpPr/>
          <p:nvPr/>
        </p:nvGrpSpPr>
        <p:grpSpPr>
          <a:xfrm>
            <a:off x="15626915" y="3117923"/>
            <a:ext cx="430130" cy="430130"/>
            <a:chOff x="0" y="0"/>
            <a:chExt cx="573507" cy="573507"/>
          </a:xfrm>
        </p:grpSpPr>
        <p:sp>
          <p:nvSpPr>
            <p:cNvPr id="53" name="Freeform 53" descr="/home/claude/m4_deck/img/icons/monitor.png"/>
            <p:cNvSpPr/>
            <p:nvPr/>
          </p:nvSpPr>
          <p:spPr>
            <a:xfrm>
              <a:off x="0" y="0"/>
              <a:ext cx="573532" cy="573532"/>
            </a:xfrm>
            <a:custGeom>
              <a:avLst/>
              <a:gdLst/>
              <a:ahLst/>
              <a:cxnLst/>
              <a:rect l="l" t="t" r="r" b="b"/>
              <a:pathLst>
                <a:path w="573532" h="573532">
                  <a:moveTo>
                    <a:pt x="0" y="0"/>
                  </a:moveTo>
                  <a:lnTo>
                    <a:pt x="573532" y="0"/>
                  </a:lnTo>
                  <a:lnTo>
                    <a:pt x="573532" y="573532"/>
                  </a:lnTo>
                  <a:lnTo>
                    <a:pt x="0" y="573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r="4" b="4"/>
              </a:stretch>
            </a:blipFill>
          </p:spPr>
        </p:sp>
      </p:grpSp>
      <p:sp>
        <p:nvSpPr>
          <p:cNvPr id="54" name="TextBox 54"/>
          <p:cNvSpPr txBox="1"/>
          <p:nvPr/>
        </p:nvSpPr>
        <p:spPr>
          <a:xfrm>
            <a:off x="14493240" y="3926205"/>
            <a:ext cx="2697480" cy="897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1">
                <a:solidFill>
                  <a:srgbClr val="17222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Tableau Workbook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14401800" y="5006340"/>
            <a:ext cx="2880360" cy="411480"/>
            <a:chOff x="0" y="0"/>
            <a:chExt cx="3840480" cy="548640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3840480" cy="548640"/>
            </a:xfrm>
            <a:custGeom>
              <a:avLst/>
              <a:gdLst/>
              <a:ahLst/>
              <a:cxnLst/>
              <a:rect l="l" t="t" r="r" b="b"/>
              <a:pathLst>
                <a:path w="3840480" h="548640">
                  <a:moveTo>
                    <a:pt x="0" y="0"/>
                  </a:moveTo>
                  <a:lnTo>
                    <a:pt x="3840480" y="0"/>
                  </a:lnTo>
                  <a:lnTo>
                    <a:pt x="384048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57" name="TextBox 57"/>
            <p:cNvSpPr txBox="1"/>
            <p:nvPr/>
          </p:nvSpPr>
          <p:spPr>
            <a:xfrm>
              <a:off x="0" y="-38100"/>
              <a:ext cx="3840480" cy="58674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0E6E7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Module 8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822960" y="6035040"/>
            <a:ext cx="16596360" cy="822960"/>
            <a:chOff x="0" y="0"/>
            <a:chExt cx="22128480" cy="109728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2128480" cy="1097280"/>
            </a:xfrm>
            <a:custGeom>
              <a:avLst/>
              <a:gdLst/>
              <a:ahLst/>
              <a:cxnLst/>
              <a:rect l="l" t="t" r="r" b="b"/>
              <a:pathLst>
                <a:path w="22128480" h="10972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948" b="-342948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47625"/>
              <a:ext cx="22128480" cy="11449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0"/>
                </a:lnSpc>
              </a:pPr>
              <a:r>
                <a:rPr lang="en-US" sz="1950" i="1">
                  <a:solidFill>
                    <a:srgbClr val="123A5C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Together, these five deliverables confirm that the MedTrack_DV project has been tested end to end and packaged for final submission.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62" name="Freeform 62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63" name="TextBox 63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Summary</a:t>
              </a: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16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38912"/>
            <a:ext cx="16596360" cy="822960"/>
            <a:chOff x="0" y="0"/>
            <a:chExt cx="22128480" cy="109728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1097280"/>
            </a:xfrm>
            <a:custGeom>
              <a:avLst/>
              <a:gdLst/>
              <a:ahLst/>
              <a:cxnLst/>
              <a:rect l="l" t="t" r="r" b="b"/>
              <a:pathLst>
                <a:path w="22128480" h="1097280">
                  <a:moveTo>
                    <a:pt x="0" y="0"/>
                  </a:moveTo>
                  <a:lnTo>
                    <a:pt x="22128480" y="0"/>
                  </a:lnTo>
                  <a:lnTo>
                    <a:pt x="221284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948" b="-342948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11068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0"/>
                </a:lnSpc>
              </a:pPr>
              <a:r>
                <a:rPr lang="en-US" sz="4200" b="1">
                  <a:solidFill>
                    <a:srgbClr val="123A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Milestone 4 Summary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2400300"/>
            <a:ext cx="630936" cy="630936"/>
            <a:chOff x="0" y="0"/>
            <a:chExt cx="841248" cy="84124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961768" y="2539108"/>
            <a:ext cx="353320" cy="353320"/>
            <a:chOff x="0" y="0"/>
            <a:chExt cx="471094" cy="471094"/>
          </a:xfrm>
        </p:grpSpPr>
        <p:sp>
          <p:nvSpPr>
            <p:cNvPr id="8" name="Freeform 8" descr="/home/claude/m4_deck/img/icons/checksquare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0" b="-10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1645920" y="2359152"/>
            <a:ext cx="15499080" cy="384048"/>
            <a:chOff x="0" y="0"/>
            <a:chExt cx="20665440" cy="51206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665439" cy="512064"/>
            </a:xfrm>
            <a:custGeom>
              <a:avLst/>
              <a:gdLst/>
              <a:ahLst/>
              <a:cxnLst/>
              <a:rect l="l" t="t" r="r" b="b"/>
              <a:pathLst>
                <a:path w="20665439" h="512064">
                  <a:moveTo>
                    <a:pt x="0" y="0"/>
                  </a:moveTo>
                  <a:lnTo>
                    <a:pt x="20665439" y="0"/>
                  </a:lnTo>
                  <a:lnTo>
                    <a:pt x="20665439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6360" b="-736360"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066544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 Was Thorough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737360" y="2756154"/>
            <a:ext cx="1531620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26 test cases across functional, KPI, filter, navigation, chart, and performance testing, all passed with zero critical issues.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822960" y="4114800"/>
            <a:ext cx="630936" cy="630936"/>
            <a:chOff x="0" y="0"/>
            <a:chExt cx="841248" cy="84124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961768" y="4253608"/>
            <a:ext cx="353320" cy="353320"/>
            <a:chOff x="0" y="0"/>
            <a:chExt cx="471094" cy="471094"/>
          </a:xfrm>
        </p:grpSpPr>
        <p:sp>
          <p:nvSpPr>
            <p:cNvPr id="16" name="Freeform 16" descr="/home/claude/m4_deck/img/icons/barchart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-10" b="-10"/>
              </a:stretch>
            </a:blipFill>
          </p:spPr>
        </p:sp>
      </p:grpSp>
      <p:grpSp>
        <p:nvGrpSpPr>
          <p:cNvPr id="17" name="Group 17"/>
          <p:cNvGrpSpPr/>
          <p:nvPr/>
        </p:nvGrpSpPr>
        <p:grpSpPr>
          <a:xfrm>
            <a:off x="1645920" y="4073652"/>
            <a:ext cx="15499080" cy="384048"/>
            <a:chOff x="0" y="0"/>
            <a:chExt cx="20665440" cy="512064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0665439" cy="512064"/>
            </a:xfrm>
            <a:custGeom>
              <a:avLst/>
              <a:gdLst/>
              <a:ahLst/>
              <a:cxnLst/>
              <a:rect l="l" t="t" r="r" b="b"/>
              <a:pathLst>
                <a:path w="20665439" h="512064">
                  <a:moveTo>
                    <a:pt x="0" y="0"/>
                  </a:moveTo>
                  <a:lnTo>
                    <a:pt x="20665439" y="0"/>
                  </a:lnTo>
                  <a:lnTo>
                    <a:pt x="20665439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6360" b="-736360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066544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Every KPI Was Verified Twice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737360" y="4470654"/>
            <a:ext cx="1531620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All 19 KPIs were independently recalculated and matched exactly against their Tableau dashboard values.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822960" y="5829300"/>
            <a:ext cx="630936" cy="630936"/>
            <a:chOff x="0" y="0"/>
            <a:chExt cx="841248" cy="84124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61768" y="5968108"/>
            <a:ext cx="353320" cy="353320"/>
            <a:chOff x="0" y="0"/>
            <a:chExt cx="471094" cy="471094"/>
          </a:xfrm>
        </p:grpSpPr>
        <p:sp>
          <p:nvSpPr>
            <p:cNvPr id="24" name="Freeform 24" descr="/home/claude/m4_deck/img/icons/file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-10" b="-10"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1645920" y="5788152"/>
            <a:ext cx="15499080" cy="384048"/>
            <a:chOff x="0" y="0"/>
            <a:chExt cx="20665440" cy="512064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20665439" cy="512064"/>
            </a:xfrm>
            <a:custGeom>
              <a:avLst/>
              <a:gdLst/>
              <a:ahLst/>
              <a:cxnLst/>
              <a:rect l="l" t="t" r="r" b="b"/>
              <a:pathLst>
                <a:path w="20665439" h="512064">
                  <a:moveTo>
                    <a:pt x="0" y="0"/>
                  </a:moveTo>
                  <a:lnTo>
                    <a:pt x="20665439" y="0"/>
                  </a:lnTo>
                  <a:lnTo>
                    <a:pt x="20665439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6360" b="-73636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47625"/>
              <a:ext cx="2066544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Documentation Is Complete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737360" y="6185154"/>
            <a:ext cx="1531620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Five documentation files, a QA Checklist, and a Dashboard Testing Report accompany the delivered project.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822960" y="7543800"/>
            <a:ext cx="630936" cy="630936"/>
            <a:chOff x="0" y="0"/>
            <a:chExt cx="841248" cy="84124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41248" cy="841248"/>
            </a:xfrm>
            <a:custGeom>
              <a:avLst/>
              <a:gdLst/>
              <a:ahLst/>
              <a:cxn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0E6E76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961768" y="7682608"/>
            <a:ext cx="353320" cy="353320"/>
            <a:chOff x="0" y="0"/>
            <a:chExt cx="471094" cy="471094"/>
          </a:xfrm>
        </p:grpSpPr>
        <p:sp>
          <p:nvSpPr>
            <p:cNvPr id="32" name="Freeform 32" descr="/home/claude/m4_deck/img/icons/github.png"/>
            <p:cNvSpPr/>
            <p:nvPr/>
          </p:nvSpPr>
          <p:spPr>
            <a:xfrm>
              <a:off x="0" y="0"/>
              <a:ext cx="471043" cy="471043"/>
            </a:xfrm>
            <a:custGeom>
              <a:avLst/>
              <a:gdLst/>
              <a:ahLst/>
              <a:cxnLst/>
              <a:rect l="l" t="t" r="r" b="b"/>
              <a:pathLst>
                <a:path w="471043" h="471043">
                  <a:moveTo>
                    <a:pt x="0" y="0"/>
                  </a:moveTo>
                  <a:lnTo>
                    <a:pt x="471043" y="0"/>
                  </a:lnTo>
                  <a:lnTo>
                    <a:pt x="471043" y="471043"/>
                  </a:lnTo>
                  <a:lnTo>
                    <a:pt x="0" y="471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-10" b="-10"/>
              </a:stretch>
            </a:blipFill>
          </p:spPr>
        </p:sp>
      </p:grpSp>
      <p:grpSp>
        <p:nvGrpSpPr>
          <p:cNvPr id="33" name="Group 33"/>
          <p:cNvGrpSpPr/>
          <p:nvPr/>
        </p:nvGrpSpPr>
        <p:grpSpPr>
          <a:xfrm>
            <a:off x="1645920" y="7502652"/>
            <a:ext cx="15499080" cy="384048"/>
            <a:chOff x="0" y="0"/>
            <a:chExt cx="20665440" cy="512064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0665439" cy="512064"/>
            </a:xfrm>
            <a:custGeom>
              <a:avLst/>
              <a:gdLst/>
              <a:ahLst/>
              <a:cxnLst/>
              <a:rect l="l" t="t" r="r" b="b"/>
              <a:pathLst>
                <a:path w="20665439" h="512064">
                  <a:moveTo>
                    <a:pt x="0" y="0"/>
                  </a:moveTo>
                  <a:lnTo>
                    <a:pt x="20665439" y="0"/>
                  </a:lnTo>
                  <a:lnTo>
                    <a:pt x="20665439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6360" b="-736360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47625"/>
              <a:ext cx="20665440" cy="5596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0"/>
                </a:lnSpc>
              </a:pPr>
              <a:r>
                <a:rPr lang="en-US" sz="2100" b="1">
                  <a:solidFill>
                    <a:srgbClr val="1722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Project Is Delivered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737360" y="7899654"/>
            <a:ext cx="15316200" cy="68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5B6B79"/>
                </a:solidFill>
                <a:latin typeface="Calibri (MS)"/>
                <a:ea typeface="Calibri (MS)"/>
                <a:cs typeface="Calibri (MS)"/>
                <a:sym typeface="Calibri (MS)"/>
              </a:rPr>
              <a:t>The finished dashboard suite is published to GitHub, with the Tableau workbook available via Tableau Public – ready for portfolio use.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Summary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17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38960" y="-1645920"/>
            <a:ext cx="5760720" cy="5760720"/>
            <a:chOff x="0" y="0"/>
            <a:chExt cx="7680960" cy="768096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680960" cy="7680960"/>
            </a:xfrm>
            <a:custGeom>
              <a:avLst/>
              <a:gdLst/>
              <a:ahLst/>
              <a:cxnLst/>
              <a:rect l="l" t="t" r="r" b="b"/>
              <a:pathLst>
                <a:path w="7680960" h="7680960">
                  <a:moveTo>
                    <a:pt x="0" y="3840480"/>
                  </a:moveTo>
                  <a:cubicBezTo>
                    <a:pt x="0" y="1719453"/>
                    <a:pt x="1719453" y="0"/>
                    <a:pt x="3840480" y="0"/>
                  </a:cubicBezTo>
                  <a:cubicBezTo>
                    <a:pt x="5961507" y="0"/>
                    <a:pt x="7680960" y="1719453"/>
                    <a:pt x="7680960" y="3840480"/>
                  </a:cubicBezTo>
                  <a:cubicBezTo>
                    <a:pt x="7680960" y="5961507"/>
                    <a:pt x="5961507" y="7680960"/>
                    <a:pt x="3840480" y="7680960"/>
                  </a:cubicBezTo>
                  <a:cubicBezTo>
                    <a:pt x="1719453" y="7680960"/>
                    <a:pt x="0" y="5961507"/>
                    <a:pt x="0" y="3840480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-1920240" y="7680960"/>
            <a:ext cx="4937760" cy="4937760"/>
            <a:chOff x="0" y="0"/>
            <a:chExt cx="6583680" cy="65836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6583680" cy="6583680"/>
            </a:xfrm>
            <a:custGeom>
              <a:avLst/>
              <a:gdLst/>
              <a:ahLst/>
              <a:cxnLst/>
              <a:rect l="l" t="t" r="r" b="b"/>
              <a:pathLst>
                <a:path w="6583680" h="6583680">
                  <a:moveTo>
                    <a:pt x="0" y="3291840"/>
                  </a:moveTo>
                  <a:cubicBezTo>
                    <a:pt x="0" y="1473835"/>
                    <a:pt x="1473835" y="0"/>
                    <a:pt x="3291840" y="0"/>
                  </a:cubicBezTo>
                  <a:cubicBezTo>
                    <a:pt x="5109845" y="0"/>
                    <a:pt x="6583680" y="1473835"/>
                    <a:pt x="6583680" y="3291840"/>
                  </a:cubicBezTo>
                  <a:cubicBezTo>
                    <a:pt x="6583680" y="5109845"/>
                    <a:pt x="5109845" y="6583680"/>
                    <a:pt x="3291840" y="6583680"/>
                  </a:cubicBezTo>
                  <a:cubicBezTo>
                    <a:pt x="1473835" y="6583680"/>
                    <a:pt x="0" y="5109845"/>
                    <a:pt x="0" y="3291840"/>
                  </a:cubicBezTo>
                  <a:close/>
                </a:path>
              </a:pathLst>
            </a:custGeom>
            <a:solidFill>
              <a:srgbClr val="123A5C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161020" y="2880360"/>
            <a:ext cx="1920240" cy="1920240"/>
            <a:chOff x="0" y="0"/>
            <a:chExt cx="2560320" cy="25603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60320" cy="2560320"/>
            </a:xfrm>
            <a:custGeom>
              <a:avLst/>
              <a:gdLst/>
              <a:ahLst/>
              <a:cxnLst/>
              <a:rect l="l" t="t" r="r" b="b"/>
              <a:pathLst>
                <a:path w="2560320" h="2560320">
                  <a:moveTo>
                    <a:pt x="0" y="1280160"/>
                  </a:moveTo>
                  <a:cubicBezTo>
                    <a:pt x="0" y="573151"/>
                    <a:pt x="573151" y="0"/>
                    <a:pt x="1280160" y="0"/>
                  </a:cubicBezTo>
                  <a:cubicBezTo>
                    <a:pt x="1987169" y="0"/>
                    <a:pt x="2560320" y="573151"/>
                    <a:pt x="2560320" y="1280160"/>
                  </a:cubicBezTo>
                  <a:cubicBezTo>
                    <a:pt x="2560320" y="1987169"/>
                    <a:pt x="1987169" y="2560320"/>
                    <a:pt x="1280160" y="2560320"/>
                  </a:cubicBezTo>
                  <a:cubicBezTo>
                    <a:pt x="573151" y="2560320"/>
                    <a:pt x="0" y="1987169"/>
                    <a:pt x="0" y="1280160"/>
                  </a:cubicBezTo>
                  <a:close/>
                </a:path>
              </a:pathLst>
            </a:custGeom>
            <a:solidFill>
              <a:srgbClr val="3FC7C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8641080" y="3360420"/>
            <a:ext cx="960120" cy="960120"/>
            <a:chOff x="0" y="0"/>
            <a:chExt cx="1280160" cy="1280160"/>
          </a:xfrm>
        </p:grpSpPr>
        <p:sp>
          <p:nvSpPr>
            <p:cNvPr id="9" name="Freeform 9" descr="/home/claude/m4_deck/img/icons/messagecircle.png"/>
            <p:cNvSpPr/>
            <p:nvPr/>
          </p:nvSpPr>
          <p:spPr>
            <a:xfrm>
              <a:off x="0" y="0"/>
              <a:ext cx="1280160" cy="1280160"/>
            </a:xfrm>
            <a:custGeom>
              <a:avLst/>
              <a:gdLst/>
              <a:ahLst/>
              <a:cxnLst/>
              <a:rect l="l" t="t" r="r" b="b"/>
              <a:pathLst>
                <a:path w="1280160" h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1280160"/>
                  </a:lnTo>
                  <a:lnTo>
                    <a:pt x="0" y="128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0" y="5074920"/>
            <a:ext cx="18242280" cy="1234440"/>
            <a:chOff x="0" y="0"/>
            <a:chExt cx="24323040" cy="164592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323039" cy="1645920"/>
            </a:xfrm>
            <a:custGeom>
              <a:avLst/>
              <a:gdLst/>
              <a:ahLst/>
              <a:cxnLst/>
              <a:rect l="l" t="t" r="r" b="b"/>
              <a:pathLst>
                <a:path w="24323039" h="1645920">
                  <a:moveTo>
                    <a:pt x="0" y="0"/>
                  </a:moveTo>
                  <a:lnTo>
                    <a:pt x="24323039" y="0"/>
                  </a:lnTo>
                  <a:lnTo>
                    <a:pt x="24323039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37945" b="-237945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"/>
              <a:ext cx="24323040" cy="16554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0" y="6172200"/>
            <a:ext cx="18242280" cy="685800"/>
            <a:chOff x="0" y="0"/>
            <a:chExt cx="24323040" cy="914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323039" cy="914400"/>
            </a:xfrm>
            <a:custGeom>
              <a:avLst/>
              <a:gdLst/>
              <a:ahLst/>
              <a:cxnLst/>
              <a:rect l="l" t="t" r="r" b="b"/>
              <a:pathLst>
                <a:path w="24323039" h="914400">
                  <a:moveTo>
                    <a:pt x="0" y="0"/>
                  </a:moveTo>
                  <a:lnTo>
                    <a:pt x="24323039" y="0"/>
                  </a:lnTo>
                  <a:lnTo>
                    <a:pt x="24323039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68302" b="-46830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4323040" cy="9715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endParaRPr lang="en-US" sz="2700" i="1" dirty="0">
                <a:solidFill>
                  <a:srgbClr val="3FC7C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0" y="6995160"/>
            <a:ext cx="18242280" cy="548640"/>
            <a:chOff x="0" y="0"/>
            <a:chExt cx="24323040" cy="73152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323039" cy="731520"/>
            </a:xfrm>
            <a:custGeom>
              <a:avLst/>
              <a:gdLst/>
              <a:ahLst/>
              <a:cxnLst/>
              <a:rect l="l" t="t" r="r" b="b"/>
              <a:pathLst>
                <a:path w="24323039" h="731520">
                  <a:moveTo>
                    <a:pt x="0" y="0"/>
                  </a:moveTo>
                  <a:lnTo>
                    <a:pt x="24323039" y="0"/>
                  </a:lnTo>
                  <a:lnTo>
                    <a:pt x="24323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97877" b="-597877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24323040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40"/>
                </a:lnSpc>
              </a:pPr>
              <a:r>
                <a:rPr lang="en-US" sz="1950">
                  <a:solidFill>
                    <a:srgbClr val="B9C7D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– Milestone 4: Testing &amp; Delivery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0" y="9052560"/>
            <a:ext cx="18242280" cy="548640"/>
            <a:chOff x="0" y="0"/>
            <a:chExt cx="24323040" cy="73152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4323039" cy="731520"/>
            </a:xfrm>
            <a:custGeom>
              <a:avLst/>
              <a:gdLst/>
              <a:ahLst/>
              <a:cxnLst/>
              <a:rect l="l" t="t" r="r" b="b"/>
              <a:pathLst>
                <a:path w="24323039" h="731520">
                  <a:moveTo>
                    <a:pt x="0" y="0"/>
                  </a:moveTo>
                  <a:lnTo>
                    <a:pt x="24323039" y="0"/>
                  </a:lnTo>
                  <a:lnTo>
                    <a:pt x="24323039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97877" b="-597877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4323040" cy="7696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B9C7D3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Madhan Raj G   •   Infosys Springboard Data Visualization Internship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85800" y="9793224"/>
            <a:ext cx="11658600" cy="411480"/>
            <a:chOff x="0" y="0"/>
            <a:chExt cx="15544800" cy="54864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5544800" cy="548640"/>
            </a:xfrm>
            <a:custGeom>
              <a:avLst/>
              <a:gdLst/>
              <a:ahLst/>
              <a:cxnLst/>
              <a:rect l="l" t="t" r="r" b="b"/>
              <a:pathLst>
                <a:path w="15544800" h="548640">
                  <a:moveTo>
                    <a:pt x="0" y="0"/>
                  </a:moveTo>
                  <a:lnTo>
                    <a:pt x="15544800" y="0"/>
                  </a:lnTo>
                  <a:lnTo>
                    <a:pt x="15544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155448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MedTrack_DV  |  Milestone 4: Testing &amp; Delivery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2344400" y="9793224"/>
            <a:ext cx="4114800" cy="411480"/>
            <a:chOff x="0" y="0"/>
            <a:chExt cx="5486400" cy="54864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486400" cy="548640"/>
            </a:xfrm>
            <a:custGeom>
              <a:avLst/>
              <a:gdLst/>
              <a:ahLst/>
              <a:cxnLst/>
              <a:rect l="l" t="t" r="r" b="b"/>
              <a:pathLst>
                <a:path w="5486400" h="548640">
                  <a:moveTo>
                    <a:pt x="0" y="0"/>
                  </a:moveTo>
                  <a:lnTo>
                    <a:pt x="5486400" y="0"/>
                  </a:lnTo>
                  <a:lnTo>
                    <a:pt x="5486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548640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Closing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7282160" y="9793224"/>
            <a:ext cx="548640" cy="411480"/>
            <a:chOff x="0" y="0"/>
            <a:chExt cx="731520" cy="54864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731520" cy="548640"/>
            </a:xfrm>
            <a:custGeom>
              <a:avLst/>
              <a:gdLst/>
              <a:ahLst/>
              <a:cxnLst/>
              <a:rect l="l" t="t" r="r" b="b"/>
              <a:pathLst>
                <a:path w="731520" h="548640">
                  <a:moveTo>
                    <a:pt x="0" y="0"/>
                  </a:moveTo>
                  <a:lnTo>
                    <a:pt x="731520" y="0"/>
                  </a:lnTo>
                  <a:lnTo>
                    <a:pt x="73152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46227" r="-46227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28575"/>
              <a:ext cx="731520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620"/>
                </a:lnSpc>
              </a:pPr>
              <a:r>
                <a:rPr lang="en-US" sz="1350">
                  <a:solidFill>
                    <a:srgbClr val="5B6B79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18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1833</Words>
  <Application>Microsoft Office PowerPoint</Application>
  <PresentationFormat>Custom</PresentationFormat>
  <Paragraphs>349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Consolas</vt:lpstr>
      <vt:lpstr>Calibri</vt:lpstr>
      <vt:lpstr>Consolas Bold</vt:lpstr>
      <vt:lpstr>Cambria Bold</vt:lpstr>
      <vt:lpstr>Calibri (MS) Bold</vt:lpstr>
      <vt:lpstr>Calibri (MS) Italics</vt:lpstr>
      <vt:lpstr>Arial</vt:lpstr>
      <vt:lpstr>Calibri (MS)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MedTrack_DV_Milestone4_Presentation.pptx</dc:title>
  <cp:lastModifiedBy>Microsoft account</cp:lastModifiedBy>
  <cp:revision>2</cp:revision>
  <dcterms:created xsi:type="dcterms:W3CDTF">2006-08-16T00:00:00Z</dcterms:created>
  <dcterms:modified xsi:type="dcterms:W3CDTF">2026-08-17T12:04:58Z</dcterms:modified>
  <dc:identifier>DAHShRV-428</dc:identifier>
</cp:coreProperties>
</file>