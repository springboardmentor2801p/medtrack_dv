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10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Project title from 'MedTrack_DV (Hospital Operations &amp; Patient Analytics Dashboard)' project statement; developer name from README.md and QA/Testing documents; report date (04-Aug-2026) from Dashboard_Testing_Report.docx document control table – used here as the most recent confirmed project date since no separate 'presentation date' was provided.
DISCREPANCY FLAGGED: the actual dashboard screenshots' logo tagline reads 'HOSPITAL PERFORMANCE &amp; PATIENT ANALYTICS DASHBOARD' (Performance), while the Project Statement document title reads 'Hospital Operations &amp; Patient Analytics Dashboard' (Operations). This slide uses the Project Statement's wording since that is the formal project title; the in-dashboard branding differs slightly.
NARRATION: Good [morning/afternoon]. I'm Madhan Raj G, presenting MedTrack_DV – Hospital Operations &amp; Patient Analytics Dashboard, built for the Infosys Springboard Data Visualization Internship.
TIME: 20-30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Project Overview section; Project Statement (project statement paragraph and 'final deliverable' description); dataset_sources.md and kpi_definitions.md for the 2,238/37/19 figures.
NARRATION: MedTrack_DV transforms a hospital operations dataset into a unified Tableau workbook with four dashboards, giving administrators one place to monitor patient flow, hospital performance, department comparisons, and resource utilization.
TIME: 40-50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Project Statement PDF (opening paragraph) and healthcare_operations_methodology.md Section 2. IMPORTANT: no uploaded document contains a section explicitly titled 'Problem Statement' with itemized pain points like patient overload or capacity pressure – those were suggestions in the prompt, not confirmed project content. This slide honestly uses the closest documented equivalent instead of inventing problem bullets.
TIME: 40-50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README.md, 'Project Objectives' section – all nine bullets used verbatim, none added or removed.
TIME: 40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Project Statement PDF, 'Workflow Diagram' section (exact 7 steps). DISCREPANCY FLAGGED: README.md and healthcare_operations_methodology.md both present different, more granular workflow diagrams. All three are directionally consistent but not identical in step count or wording – shown here is the version tied directly to the Module 1–8 structure.
TIME: 30-40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dataset_sources.md Sections 1, 3, 4 for record/column/department/ward counts and category groupings. NOTE: dataset_sources.md itself never explicitly names 'Kaggle' in its text – the Kaggle source is confirmed only via the external reference link supplied separately (kaggle.com/code/mohamedissamelfoundy/healthcare-dataset/input).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data_collection.py and hospital_cleaning.py (actual project scripts – loading, inspecting shape/columns, checking missing values and duplicates, exporting to CSV); dataset_sources.md Section 5 'Data Processing'; README.md Module 1/2 evaluation targets (&gt;95% completeness, &lt;2% missing values).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'Tech Stack' table; dataset_sources.md Section 9 'Tools Used'; Dashboard_Testing_Report.docx confirms 'Tableau Public V 2026.2'. DISCREPANCY FLAGGED: Excel was referenced in the request as a supporting tool, but it does not appear in either tools list in the uploaded materials – flagged rather than included.
TIME: 40-50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dashboard_guide.md module section for Hospital Overview; actual project screenshot used directly (not recreated). Filters cross-verified against QA_Checklist.docx functional test cases.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kpi_definitions.md (Definition and Purpose/Business Meaning fields, verbatim); generate_hospital_kpis.py (ground-truth Formula, read directly from the calculation code, not inferred). Values match the actual dashboard screenshot. NOTE: Discharge Rate's formula (Recovered Patients ÷ Total Patients) is more specific than the general description in QA_Checklist.docx – the script formula is used here as it is the ground-truth calculation.
TIME: 60-90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Chart list cross-verified between dashboard_guide.md's described visualizations and the exact chart titles visible on the actual screenshot. Insight text states only figures directly readable on the dashboard – no causal or speculative claims added beyond what the source materials or screenshot show.
TIME: 50-65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dashboard_guide.md module section for Patient Flow; actual project screenshot used directly (not recreated). Filters cross-verified against QA_Checklist.docx functional test cases.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kpi_definitions.md (Definition and Purpose/Business Meaning fields, verbatim); generate_hospital_kpis.py (ground-truth Formula, read directly from the calculation code, not inferred). Values match the actual dashboard screenshot.
TIME: 60-90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Chart list cross-verified between dashboard_guide.md's described visualizations and the exact chart titles visible on the actual screenshot. Insight text states only figures directly readable on the dashboard – no causal or speculative claims added beyond what the source materials or screenshot show.
TIME: 50-65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dashboard_guide.md module section for Department Analytics; actual project screenshot used directly (not recreated). Filters cross-verified against QA_Checklist.docx functional test cases.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kpi_definitions.md (Definition and Purpose/Business Meaning fields, verbatim); generate_hospital_kpis.py (ground-truth Formula, read directly from the calculation code, not inferred). Values match the actual dashboard screenshot.
TIME: 60-90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Chart list cross-verified between dashboard_guide.md's described visualizations and the exact chart titles visible on the actual screenshot. Insight text states only figures directly readable on the dashboard – no causal or speculative claims added beyond what the source materials or screenshot show.
TIME: 50-65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dashboard_guide.md module section for Resource Utilization; actual project screenshot used directly (not recreated). Filters cross-verified against QA_Checklist.docx functional test cases.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kpi_definitions.md (Definition and Purpose/Business Meaning fields, verbatim); generate_hospital_kpis.py (ground-truth Formula, read directly from the calculation code, not inferred). Values match the actual dashboard screenshot.
TIME: 60-90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Chart list cross-verified between dashboard_guide.md's described visualizations and the exact chart titles visible on the actual screenshot. Insight text states only figures directly readable on the dashboard – no causal or speculative claims added beyond what the source materials or screenshot show.
TIME: 50-65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healthcare_operations_methodology.md Section 6; kpi_definitions.md Sections 1, 8, 9. DISCREPANCY FLAGGED: kpi_definitions.md attributes KPI creation solely to Tableau Calculated Fields, but the uploaded generate_hospital_kpis.py independently computes all 19 KPIs in Python – both appear to be real, parallel calculation paths.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kpi_definitions.md Section 6 'KPI Summary' table for grouping; generate_hospital_kpis.py for exact formulas. All 19 KPIs included, none omitted, matching the requirement not to squeeze unreadable text – verified legible at this density from the earlier proven deck.
TIME: 60-90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Project Statement PDF, Modules 4, 5, and 6 task lists and deliverable filenames; dashboard_guide.md Section 7.
TIME: 50-65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dashboard_guide.md Section 7 'Tableau Features Used' (KPI Cards, Calculated Fields, Interactive Filters, Charts, Tooltips, Dashboard Navigation, Dashboard Actions, Interactive Visualizations, Dashboard Layouts); Project Statement Module 6 task list (global filters, navigation controls, parameter actions, dashboard linking).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dashboard_guide.md, Section 6 'Dashboard Navigation' – exact flow and closing explanation used verbatim.
TIME: 30-40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QA_Checklist.docx Testing Methodology section; README.md 'Dashboard Testing' section; healthcare_operations_methodology.md Section 11 'Validation Methodology'.
TIME: 50-60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Dashboard_Testing_Report.docx (Overall Testing Statistics), cross-verified against kpi_definitions.md Section 10 and healthcare_operations_methodology.md Section 11 – all three sources report identical figures, so no discrepancy exists here (unlike several other sections of this deck).
TIME: 40-50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Process framing per the requested structure (Source Data → Independent Calculation → Tableau KPI → Comparison → Validated), populated with the real mechanism confirmed by generate_hospital_kpis.py and hospital_kpi_report.csv – the actual independent-calculation script and its output, cross-checked against the dashboard screenshots.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No 'Challenges' or 'Lessons Learned' section exists in any uploaded material. This slide honestly discloses that gap rather than reinventing the plausible-but-unverified challenges (filter sync, layout, etc.) used in an earlier draft deck. The lower half instead shows real, documented evaluation thresholds from README.md that the project had to meet – the closest verifiable adjacent content. If you have notes on actual challenges faced, share them and this slide can be rebuilt with real content.
TIME: 30-45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All figures stated here are read directly off the actual dashboard screenshots (Hospital_Overview_Dashboard.png, Patient_Flow_Dashboard.png, Department_Analytics_Dashboard.png, Resource_Utilization_Dashboard.png). No causal interpretation (e.g., 'this means administrators should...') has been added beyond what is directly observable, per the instruction not to invent insights beyond what source materials support.
TIME: 60-75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dashboard_guide.md Section 10 'Business Value' – the bullet list of what users can analyze is used near-verbatim (patient admissions and flow, department workload, billing activity, bed occupancy, emergency cases, ICU admissions, readmissions, length of stay, staff resources, bed availability, equipment utilization).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'Documentation' section – exact file names and one-line descriptions used verbatim.
TIME: 40-50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QA_Checklist.docx and Dashboard_Testing_Report.docx – both actual uploaded files, read directly for this slide's purpose/scope/results content.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'Project Structure' section (primary, most detailed). DISCREPANCY FLAGGED explicitly on-slide per your instructions: Project Statement PDF's Module 8 lists a simpler 4-folder structure; README's tree is more detailed and used as authoritative. QA_Checklist.docx / Dashboard_Testing_Report.docx location within the tree is genuinely unspecified in both sources.
TIME: 40-55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'Project Deliverables' section (GitHub Repository, Final Documentation, Tableau Workbook, Healthcare Datasets, Data Processing Scripts, KPI Outputs, Dashboard Documentation, Healthcare Operations Methodology) plus Module 7's two QA deliverables (QA_Checklist.docx, Dashboard_Testing_Report.docx) – all confirmed present as actual uploaded files.
TIME: 40-50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No future-scope content exists in any uploaded material. An earlier draft deck (built before these source files were provided) included a speculative list – SQL Integration, Real-time Database, Power BI, Predictive Analytics, ML, Forecasting, Mobile Dashboard, Cloud Deployment. That list is NOT reused here since it cannot be attributed to your actual project materials.
TIME: 20-30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'Project Status' – 'MedTrack_DV is prepared for final documentation, GitHub repository delivery, and portfolio presentation'; kpi_definitions.md and Dashboard_Testing_Report.docx for validated/delivered figures. Written to reflect a completed project, not a project in progress, per your instruction.
TIME: 45-60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Thank you for your time. I'm happy to answer any questions about the dashboards, the KPIs, the testing process, or the project documentation.
TIME: 10-15 seconds, then open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image" Target="../media/image1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2.png"/><Relationship Id="rId5" Type="http://schemas.openxmlformats.org/officeDocument/2006/relationships/image" Target="../media/image2.png"/><Relationship Id="rId10" Type="http://schemas.openxmlformats.org/officeDocument/2006/relationships/image" Target="../media/image34.png"/><Relationship Id="rId4" Type="http://schemas.openxmlformats.org/officeDocument/2006/relationships/image" Target="../media/image12.png"/><Relationship Id="rId9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3FC7C0"/>
          </a:solidFill>
          <a:ln/>
        </p:spPr>
      </p:sp>
      <p:pic>
        <p:nvPicPr>
          <p:cNvPr id="5" name="Image 0" descr="/home/claude/mtdv_final/img/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86067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658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3FC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MEDTRACK_DV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8308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kern="0" spc="100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 DASHBOARD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Operations &amp;</a:t>
            </a:r>
            <a:endParaRPr lang="en-US" sz="4000" dirty="0"/>
          </a:p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Analytics Dashboard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 data analytics and visualization project – Infosys Springboard Data Visualization Internship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0" cy="100584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0120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Madhan Raj 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29000" y="4892040"/>
            <a:ext cx="0" cy="100584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0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566160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35040" y="4892040"/>
            <a:ext cx="0" cy="100584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72200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</a:t>
            </a:r>
            <a:r>
              <a:rPr lang="en-US" sz="12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 2026.2</a:t>
            </a:r>
          </a:p>
        </p:txBody>
      </p:sp>
      <p:sp>
        <p:nvSpPr>
          <p:cNvPr id="19" name="Shape 16"/>
          <p:cNvSpPr/>
          <p:nvPr/>
        </p:nvSpPr>
        <p:spPr>
          <a:xfrm>
            <a:off x="8641080" y="4892040"/>
            <a:ext cx="0" cy="100584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0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778240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18-Aug-2026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4" name="Image 0" descr="/home/claude/mtdv_final/img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647017"/>
            <a:ext cx="235549" cy="2355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52704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MedTrack_DV 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177393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A healthcare data analytics and visualization project transforming hospital data into operational insights (README.md).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8" name="Image 1" descr="/home/claude/mtdv_final/img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780873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6609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97280" y="290779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A publicly available Hospital Dataset / Patient Admission Dataset covering hospital operations (Project Statement).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48640" y="3822192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2" name="Image 2" descr="/home/claude/mtdv_final/img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914729"/>
            <a:ext cx="235549" cy="2355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7947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404164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A single, unified Tableau workbook (.twbx) containing four interconnected dashboards (Project Statement).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48640" y="4956048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6" name="Image 3" descr="/home/claude/mtdv_final/img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5048585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92861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Purpose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97280" y="517550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Helps administrators, managers, medical staff, and policymakers monitor patient flow, evaluate departments, optimize resources, and improve efficiency through data-driven decisions (Project Statement).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315200" y="155448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123A5C"/>
          </a:solidFill>
          <a:ln/>
        </p:spPr>
      </p:sp>
      <p:sp>
        <p:nvSpPr>
          <p:cNvPr id="20" name="Text 14"/>
          <p:cNvSpPr/>
          <p:nvPr/>
        </p:nvSpPr>
        <p:spPr>
          <a:xfrm>
            <a:off x="75438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Interconnected Dashboards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54380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Hospital Overview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54380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Patient Flow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54380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Department Analytics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54380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Resource Utilization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54380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 smtClean="0"/>
          </a:p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543800" y="4206240"/>
            <a:ext cx="3840480" cy="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54380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2,238 patient records  •  37 fields  •  19 KPIs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project aims to develop a comprehensive hospital operations and patient analytics dashboard suite for analyzing hospital performance, patient admissions, department efficiency, and healthcare resource utilization.”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areas this </a:t>
            </a:r>
            <a:r>
              <a:rPr lang="en-US" sz="1300" b="1" dirty="0" smtClean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20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activity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35204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3520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5204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520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15400" y="35204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3520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performance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23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resource utilization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37560" y="40233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4023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financial activity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4023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15400" y="40233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4023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526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cases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37560" y="452628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4F3EA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4526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admissions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 smtClean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5544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organize hospital-related datasets.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1762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healthcare data for analysis.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98064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meaningful healthcare KPIs.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41985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dashboards for healthcare operations.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04164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healthcare metrics.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6E76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47688" y="15544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patient flow analytics.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2221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6E76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47688" y="21762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dashboard interactions.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2843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6E7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47688" y="2798064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complete project workflow.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2200" y="34655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6E76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47688" y="341985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portfolio-ready analytics project.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84366" cy="1188720"/>
          </a:xfrm>
          <a:prstGeom prst="roundRect">
            <a:avLst>
              <a:gd name="adj" fmla="val 5385"/>
            </a:avLst>
          </a:prstGeom>
          <a:solidFill>
            <a:srgbClr val="123A5C"/>
          </a:solidFill>
          <a:ln/>
        </p:spPr>
      </p:sp>
      <p:sp>
        <p:nvSpPr>
          <p:cNvPr id="5" name="Text 3"/>
          <p:cNvSpPr/>
          <p:nvPr/>
        </p:nvSpPr>
        <p:spPr>
          <a:xfrm>
            <a:off x="464167" y="210312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Hospital Datasets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14779" y="2575125"/>
            <a:ext cx="256032" cy="256032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7" name="Image 0" descr="/home/claude/mtdv_final/img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979" y="2607869"/>
            <a:ext cx="179222" cy="1792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21408" y="2103120"/>
            <a:ext cx="1222683" cy="1188720"/>
          </a:xfrm>
          <a:prstGeom prst="roundRect">
            <a:avLst>
              <a:gd name="adj" fmla="val 5385"/>
            </a:avLst>
          </a:prstGeom>
          <a:solidFill>
            <a:srgbClr val="0E6E76"/>
          </a:solidFill>
          <a:ln/>
        </p:spPr>
      </p:sp>
      <p:sp>
        <p:nvSpPr>
          <p:cNvPr id="9" name="Text 6"/>
          <p:cNvSpPr/>
          <p:nvPr/>
        </p:nvSpPr>
        <p:spPr>
          <a:xfrm>
            <a:off x="2056093" y="2094411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1624" y="2587752"/>
            <a:ext cx="256032" cy="256032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11" name="Image 1" descr="/home/claude/mtdv_final/img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05" y="2626157"/>
            <a:ext cx="179222" cy="17922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94176" y="2103120"/>
            <a:ext cx="1200041" cy="1188720"/>
          </a:xfrm>
          <a:prstGeom prst="roundRect">
            <a:avLst>
              <a:gd name="adj" fmla="val 5385"/>
            </a:avLst>
          </a:prstGeom>
          <a:solidFill>
            <a:srgbClr val="123A5C"/>
          </a:solidFill>
          <a:ln/>
        </p:spPr>
      </p:sp>
      <p:sp>
        <p:nvSpPr>
          <p:cNvPr id="13" name="Text 9"/>
          <p:cNvSpPr/>
          <p:nvPr/>
        </p:nvSpPr>
        <p:spPr>
          <a:xfrm>
            <a:off x="3627032" y="2094411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KPI Engineering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932143" y="2575125"/>
            <a:ext cx="256032" cy="256032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15" name="Image 2" descr="/home/claude/mtdv_final/img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68" y="2623292"/>
            <a:ext cx="179222" cy="17922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266943" y="2103120"/>
            <a:ext cx="1220943" cy="1188720"/>
          </a:xfrm>
          <a:prstGeom prst="roundRect">
            <a:avLst>
              <a:gd name="adj" fmla="val 5385"/>
            </a:avLst>
          </a:prstGeom>
          <a:solidFill>
            <a:srgbClr val="0E6E76"/>
          </a:solidFill>
          <a:ln/>
        </p:spPr>
      </p:sp>
      <p:sp>
        <p:nvSpPr>
          <p:cNvPr id="17" name="Text 12"/>
          <p:cNvSpPr/>
          <p:nvPr/>
        </p:nvSpPr>
        <p:spPr>
          <a:xfrm>
            <a:off x="5206941" y="210312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03537" y="2587752"/>
            <a:ext cx="256032" cy="256032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19" name="Image 3" descr="/home/claude/mtdv_final/img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33" y="2627114"/>
            <a:ext cx="179222" cy="17922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978048" y="2103120"/>
            <a:ext cx="1086090" cy="1188720"/>
          </a:xfrm>
          <a:prstGeom prst="roundRect">
            <a:avLst>
              <a:gd name="adj" fmla="val 5385"/>
            </a:avLst>
          </a:prstGeom>
          <a:solidFill>
            <a:srgbClr val="123A5C"/>
          </a:solidFill>
          <a:ln/>
        </p:spPr>
      </p:sp>
      <p:sp>
        <p:nvSpPr>
          <p:cNvPr id="21" name="Text 15"/>
          <p:cNvSpPr/>
          <p:nvPr/>
        </p:nvSpPr>
        <p:spPr>
          <a:xfrm>
            <a:off x="6818246" y="2118543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105002" y="2587752"/>
            <a:ext cx="256032" cy="256032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23" name="Image 4" descr="/home/claude/mtdv_final/img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98" y="2623292"/>
            <a:ext cx="179222" cy="17922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412480" y="2103120"/>
            <a:ext cx="1261872" cy="1188720"/>
          </a:xfrm>
          <a:prstGeom prst="roundRect">
            <a:avLst>
              <a:gd name="adj" fmla="val 5385"/>
            </a:avLst>
          </a:prstGeom>
          <a:solidFill>
            <a:srgbClr val="0E6E76"/>
          </a:solidFill>
          <a:ln/>
        </p:spPr>
      </p:sp>
      <p:sp>
        <p:nvSpPr>
          <p:cNvPr id="25" name="Text 18"/>
          <p:cNvSpPr/>
          <p:nvPr/>
        </p:nvSpPr>
        <p:spPr>
          <a:xfrm>
            <a:off x="8375904" y="2094411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9729216" y="2587752"/>
            <a:ext cx="256032" cy="256032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27" name="Image 5" descr="/home/claude/mtdv_final/img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77" y="2626157"/>
            <a:ext cx="179222" cy="17922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034408" y="2103120"/>
            <a:ext cx="1413880" cy="1188720"/>
          </a:xfrm>
          <a:prstGeom prst="roundRect">
            <a:avLst>
              <a:gd name="adj" fmla="val 5385"/>
            </a:avLst>
          </a:prstGeom>
          <a:solidFill>
            <a:srgbClr val="123A5C"/>
          </a:solidFill>
          <a:ln/>
        </p:spPr>
      </p:sp>
      <p:sp>
        <p:nvSpPr>
          <p:cNvPr id="29" name="Text 21"/>
          <p:cNvSpPr/>
          <p:nvPr/>
        </p:nvSpPr>
        <p:spPr>
          <a:xfrm>
            <a:off x="10089272" y="210312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Delivery</a:t>
            </a:r>
            <a:endParaRPr lang="en-US" sz="1400" dirty="0"/>
          </a:p>
        </p:txBody>
      </p:sp>
      <p:pic>
        <p:nvPicPr>
          <p:cNvPr id="32" name="Image 6" descr="/home/claude/mtdv_final/img/icons/help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74" y="3948562"/>
            <a:ext cx="286756" cy="2867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81912"/>
            <a:ext cx="20574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20574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150876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581912"/>
            <a:ext cx="20574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97480" y="2084832"/>
            <a:ext cx="20574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81912"/>
            <a:ext cx="20574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0" y="2084832"/>
            <a:ext cx="20574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95160" y="150876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581912"/>
            <a:ext cx="205740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95160" y="2084832"/>
            <a:ext cx="20574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81160" y="150876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0A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9418320" y="1673352"/>
            <a:ext cx="384048" cy="384048"/>
          </a:xfrm>
          <a:prstGeom prst="ellipse">
            <a:avLst/>
          </a:prstGeom>
          <a:solidFill>
            <a:srgbClr val="3FC7C0"/>
          </a:solidFill>
          <a:ln/>
        </p:spPr>
      </p:sp>
      <p:pic>
        <p:nvPicPr>
          <p:cNvPr id="18" name="Image 0" descr="/home/claude/mtdv_final/img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731" y="1759763"/>
            <a:ext cx="211226" cy="21122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875520" y="16002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 dataset)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Categories (dataset_sources.md, Section 4)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10896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1638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Information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5800" y="3438144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Gender, Blood Type, Patient_ID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72200" y="310896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31638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Information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09360" y="3438144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Condition, Doctor, Medication, Test Results, Severity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0690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2394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Discharge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4398264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Admission, Admission Type, Discharge Date, Length_of_stay, Readmission_Flag, Emergency_Case, ICU_Admission, Discharge_Status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412394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Department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309360" y="4398264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Hospital, Department, Hospital_Region, Ward, Bed_ID, Room Number, Room_Type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502920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508406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Information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85800" y="5358384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Provider, Billing Amount, Payment_Status, Payment_Method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172200" y="502920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508406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Resource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309360" y="5358384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Nurse_ID, Staff_Shift, Equipment_Used, Equipment_status, Occupancy_Status, Bed_Capacity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48640" y="603504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n-US" sz="90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</a:t>
            </a: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kaggle.com/code/mohamedissamelfoundy/healthcare-dataset)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Cleaning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457200"/>
          </a:xfrm>
          <a:prstGeom prst="roundRect">
            <a:avLst>
              <a:gd name="adj" fmla="val 14000"/>
            </a:avLst>
          </a:prstGeom>
          <a:solidFill>
            <a:srgbClr val="123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304288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185416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raw dataset (data_collection.py)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62656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43784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structure: row/column counts, column names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21024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502152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per column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79392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16052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records (hospital_cleaning.py</a:t>
            </a:r>
            <a:r>
              <a:rPr lang="en-US" sz="10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81888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cleaned output to CSV for KPI generation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5544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554480"/>
            <a:ext cx="3611880" cy="457200"/>
          </a:xfrm>
          <a:prstGeom prst="roundRect">
            <a:avLst>
              <a:gd name="adj" fmla="val 14000"/>
            </a:avLst>
          </a:prstGeom>
          <a:solidFill>
            <a:srgbClr val="0E6E76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554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DID 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2304288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2185416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dataset matched expected shape before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2962656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2843784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data-quality issues early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621024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3502152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duplicate records didn't distort KPI counts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4279392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416052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Tableau-ready, analysis-ready file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155448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1554480"/>
            <a:ext cx="3611880" cy="457200"/>
          </a:xfrm>
          <a:prstGeom prst="roundRect">
            <a:avLst>
              <a:gd name="adj" fmla="val 14000"/>
            </a:avLst>
          </a:prstGeom>
          <a:solidFill>
            <a:srgbClr val="1E7B4D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554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0" y="2304288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32" name="Text 30"/>
          <p:cNvSpPr/>
          <p:nvPr/>
        </p:nvSpPr>
        <p:spPr>
          <a:xfrm>
            <a:off x="8430768" y="2185416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hospital_raw_data.csv and hospital_cleaned.csv produced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0" y="2962656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34" name="Text 32"/>
          <p:cNvSpPr/>
          <p:nvPr/>
        </p:nvSpPr>
        <p:spPr>
          <a:xfrm>
            <a:off x="8430768" y="2843784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completeness target: &gt;95% (README Milestone 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0" y="3621024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36" name="Text 34"/>
          <p:cNvSpPr/>
          <p:nvPr/>
        </p:nvSpPr>
        <p:spPr>
          <a:xfrm>
            <a:off x="8430768" y="3502152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target: &lt;2% (README Module 2)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0" y="4279392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38" name="Text 36"/>
          <p:cNvSpPr/>
          <p:nvPr/>
        </p:nvSpPr>
        <p:spPr>
          <a:xfrm>
            <a:off x="8430768" y="416052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used directly by generate_hospital_kpis.py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17007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5" name="Image 0" descr="/home/claude/mtdv_final/img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1793321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4944" y="22128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inspection (data_collection.py)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55448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9584" y="17007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0" name="Image 1" descr="/home/claude/mtdv_final/img/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121" y="1793321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41648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29584" y="22128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and cleaning (README tech stack)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64224" y="17007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5" name="Image 2" descr="/home/claude/mtdv_final/img/icons/mon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761" y="179332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76288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64224" y="22128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&amp; visualization (</a:t>
            </a:r>
            <a:r>
              <a:rPr lang="en-US" sz="120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v2026.2)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052560" y="155448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98864" y="17007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0" name="Image 3" descr="/home/claude/mtdv_final/img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401" y="1793321"/>
            <a:ext cx="235549" cy="2355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10928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98864" y="22128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as a visualization option in README tech stack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29718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94944" y="311810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5" name="Image 4" descr="/home/claude/mtdv_final/img/icons/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81" y="3210641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07008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Filters / Parameters / Actions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94944" y="36301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 (README tech stack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3383280" y="29718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529584" y="311810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0" name="Image 5" descr="/home/claude/mtdv_final/img/icons/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2121" y="3210641"/>
            <a:ext cx="235549" cy="23554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041648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529584" y="36301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organization, documentation, delivery</a:t>
            </a:r>
            <a:endParaRPr lang="en-US" sz="1200" dirty="0"/>
          </a:p>
        </p:txBody>
      </p:sp>
      <p:pic>
        <p:nvPicPr>
          <p:cNvPr id="35" name="Image 6" descr="/home/claude/mtdv_final/img/icons/f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761" y="3210641"/>
            <a:ext cx="235549" cy="235549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0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Overview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103120" y="66751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high-level summary of overall hospital </a:t>
            </a:r>
            <a:r>
              <a:rPr lang="en-US" sz="115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performance.</a:t>
            </a:r>
            <a:endParaRPr lang="en-US" sz="1150" dirty="0"/>
          </a:p>
        </p:txBody>
      </p:sp>
      <p:pic>
        <p:nvPicPr>
          <p:cNvPr id="7" name="Image 0" descr="/home/claude/mtdv_final/img/hospital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47067"/>
            <a:ext cx="7406640" cy="44222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3716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23A5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536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Monitors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0" y="1828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volume, billing, bed occupancy, length of stay, readmissions, and discharge activity.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2926080"/>
            <a:ext cx="3017520" cy="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of Admission, Admission Type, Hospital Region, Department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3120" y="274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Hospital </a:t>
            </a:r>
            <a:r>
              <a:rPr lang="en-US" sz="24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– KPI Details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710999"/>
              </p:ext>
            </p:extLst>
          </p:nvPr>
        </p:nvGraphicFramePr>
        <p:xfrm>
          <a:off x="548640" y="914400"/>
          <a:ext cx="11064240" cy="4133088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468880"/>
                <a:gridCol w="347472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(2,238)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patient records represented in the dataset.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COUNT(patient records)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the overall patient volume.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($56,610,270)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 amount across the patient records.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SUM(billing_amount)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view of billing value represented in the dataset.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Occupancy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(80.8%)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hospital bed capacity that is occupied.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 Beds ÷ Total Beds ×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hospital capacity utilization and bed demand.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Length of Stay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(15.5 Days)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number of days patients stay in the hospital.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AVG(length_of_stay)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Analyzes patient stay duration and resource utilization.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(9.1%)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patient records identified as readmissions.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Readmitted Patients ÷ Total Patients ×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the frequency of patient readmissions.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(34.1%)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patient records associated with the discharge status used in the calculation.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 Patients ÷ Total Patients ×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patient discharge activity.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3120" y="274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Hospital </a:t>
            </a:r>
            <a:r>
              <a:rPr lang="en-US" sz="22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– Visualizations &amp; Insights</a:t>
            </a:r>
            <a:endParaRPr lang="en-US" sz="2200" dirty="0"/>
          </a:p>
        </p:txBody>
      </p:sp>
      <p:pic>
        <p:nvPicPr>
          <p:cNvPr id="6" name="Image 0" descr="/home/claude/mtdv_final/img/hospital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6858000" cy="472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1536192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Patient Admission Trend  •  Patient Load by Department  •  Patients by Hospital Region  •  Admission Type Distribution  •  Payment Status Overview  •  Average Revenue by Department  •  Average Stay by Admission Type  •  Occupancy Status  •  Readmission Analysis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43949" y="32004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3101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From Dashboard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8120" y="3584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admissions decline from 213 (Aug) to 144 (Apr). Bed Occupancy Rate remains high at 80.8% – 1,809 of 2,238 patient records show ‘occupied’ status.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0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103120" y="66751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patient movement, admissions, severity, emergency cases, ICU utilization, and patient </a:t>
            </a:r>
            <a:r>
              <a:rPr lang="en-US" sz="115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characteristics.</a:t>
            </a:r>
            <a:endParaRPr lang="en-US" sz="1150" dirty="0"/>
          </a:p>
        </p:txBody>
      </p:sp>
      <p:pic>
        <p:nvPicPr>
          <p:cNvPr id="7" name="Image 0" descr="/home/claude/mtdv_final/img/patient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89887"/>
            <a:ext cx="7406640" cy="41661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3716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23A5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536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Monitors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0" y="1828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activity, patient movement, emergency demand, ICU demand, and patient characteristics</a:t>
            </a:r>
            <a:r>
              <a:rPr lang="en-US" sz="105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0" y="2926080"/>
            <a:ext cx="3017520" cy="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of Admission, Age Group, Severity, Discharge Status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56017" y="274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 – KPI </a:t>
            </a:r>
            <a:r>
              <a:rPr lang="en-US" sz="24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 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915182"/>
              </p:ext>
            </p:extLst>
          </p:nvPr>
        </p:nvGraphicFramePr>
        <p:xfrm>
          <a:off x="548640" y="914400"/>
          <a:ext cx="11064240" cy="3968496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468880"/>
                <a:gridCol w="347472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Admissions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(2,238)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patient admission records.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COUNT(patient records)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overall hospital admission volume.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 Beds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(1,809)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beds identified as occupied in the dataset.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COUNT(occupancy_status = occupied)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bed usage and hospital capacity.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Cases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(23.9%)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patient cases classified as severe.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Cases ÷ Total Patients ×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 of patients requiring higher clinical attention.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Admissions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(339)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patient records identified as ICU admissions.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COUNT(icu_admission = yes)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critical-care demand and ICU utilization.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(472)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patient records identified as emergency cases.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COUNT(emergency_case = yes)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emergency-care demand.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Billing per Patient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($25,295)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billing amount associated with each patient record.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 ÷ Total Patients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of average billing per patient.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339737" y="3618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 – Visualizations &amp; </a:t>
            </a:r>
            <a:r>
              <a:rPr lang="en-US" sz="22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</a:t>
            </a:r>
            <a:endParaRPr lang="en-US" sz="2200" dirty="0"/>
          </a:p>
        </p:txBody>
      </p:sp>
      <p:pic>
        <p:nvPicPr>
          <p:cNvPr id="6" name="Image 0" descr="/home/claude/mtdv_final/img/patient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19"/>
            <a:ext cx="6858000" cy="4193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1536192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Patient Admission Trend  •  Length of Stay Distribution  •  Readmission Rate by Department  •  Severity Distribution  •  Patient Gender Distribution  •  Patient Discharge Status  •  Blood Type Distribution  •  Patient Age Group Distribution  •  Bed Occupancy Status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35240" y="32004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3101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From Dashboard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8120" y="3584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21+ day Length of Stay bucket holds the largest patient volume (749). Severity Distribution splits nearly evenly across Critical, Mild, Moderate, and Severe (536–574 each).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0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Analytics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103120" y="66751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patient workload, billing, medical activity, and operational performance across hospital </a:t>
            </a:r>
            <a:r>
              <a:rPr lang="en-US" sz="115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departments.</a:t>
            </a:r>
            <a:endParaRPr lang="en-US" sz="1150" dirty="0"/>
          </a:p>
        </p:txBody>
      </p:sp>
      <p:pic>
        <p:nvPicPr>
          <p:cNvPr id="7" name="Image 0" descr="/home/claude/mtdv_final/img/department_analy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" y="1371599"/>
            <a:ext cx="7406640" cy="443701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3716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23A5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536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Monitors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0" y="1828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workload, billing activity, medical conditions, readmissions, emergency cases, and average stay by department.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2926080"/>
            <a:ext cx="3017520" cy="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Results, Medical Condition, Admission Type, Department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3120" y="274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Department </a:t>
            </a:r>
            <a:r>
              <a:rPr lang="en-US" sz="24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– KPI Details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48973"/>
              </p:ext>
            </p:extLst>
          </p:nvPr>
        </p:nvGraphicFramePr>
        <p:xfrm>
          <a:off x="548640" y="914400"/>
          <a:ext cx="1106424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468880"/>
                <a:gridCol w="3474720"/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Departments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departments represented in the dataset.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COUNT(DISTINCT department)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of the departments included in the analysis.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Patients per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(373.0)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number of patients represented per department.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 ÷ Total Departments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patient workload across departments.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Billing per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($9,435,045)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billing amount represented per department.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 ÷ Total Departments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billing activity across departments.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3120" y="274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Department </a:t>
            </a:r>
            <a:r>
              <a:rPr lang="en-US" sz="22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– Visualizations &amp; Insights</a:t>
            </a:r>
            <a:endParaRPr lang="en-US" sz="2200" dirty="0"/>
          </a:p>
        </p:txBody>
      </p:sp>
      <p:pic>
        <p:nvPicPr>
          <p:cNvPr id="6" name="Image 0" descr="/home/claude/mtdv_final/img/department_analy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06136"/>
            <a:ext cx="6858000" cy="43991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1536192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Load by Department  •  Medical Condition by Department  •  Average Revenue by Department  •  Readmission Rate by Department  •  Test Results by Department  •  Highest Revenue by Department  •  Admission Type by Department  •  Avg Length of Stay by Department  •  Emergency Cases by Department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35240" y="32004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3101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From Dashboard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8120" y="3584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load is close across all six departments (352–384). Pulmonology shows the highest average length of stay among departments shown, at 16.3 days.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0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103120" y="66751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hospital resources including nurses, beds, doctors, wards, rooms, staff shifts, and </a:t>
            </a:r>
            <a:r>
              <a:rPr lang="en-US" sz="115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1150" dirty="0"/>
          </a:p>
        </p:txBody>
      </p:sp>
      <p:pic>
        <p:nvPicPr>
          <p:cNvPr id="7" name="Image 0" descr="/home/claude/mtdv_final/img/resource_utiliz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740664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3716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23A5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536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Monitors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0" y="1828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 and utilization – capacity, staffing, beds, rooms, and equipment.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2926080"/>
            <a:ext cx="3017520" cy="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0" y="3337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Used, Room Type, Ward, Staff Shift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3120" y="274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Resource </a:t>
            </a:r>
            <a:r>
              <a:rPr lang="en-US" sz="24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Utilization – KPI </a:t>
            </a:r>
            <a:r>
              <a:rPr lang="en-US" sz="24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 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750392"/>
              </p:ext>
            </p:extLst>
          </p:nvPr>
        </p:nvGraphicFramePr>
        <p:xfrm>
          <a:off x="548640" y="914400"/>
          <a:ext cx="11064240" cy="38862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468880"/>
                <a:gridCol w="3474720"/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Nurses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nurses represented in the dataset.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COUNT(DISTINCT nurse_id)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of nursing resources.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Beds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(429)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beds identified as available.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COUNT(occupancy_status = vacant)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remaining hospital bed capacity.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Patients per 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(1.015)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number of patient records associated with each doctor.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 ÷ Total Doctors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Indicates patient workload per doctor.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wards represented in the dataset.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COUNT(DISTINCT ward)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of the hospital ward structure.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3120" y="274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Resource </a:t>
            </a:r>
            <a:r>
              <a:rPr lang="en-US" sz="22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Utilization – Visualizations &amp; </a:t>
            </a:r>
            <a:r>
              <a:rPr lang="en-US" sz="2200" b="1" dirty="0" smtClean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  </a:t>
            </a:r>
            <a:endParaRPr lang="en-US" sz="2200" dirty="0"/>
          </a:p>
        </p:txBody>
      </p:sp>
      <p:pic>
        <p:nvPicPr>
          <p:cNvPr id="6" name="Image 0" descr="/home/claude/mtdv_final/img/resource_utiliz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6858000" cy="4416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1536192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Capacity by Ward  •  Room Type Distribution  •  Staff Allocation by Shift  •  ICU Admissions by Ward  •  Equipment Usage  •  Room Type by Occupancy Status  •  Avg LOS by Room Type  •  Emergency Cases by Department  •  Equipment Status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35240" y="32004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3101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From Dashboard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8120" y="3584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shift shows the highest nurse allocation (767) versus Evening (755) and Morning (716). Ventilator is the most-used equipment type (392 uses).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Engineering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4" name="Image 0" descr="/home/claude/mtdv_final/img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647017"/>
            <a:ext cx="235549" cy="2355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52704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KPIs Were Necessary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177393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measure different aspects of hospital operations and provide quick summaries supporting deeper </a:t>
            </a:r>
            <a:r>
              <a:rPr lang="en-US" sz="140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8" name="Image 1" descr="/home/claude/mtdv_final/img/icons/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835737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71576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Fields Were Transformed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97280" y="296265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fields (billing_amount, length_of_stay, occupancy_status, etc.) were aggregated into counts, sums, ratios, and averages.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2" name="Image 2" descr="/home/claude/mtdv_final/img/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4024457"/>
            <a:ext cx="235549" cy="2355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9044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Calculations Used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415137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counts, sums, percentage ratios, and averages derived from related </a:t>
            </a:r>
            <a:r>
              <a:rPr lang="en-US" sz="140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512064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6" name="Image 3" descr="/home/claude/mtdv_final/img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5213177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0932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KPIs Connect to Operations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97280" y="534009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KPI answers a specific operational question – hospital performance, patient flow, department comparison, or resource </a:t>
            </a:r>
            <a:r>
              <a:rPr lang="en-US" sz="140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315200" y="155448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123A5C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0" y="1691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FC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800" dirty="0"/>
          </a:p>
        </p:txBody>
      </p:sp>
      <p:sp>
        <p:nvSpPr>
          <p:cNvPr id="21" name="Text 15"/>
          <p:cNvSpPr/>
          <p:nvPr/>
        </p:nvSpPr>
        <p:spPr>
          <a:xfrm>
            <a:off x="7315200" y="2468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across 4 dashboards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589520" y="2926080"/>
            <a:ext cx="3749040" cy="0"/>
          </a:xfrm>
          <a:prstGeom prst="line">
            <a:avLst/>
          </a:prstGeom>
          <a:noFill/>
          <a:ln w="12700">
            <a:solidFill>
              <a:srgbClr val="35557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315200" y="3063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+ 6 + 3 + 4 = 19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498080" y="3429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Overview, Patient Flow,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Analytics, Resource Utilization</a:t>
            </a:r>
            <a:endParaRPr lang="en-US" sz="1000" dirty="0"/>
          </a:p>
        </p:txBody>
      </p:sp>
      <p:pic>
        <p:nvPicPr>
          <p:cNvPr id="27" name="Image 4" descr="/home/claude/mtdv_final/img/icons/help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174" y="4954402"/>
            <a:ext cx="286756" cy="2867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Engineering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KPI Framework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791537"/>
              </p:ext>
            </p:extLst>
          </p:nvPr>
        </p:nvGraphicFramePr>
        <p:xfrm>
          <a:off x="457200" y="896980"/>
          <a:ext cx="11247120" cy="5631844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4023360"/>
              </a:tblGrid>
              <a:tr h="369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COUNT(patient records)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patient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SUM(billing_amount)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billing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Occupancy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 Beds ÷ Total Beds ×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utilization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Length of Stay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AVG(length_of_stay)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duration / resource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Readmitted ÷ Total Patients ×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 ÷ Total Patients ×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Admissions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COUNT(patient records)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 Beds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COUNT(occupancy_status=occupied)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Cases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Cases ÷ Total Patients ×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attention needs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Admissions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COUNT(icu_admission=yes)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Critical-care 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COUNT(emergency_case=yes)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Emergency-care 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Billing per 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 ÷ Total Patients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billing per 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Departments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COUNT(DISTINCT department)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Departments in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Patients per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 ÷ Total Departments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workload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Billing per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 ÷ Total Departments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billing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COUNT(DISTINCT nurse_id)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Nursing 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Beds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COUNT(occupancy_status=vacant)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bed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Patients per Doctor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 ÷ Total 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workload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276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COUNT(DISTINCT ward)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Engineering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 Project Statement Modules 4–6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3677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6" name="Image 0" descr="/home/claude/mtdv_final/img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1721267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connected as the Tableau data source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50876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63677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1" name="Image 1" descr="/home/claude/mtdv_final/img/icons/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611" y="1721267"/>
            <a:ext cx="215067" cy="215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73752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38912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logic built as calculated fields in Tableau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50876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2440" y="163677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6" name="Image 2" descr="/home/claude/mtdv_final/img/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931" y="1721267"/>
            <a:ext cx="215067" cy="215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09244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displayed as KPI cards per dashboard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27432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287121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1" name="Image 3" descr="/home/claude/mtdv_final/img/icons/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291" y="2955707"/>
            <a:ext cx="215067" cy="215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580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 selected per analysis need (bar, pie, stacked bar, heatmap)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51960" y="27432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89120" y="287121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6" name="Image 4" descr="/home/claude/mtdv_final/img/icons/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3611" y="2955707"/>
            <a:ext cx="215067" cy="215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73752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38912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Dashboard-specific filters </a:t>
            </a:r>
            <a:r>
              <a:rPr lang="en-US" sz="120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55280" y="27432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92440" y="287121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1" name="Image 5" descr="/home/claude/mtdv_final/img/icons/gr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6931" y="2955707"/>
            <a:ext cx="215067" cy="215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77072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09244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designed for all four dashboards (Module 4 task</a:t>
            </a:r>
            <a:r>
              <a:rPr lang="en-US" sz="8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70" dirty="0"/>
          </a:p>
        </p:txBody>
      </p:sp>
      <p:sp>
        <p:nvSpPr>
          <p:cNvPr id="34" name="Shape 26"/>
          <p:cNvSpPr/>
          <p:nvPr/>
        </p:nvSpPr>
        <p:spPr>
          <a:xfrm>
            <a:off x="548640" y="397764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85800" y="410565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6" name="Image 6" descr="/home/claude/mtdv_final/img/icons/l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291" y="4190147"/>
            <a:ext cx="215067" cy="21506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70432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85800" y="4572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Dashboards / About navigation defined (Module 4)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251960" y="397764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389120" y="410565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41" name="Image 7" descr="/home/claude/mtdv_final/img/icons/gitbran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3611" y="4190147"/>
            <a:ext cx="215067" cy="21506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873752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Actions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4389120" y="4572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and parameter actions built (Module 6: Dashboard Integration)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7955280" y="397764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092440" y="4105656"/>
            <a:ext cx="384048" cy="384048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46" name="Image 8" descr="/home/claude/mtdv_final/img/icons/ey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6931" y="4190147"/>
            <a:ext cx="215067" cy="21506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577072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8092440" y="4572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added for on-hover </a:t>
            </a:r>
            <a:r>
              <a:rPr lang="en-US" sz="120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70" dirty="0"/>
          </a:p>
        </p:txBody>
      </p:sp>
      <p:sp>
        <p:nvSpPr>
          <p:cNvPr id="49" name="Text 38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files: dashboard_storyboard.pdf → medtrack_prototype.twbx → medtrack_dashboard_v1.twbx → MedTrack_DV.twbx (final)</a:t>
            </a:r>
            <a:endParaRPr lang="en-US" sz="1050" dirty="0"/>
          </a:p>
        </p:txBody>
      </p:sp>
      <p:sp>
        <p:nvSpPr>
          <p:cNvPr id="51" name="Text 39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900" dirty="0"/>
          </a:p>
        </p:txBody>
      </p:sp>
      <p:sp>
        <p:nvSpPr>
          <p:cNvPr id="53" name="Text 4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Interactivity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5" name="Image 0" descr="/home/claude/mtdv_final/img/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6012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7556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filter each dashboard's displayed dimensions and see visualizations update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9" name="Image 1" descr="/home/claude/mtdv_final/img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497409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3865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Filters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6517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'Dashboard Integration' task – global filters applied across the workbook.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009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3" name="Image 2" descr="/home/claude/mtdv_final/img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393521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28269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35478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Dashboards, and About controls move users between the four dashboards.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197096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7" name="Image 3" descr="/home/claude/mtdv_final/img/icons/git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428963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41788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97280" y="44439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and parameter actions connect dashboards (Module 6).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72200" y="150876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1" name="Image 4" descr="/home/claude/mtdv_final/img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4737" y="1601297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2084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720840" y="17556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visualizations reveals detail without cluttering the chart.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2404872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5" name="Image 5" descr="/home/claude/mtdv_final/img/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4737" y="2497409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23865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Linking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720840" y="26517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are linked so exploration flows from one to the next (Module 6).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72200" y="33009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9" name="Image 6" descr="/home/claude/mtdv_final/img/icons/smartpho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4737" y="3393521"/>
            <a:ext cx="235549" cy="23554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20840" y="328269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Layouts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720840" y="35478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layout structure applied across all four dashboards</a:t>
            </a: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172200" y="4197096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3" name="Image 7" descr="/home/claude/mtdv_final/img/icons/h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4737" y="4289633"/>
            <a:ext cx="235549" cy="235549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720840" y="41788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UI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6720840" y="44439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visual identity (dark healthcare theme, icon language) across dashboards.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Four-Dashboard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337560" y="15544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23A5C"/>
          </a:solidFill>
          <a:ln/>
        </p:spPr>
      </p:sp>
      <p:sp>
        <p:nvSpPr>
          <p:cNvPr id="5" name="Shape 3"/>
          <p:cNvSpPr/>
          <p:nvPr/>
        </p:nvSpPr>
        <p:spPr>
          <a:xfrm>
            <a:off x="3520440" y="1728216"/>
            <a:ext cx="512064" cy="512064"/>
          </a:xfrm>
          <a:prstGeom prst="ellipse">
            <a:avLst/>
          </a:prstGeom>
          <a:solidFill>
            <a:srgbClr val="3FC7C0"/>
          </a:solidFill>
          <a:ln/>
        </p:spPr>
      </p:sp>
      <p:pic>
        <p:nvPicPr>
          <p:cNvPr id="6" name="Image 0" descr="/home/claude/mtdv_final/img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094" y="1840870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624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20624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hospital performance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24728" y="2441448"/>
            <a:ext cx="237744" cy="237744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10" name="Image 1" descr="/home/claude/mtdv_final/img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90" y="2477110"/>
            <a:ext cx="166421" cy="16642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26060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0E6E76"/>
          </a:solidFill>
          <a:ln/>
        </p:spPr>
      </p:sp>
      <p:sp>
        <p:nvSpPr>
          <p:cNvPr id="12" name="Shape 8"/>
          <p:cNvSpPr/>
          <p:nvPr/>
        </p:nvSpPr>
        <p:spPr>
          <a:xfrm>
            <a:off x="3520440" y="2779776"/>
            <a:ext cx="512064" cy="512064"/>
          </a:xfrm>
          <a:prstGeom prst="ellipse">
            <a:avLst/>
          </a:prstGeom>
          <a:solidFill>
            <a:srgbClr val="3FC7C0"/>
          </a:solidFill>
          <a:ln/>
        </p:spPr>
      </p:sp>
      <p:pic>
        <p:nvPicPr>
          <p:cNvPr id="13" name="Image 2" descr="/home/claude/mtdv_final/img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094" y="2892430"/>
            <a:ext cx="286756" cy="286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2697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206240" y="3017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movement and admissions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824728" y="3493008"/>
            <a:ext cx="237744" cy="237744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17" name="Image 3" descr="/home/claude/mtdv_final/img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90" y="3528670"/>
            <a:ext cx="166421" cy="16642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337560" y="36576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23A5C"/>
          </a:solidFill>
          <a:ln/>
        </p:spPr>
      </p:sp>
      <p:sp>
        <p:nvSpPr>
          <p:cNvPr id="19" name="Shape 13"/>
          <p:cNvSpPr/>
          <p:nvPr/>
        </p:nvSpPr>
        <p:spPr>
          <a:xfrm>
            <a:off x="3520440" y="3831336"/>
            <a:ext cx="512064" cy="512064"/>
          </a:xfrm>
          <a:prstGeom prst="ellipse">
            <a:avLst/>
          </a:prstGeom>
          <a:solidFill>
            <a:srgbClr val="3FC7C0"/>
          </a:solidFill>
          <a:ln/>
        </p:spPr>
      </p:sp>
      <p:pic>
        <p:nvPicPr>
          <p:cNvPr id="20" name="Image 4" descr="/home/claude/mtdv_final/img/icons/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094" y="3943990"/>
            <a:ext cx="286756" cy="2867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06240" y="3749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206240" y="4069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performance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824728" y="4544568"/>
            <a:ext cx="237744" cy="237744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24" name="Image 5" descr="/home/claude/mtdv_final/img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90" y="4580230"/>
            <a:ext cx="166421" cy="166421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3337560" y="47091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0E6E76"/>
          </a:solidFill>
          <a:ln/>
        </p:spPr>
      </p:sp>
      <p:sp>
        <p:nvSpPr>
          <p:cNvPr id="26" name="Shape 18"/>
          <p:cNvSpPr/>
          <p:nvPr/>
        </p:nvSpPr>
        <p:spPr>
          <a:xfrm>
            <a:off x="3520440" y="4882896"/>
            <a:ext cx="512064" cy="512064"/>
          </a:xfrm>
          <a:prstGeom prst="ellipse">
            <a:avLst/>
          </a:prstGeom>
          <a:solidFill>
            <a:srgbClr val="3FC7C0"/>
          </a:solidFill>
          <a:ln/>
        </p:spPr>
      </p:sp>
      <p:pic>
        <p:nvPicPr>
          <p:cNvPr id="27" name="Image 6" descr="/home/claude/mtdv_final/img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094" y="4995550"/>
            <a:ext cx="286756" cy="2867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206240" y="4800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4206240" y="5120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Staffing, beds, wards, equipment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1463040" y="562356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structure allows users to move from overall hospital performance to patient activity, department-level analysis, and resource </a:t>
            </a:r>
            <a:r>
              <a:rPr lang="en-US" sz="1200" i="1" dirty="0" smtClean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utilization.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QA_Checklist.docx and healthcare_operations_methodology.md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5" name="Image 0" descr="/home/claude/mtdv_final/img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6012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7556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dashboard, button, and chart tested for correct load and behavior</a:t>
            </a: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9" name="Image 1" descr="/home/claude/mtdv_final/img/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497409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3865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Validation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6517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KPIs recalculated independently and matched to dashboard values.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009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3" name="Image 2" descr="/home/claude/mtdv_final/img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393521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28269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Testing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35478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tested individually and in combination across all four dashboards.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150876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7" name="Image 3" descr="/home/claude/mtdv_final/img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737" y="160129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084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Testing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720840" y="17556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Dashboards, and About buttons verified across every screen.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72200" y="2404872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1" name="Image 4" descr="/home/claude/mtdv_final/img/icons/p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4737" y="2497409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20840" y="23865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Validation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720840" y="26517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checked for accuracy, tooltips, titles, and formatting consistency.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330098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5" name="Image 5" descr="/home/claude/mtdv_final/img/icons/activ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4737" y="3393521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28269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720840" y="35478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tested for smooth load and interaction with no lag.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testing was necessary: to verify healthcare metrics, validate patient flow analytics, and ensure no major dashboard issues before final delivery (README.md, 'Dashboard Testing').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across Dashboard_Testing_Report.docx and healthcare_operations_methodology.md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10512"/>
            <a:ext cx="153619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1536192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Tested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57984" y="17373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57984" y="1810512"/>
            <a:ext cx="153619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57984" y="2450592"/>
            <a:ext cx="1536192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67328" y="17373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7328" y="1810512"/>
            <a:ext cx="153619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67328" y="2450592"/>
            <a:ext cx="1536192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76672" y="17373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76672" y="1810512"/>
            <a:ext cx="153619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76672" y="2450592"/>
            <a:ext cx="1536192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86016" y="17373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6016" y="1810512"/>
            <a:ext cx="153619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86016" y="2450592"/>
            <a:ext cx="1536192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95360" y="17373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0" y="1810512"/>
            <a:ext cx="153619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95360" y="2450592"/>
            <a:ext cx="1536192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Validated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04704" y="17373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204704" y="1810512"/>
            <a:ext cx="153619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204704" y="2450592"/>
            <a:ext cx="1536192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are consistently confirmed across three independent documents: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3977640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38587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Dashboard_Testing_Report.docx – Overall Testing Statistics 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" y="4361688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24281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kpi_definitions.md, Section 10 – 'KPI Validation' results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" y="4745736"/>
            <a:ext cx="73152" cy="73152"/>
          </a:xfrm>
          <a:prstGeom prst="ellipse">
            <a:avLst/>
          </a:prstGeom>
          <a:solidFill>
            <a:srgbClr val="3FC7C0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462686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healthcare_operations_methodology.md, Section 11 – 'Validation Methodology' results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Validation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KPI was independently verified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3006" cy="1371600"/>
          </a:xfrm>
          <a:prstGeom prst="roundRect">
            <a:avLst>
              <a:gd name="adj" fmla="val 5333"/>
            </a:avLst>
          </a:prstGeom>
          <a:solidFill>
            <a:srgbClr val="123A5C"/>
          </a:solidFill>
          <a:ln/>
        </p:spPr>
      </p:sp>
      <p:pic>
        <p:nvPicPr>
          <p:cNvPr id="5" name="Image 0" descr="/home/claude/mtdv_final/img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55" y="2212847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6463" y="2656985"/>
            <a:ext cx="1856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23744" y="2487168"/>
            <a:ext cx="219456" cy="219456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8" name="Image 1" descr="/home/claude/mtdv_final/img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662" y="2520086"/>
            <a:ext cx="153619" cy="15361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47440" y="1920240"/>
            <a:ext cx="1770279" cy="1371600"/>
          </a:xfrm>
          <a:prstGeom prst="roundRect">
            <a:avLst>
              <a:gd name="adj" fmla="val 5333"/>
            </a:avLst>
          </a:prstGeom>
          <a:solidFill>
            <a:srgbClr val="0E6E76"/>
          </a:solidFill>
          <a:ln/>
        </p:spPr>
      </p:sp>
      <p:pic>
        <p:nvPicPr>
          <p:cNvPr id="10" name="Image 2" descr="/home/claude/mtdv_final/img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555" y="215569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22794" y="2592324"/>
            <a:ext cx="1856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Calculation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626864" y="2487168"/>
            <a:ext cx="219456" cy="219456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13" name="Image 3" descr="/home/claude/mtdv_final/img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82" y="2520086"/>
            <a:ext cx="153619" cy="153619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901184" y="1920240"/>
            <a:ext cx="1819656" cy="1371600"/>
          </a:xfrm>
          <a:prstGeom prst="roundRect">
            <a:avLst>
              <a:gd name="adj" fmla="val 5333"/>
            </a:avLst>
          </a:prstGeom>
          <a:solidFill>
            <a:srgbClr val="123A5C"/>
          </a:solidFill>
          <a:ln/>
        </p:spPr>
      </p:sp>
      <p:pic>
        <p:nvPicPr>
          <p:cNvPr id="15" name="Image 4" descr="/home/claude/mtdv_final/img/icons/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7998" y="2115095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61906" y="2624546"/>
            <a:ext cx="1856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KPI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6729984" y="2487168"/>
            <a:ext cx="219456" cy="219456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18" name="Image 5" descr="/home/claude/mtdv_final/img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2" y="2520086"/>
            <a:ext cx="153619" cy="153619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053680" y="1920240"/>
            <a:ext cx="1770279" cy="1371600"/>
          </a:xfrm>
          <a:prstGeom prst="roundRect">
            <a:avLst>
              <a:gd name="adj" fmla="val 5333"/>
            </a:avLst>
          </a:prstGeom>
          <a:solidFill>
            <a:srgbClr val="0E6E76"/>
          </a:solidFill>
          <a:ln/>
        </p:spPr>
      </p:sp>
      <p:pic>
        <p:nvPicPr>
          <p:cNvPr id="20" name="Image 6" descr="/home/claude/mtdv_final/img/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956" y="2165169"/>
            <a:ext cx="384048" cy="38404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12864" y="2606040"/>
            <a:ext cx="1856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22" name="Shape 13"/>
          <p:cNvSpPr/>
          <p:nvPr/>
        </p:nvSpPr>
        <p:spPr>
          <a:xfrm>
            <a:off x="8833104" y="2487168"/>
            <a:ext cx="219456" cy="219456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23" name="Image 7" descr="/home/claude/mtdv_final/img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22" y="2520086"/>
            <a:ext cx="153619" cy="153619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101936" y="1920240"/>
            <a:ext cx="1825144" cy="1371600"/>
          </a:xfrm>
          <a:prstGeom prst="roundRect">
            <a:avLst>
              <a:gd name="adj" fmla="val 5333"/>
            </a:avLst>
          </a:prstGeom>
          <a:solidFill>
            <a:srgbClr val="1E7B4D"/>
          </a:solidFill>
          <a:ln/>
        </p:spPr>
      </p:sp>
      <p:pic>
        <p:nvPicPr>
          <p:cNvPr id="25" name="Image 8" descr="/home/claude/mtdv_final/img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2076" y="2126307"/>
            <a:ext cx="384048" cy="38404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015984" y="2606040"/>
            <a:ext cx="1856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50" dirty="0"/>
          </a:p>
        </p:txBody>
      </p:sp>
      <p:sp>
        <p:nvSpPr>
          <p:cNvPr id="27" name="Text 16"/>
          <p:cNvSpPr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raw dataset → generate_hospital_kpis.py computes each KPI independently in Python (hospital_kpi_report.csv) → value compared against the Tableau dashboard's displayed KPI card → match confirmed as Validated.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926080"/>
                <a:gridCol w="246888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Calculation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2,238 (script)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2,238 (dashboard)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$56,610,270 (script)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$56,610,270 (dashboard)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Admissions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 (script)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 (dashboard)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1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1" name="Text 18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32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documented – evaluation thresholds the project had to meet (README.md):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5440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6576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completeness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66160" y="3657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Complete (Milestone 1)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657600"/>
            <a:ext cx="5440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36576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generation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89720" y="36576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KPIs Generated target — 19 delivered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251960"/>
            <a:ext cx="5440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2519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functionality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66160" y="4251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Dashboards Integrated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4251960"/>
            <a:ext cx="5440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42519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89720" y="4251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 (Module 2 evaluation)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5440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48463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accuracy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66160" y="48463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 (Milestone 2 target)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548641" y="1097280"/>
            <a:ext cx="107202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Challenge 1: </a:t>
            </a:r>
            <a:r>
              <a:rPr lang="en-IN" dirty="0"/>
              <a:t>Ensuring data </a:t>
            </a:r>
            <a:r>
              <a:rPr lang="en-IN" dirty="0" smtClean="0"/>
              <a:t>quality,</a:t>
            </a:r>
            <a:endParaRPr lang="en-IN" dirty="0"/>
          </a:p>
          <a:p>
            <a:r>
              <a:rPr lang="en-IN" dirty="0"/>
              <a:t>Solution: Checked missing values and duplicates before analysis.</a:t>
            </a:r>
          </a:p>
          <a:p>
            <a:r>
              <a:rPr lang="en-IN" dirty="0" smtClean="0"/>
              <a:t>Challenge 2: </a:t>
            </a:r>
            <a:r>
              <a:rPr lang="en-IN" dirty="0"/>
              <a:t>Maintaining KPI </a:t>
            </a:r>
            <a:r>
              <a:rPr lang="en-IN" dirty="0" smtClean="0"/>
              <a:t>accuracy,</a:t>
            </a:r>
            <a:endParaRPr lang="en-IN" dirty="0"/>
          </a:p>
          <a:p>
            <a:r>
              <a:rPr lang="en-IN" dirty="0"/>
              <a:t>Solution: Independently recalculated KPIs using Python and compared them with Tableau.</a:t>
            </a:r>
          </a:p>
          <a:p>
            <a:r>
              <a:rPr lang="en-IN" dirty="0" smtClean="0"/>
              <a:t>Challenge 3: </a:t>
            </a:r>
            <a:r>
              <a:rPr lang="en-IN" dirty="0"/>
              <a:t>Creating consistent dashboard </a:t>
            </a:r>
            <a:r>
              <a:rPr lang="en-IN" dirty="0" smtClean="0"/>
              <a:t>interaction,</a:t>
            </a:r>
            <a:endParaRPr lang="en-IN" dirty="0"/>
          </a:p>
          <a:p>
            <a:r>
              <a:rPr lang="en-IN" dirty="0"/>
              <a:t>Solution: Tested filters, navigation, actions, tooltips and dashboard linking.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6" name="Image 0" descr="/home/claude/mtdv_final/img/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178417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64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Rate is 80.8% (1,809 of 2,238 occupied). Total Billing across all records is $56,610,270. Readmission Rate is 9.1%; Discharge Rate is 34.1%.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69164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1" name="Image 1" descr="/home/claude/mtdv_final/img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617" y="178417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764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55080" y="228600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21+ day Length of Stay bucket holds the largest volume (749 patients). Severity splits nearly evenly: 536–574 across Critical/Mild/Moderate/Severe. 339 ICU admissions; 472 emergency cases.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02336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6" name="Image 2" descr="/home/claude/mtdv_final/img/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57" y="4115897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096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Performance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31520" y="461772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load is close across all six departments (352–384). Average billing ranges $24,156–$26,642 across departments. Pulmonology shows the highest average length of stay (16.3 days).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402336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1" name="Image 3" descr="/home/claude/mtdv_final/img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617" y="411589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4096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355080" y="461772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shift shows the highest nurse allocation (767) vs. Evening (755) and Morning (716). Ventilator is the most-used equipment (392 uses). 429 beds available; 50 nurses on record</a:t>
            </a:r>
            <a:r>
              <a:rPr lang="en-US" sz="10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Decision-Making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5" name="Image 0" descr="/home/claude/mtdv_final/img/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6012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8132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Hospital Performance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72821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hospital performance, patient admissions and flow visible in one place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267712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9" name="Image 1" descr="/home/claude/mtdv_final/img/icons/alert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360249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240280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Capacity Pressure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2487168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and availability tracked to flag capacity strain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02666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3" name="Image 2" descr="/home/claude/mtdv_final/img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119201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9992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Patient Flow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97280" y="324612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severity, discharge status, and readmissions monitored together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785616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7" name="Image 3" descr="/home/claude/mtdv_final/img/icons/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387815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758184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Departments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97280" y="400507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workload, billing activity, and medical conditions compared side by side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544568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1" name="Image 4" descr="/home/claude/mtdv_final/img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4637105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4517136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Resource Utilization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097280" y="4764024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resources, bed availability, and equipment utilization tracked.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530352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5" name="Image 5" descr="/home/claude/mtdv_final/img/icons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177" y="5396057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97280" y="527608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097280" y="552297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hospital dataset into an interactive analytical solution for operational monitoring and </a:t>
            </a:r>
            <a:r>
              <a:rPr lang="en-US" sz="120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decision-making.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Documentation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directory – README.md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4114800"/>
          </a:xfrm>
          <a:prstGeom prst="roundRect">
            <a:avLst>
              <a:gd name="adj" fmla="val 1628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C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dashboard_guide.md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dataset_sources.md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healthcare_operations_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methodology.md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kpi_definitions.md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6903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4592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5" name="Image 0" descr="/home/claude/mtdv_final/img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57" y="1738457"/>
            <a:ext cx="235549" cy="23554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94960" y="15819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394960" y="187452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overview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2350008"/>
            <a:ext cx="6903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46320" y="2487168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0" name="Image 1" descr="/home/claude/mtdv_final/img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57" y="2579705"/>
            <a:ext cx="235549" cy="23554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24231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dataset_sources.md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394960" y="2715768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 documentation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09160" y="3191256"/>
            <a:ext cx="6903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46320" y="3328416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5" name="Image 2" descr="/home/claude/mtdv_final/img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57" y="3420953"/>
            <a:ext cx="235549" cy="23554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94960" y="326440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kpi_definitions.md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394960" y="3557016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 and calculations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709160" y="4032504"/>
            <a:ext cx="6903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46320" y="4169664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0" name="Image 3" descr="/home/claude/mtdv_final/img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57" y="4262201"/>
            <a:ext cx="235549" cy="23554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94960" y="410565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dashboard_guide.md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394960" y="439826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usage and interpretation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709160" y="4873752"/>
            <a:ext cx="6903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846320" y="5010912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5" name="Image 4" descr="/home/claude/mtdv_final/img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57" y="5103449"/>
            <a:ext cx="235549" cy="23554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94960" y="494690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healthcare_operations_methodology.md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5394960" y="52395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operational analysis methodology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Delivery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Documentation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testing deliverables – Module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23A5C"/>
          </a:solidFill>
          <a:ln/>
        </p:spPr>
      </p:sp>
      <p:pic>
        <p:nvPicPr>
          <p:cNvPr id="6" name="Image 0" descr="/home/claude/mtdv_final/img/icons/check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QA_Checklist.docx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Test-case-level QA checklist covering functional testing, KPI validation, filter/navigation testing, and chart validation.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429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dashboards; 22 functional test cases + 4 filter-specific cases = 26 total</a:t>
            </a:r>
            <a:r>
              <a:rPr lang="en-US" sz="10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389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QA Status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 passed, 100% pass rate, 0 issues logged</a:t>
            </a:r>
            <a:r>
              <a:rPr lang="en-US" sz="10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50876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23A5C"/>
          </a:solidFill>
          <a:ln/>
        </p:spPr>
      </p:sp>
      <p:pic>
        <p:nvPicPr>
          <p:cNvPr id="16" name="Image 1" descr="/home/claude/mtdv_final/img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1848002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1810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Dashboard_Testing_Report.docx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4652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4652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Summary-level Business Intelligence testing report for review, covering the same testing cycle at a higher level.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46520" y="3429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446520" y="3703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KPI validation summary (all 19 KPIs), dashboard validation results per module.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46520" y="4389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QA Status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46520" y="4663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Testing Statistics table: 4 dashboards / 26 cases / 26 passed / 0 failed / 100% / 19 KPIs / 0 critical issues.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9166"/>
            <a:ext cx="6675120" cy="4454434"/>
          </a:xfrm>
          <a:prstGeom prst="roundRect">
            <a:avLst>
              <a:gd name="adj" fmla="val 1429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FC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MedTrack_DV/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README.md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code Screenshot/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dashboard/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1638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dashboard_guide.md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dataset_sources.md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healthcare_operations_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methodology.md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1879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kpi_definitions.md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44398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scripts/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70001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data collection/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9560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generate hospital kpis/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hospital cleaning/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4681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outputs/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'Project Deliverables' + Module 7 QA deliverables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655064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6" name="Image 0" descr="/home/claude/mtdv_final/img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8" y="1743578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18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4944" y="2167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project repository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508760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98264" y="1655064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1" name="Image 1" descr="/home/claude/mtdv_final/img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778" y="1743578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10328" y="1618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398264" y="2167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 + 4 docs/ files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508760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01584" y="1655064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6" name="Image 2" descr="/home/claude/mtdv_final/img/icons/mon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098" y="1743578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13648" y="1618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Workbook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01584" y="2167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MedTrack_DV.twbx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31222" y="2679192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2825496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1" name="Image 3" descr="/home/claude/mtdv_final/img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58" y="2914010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Datasets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4944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and cleaned CSVs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51960" y="2679192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98264" y="2825496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26" name="Image 4" descr="/home/claude/mtdv_final/img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778" y="2914010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10328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Scripts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398264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Collection, cleaning, KPI generation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55280" y="2679192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01584" y="2825496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1" name="Image 5" descr="/home/claude/mtdv_final/img/icons/bar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0098" y="2914010"/>
            <a:ext cx="225308" cy="2253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13648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Outputs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01584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hospital_kpi_report.csv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3849624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94944" y="3995928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36" name="Image 6" descr="/home/claude/mtdv_final/img/icons/clip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458" y="4084442"/>
            <a:ext cx="225308" cy="2253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07008" y="395935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Documentation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94944" y="4507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dashboard_guide.md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251960" y="3849624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398264" y="3995928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41" name="Image 7" descr="/home/claude/mtdv_final/img/icons/boo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778" y="4084442"/>
            <a:ext cx="225308" cy="2253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910328" y="395935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Operations Methodology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4398264" y="4507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healthcare_operations_methodology.md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7955280" y="3849624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101584" y="3995928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46" name="Image 8" descr="/home/claude/mtdv_final/img/icons/checksqua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0098" y="4084442"/>
            <a:ext cx="225308" cy="2253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613648" y="395935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Checklist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101584" y="4507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QA_Checklist.docx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548640" y="5020056"/>
            <a:ext cx="356616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94944" y="5166360"/>
            <a:ext cx="402336" cy="402336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51" name="Image 9" descr="/home/claude/mtdv_final/img/icons/shie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58" y="5254874"/>
            <a:ext cx="225308" cy="22530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1207008" y="51297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Testing Report</a:t>
            </a:r>
            <a:endParaRPr lang="en-US" sz="1400" dirty="0"/>
          </a:p>
        </p:txBody>
      </p:sp>
      <p:sp>
        <p:nvSpPr>
          <p:cNvPr id="53" name="Text 41"/>
          <p:cNvSpPr/>
          <p:nvPr/>
        </p:nvSpPr>
        <p:spPr>
          <a:xfrm>
            <a:off x="694944" y="56784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Dashboard_Testing_Report.docx</a:t>
            </a:r>
            <a:endParaRPr lang="en-US" sz="1200" dirty="0"/>
          </a:p>
        </p:txBody>
      </p:sp>
      <p:sp>
        <p:nvSpPr>
          <p:cNvPr id="55" name="Text 4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Delivery</a:t>
            </a:r>
            <a:endParaRPr lang="en-US" sz="900" dirty="0"/>
          </a:p>
        </p:txBody>
      </p:sp>
      <p:sp>
        <p:nvSpPr>
          <p:cNvPr id="57" name="Text 4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1515291"/>
            <a:ext cx="10972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*Integrate </a:t>
            </a:r>
            <a:r>
              <a:rPr lang="en-IN" dirty="0"/>
              <a:t>real-time hospital data sources for continuous monitoring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 smtClean="0"/>
              <a:t>*Deploy </a:t>
            </a:r>
            <a:r>
              <a:rPr lang="en-IN" dirty="0"/>
              <a:t>dashboards through a centralized BI environment for broader </a:t>
            </a:r>
            <a:r>
              <a:rPr lang="en-IN" dirty="0" smtClean="0"/>
              <a:t>accessibility.</a:t>
            </a:r>
          </a:p>
          <a:p>
            <a:endParaRPr lang="en-IN" dirty="0"/>
          </a:p>
          <a:p>
            <a:r>
              <a:rPr lang="en-IN" dirty="0" smtClean="0"/>
              <a:t>*Add </a:t>
            </a:r>
            <a:r>
              <a:rPr lang="en-IN" dirty="0"/>
              <a:t>automated data-refresh pipelines for updated KPIs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 smtClean="0"/>
              <a:t>*Introduce </a:t>
            </a:r>
            <a:r>
              <a:rPr lang="en-IN" dirty="0"/>
              <a:t>advanced analytics and predictive models for patient demand forecasting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 smtClean="0"/>
              <a:t>*Expand </a:t>
            </a:r>
            <a:r>
              <a:rPr lang="en-IN" dirty="0"/>
              <a:t>KPI coverage based on additional hospital operational requirements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 smtClean="0"/>
              <a:t>*Improve </a:t>
            </a:r>
            <a:r>
              <a:rPr lang="en-IN" dirty="0"/>
              <a:t>dashboard scalability for larger healthcare datasets.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Conclusion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4" name="Image 0" descr="/home/claude/mtdv_final/img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1647017"/>
            <a:ext cx="235549" cy="2355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52704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177393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Tableau workbook with four interconnected dashboards – Hospital Overview, Patient Flow, Department Analytics, Resource Utilization – covering 19 KPIs from a 2,238-record, 37-field hospital operations dataset.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8" name="Image 1" descr="/home/claude/mtdv_final/img/icons/a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2790017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67004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Learned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97280" y="291693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healthcare analytics workflow: data collection, cleaning, KPI engineering, Tableau dashboard development, interactivity design, and structured QA testing.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84048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2" name="Image 2" descr="/home/claude/mtdv_final/img/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3933017"/>
            <a:ext cx="235549" cy="2355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81304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Validated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405993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KPIs independently recalculated (generate_hospital_kpis.py) and cross-checked against Tableau; 26 test cases executed with a 100% pass rate and 0 critical issues.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983480"/>
            <a:ext cx="420624" cy="420624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6" name="Image 3" descr="/home/claude/mtdv_final/img/icons/pack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5076017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95604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97280" y="520293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repository, Tableau workbook, 4 documentation files, KPI outputs, and formal QA/testing documentation – a portfolio-ready analytics project (README.md, 'Project Status').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920240"/>
            <a:ext cx="1280160" cy="1280160"/>
          </a:xfrm>
          <a:prstGeom prst="ellipse">
            <a:avLst/>
          </a:prstGeom>
          <a:solidFill>
            <a:srgbClr val="3FC7C0"/>
          </a:solidFill>
          <a:ln/>
        </p:spPr>
      </p:sp>
      <p:pic>
        <p:nvPicPr>
          <p:cNvPr id="5" name="Image 0" descr="/home/claude/mtdv_final/img/icons/message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240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38328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– Healthcare Analytics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Madhan Raj G   •   Infosys Springboard Data Visualization Internship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2296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5462</Words>
  <Application>Microsoft Office PowerPoint</Application>
  <PresentationFormat>Widescreen</PresentationFormat>
  <Paragraphs>798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Cambria</vt:lpstr>
      <vt:lpstr>Consolas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16</cp:revision>
  <dcterms:created xsi:type="dcterms:W3CDTF">2026-08-11T10:33:20Z</dcterms:created>
  <dcterms:modified xsi:type="dcterms:W3CDTF">2026-08-18T13:23:21Z</dcterms:modified>
</cp:coreProperties>
</file>